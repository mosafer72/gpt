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46E5"/>
          </a:solidFill>
          <a:ln w="12700">
            <a:solidFill>
              <a:srgbClr val="4F46E5"/>
            </a:solidFill>
            <a:prstDash val="solid"/>
          </a:ln>
        </p:spPr>
      </p:sp>
      <p:sp>
        <p:nvSpPr>
          <p:cNvPr id="3" name="Text 1"/>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2400" b="1" dirty="0">
                <a:solidFill>
                  <a:srgbClr val="0EA5E9"/>
                </a:solidFill>
                <a:latin typeface="Vazirmatn" pitchFamily="34" charset="0"/>
                <a:ea typeface="Vazirmatn" pitchFamily="34" charset="-122"/>
                <a:cs typeface="Vazirmatn" pitchFamily="34" charset="-120"/>
              </a:rPr>
              <a:t>یک رویکرد یکپارچه برای تفسیر پیش‌بینی‌های مدل</a:t>
            </a:r>
            <a:endParaRPr lang="en-US" sz="2400" dirty="0"/>
          </a:p>
        </p:txBody>
      </p:sp>
      <p:sp>
        <p:nvSpPr>
          <p:cNvPr id="4" name="Text 2"/>
          <p:cNvSpPr/>
          <p:nvPr/>
        </p:nvSpPr>
        <p:spPr>
          <a:xfrm>
            <a:off x="10972800" y="6400800"/>
            <a:ext cx="365760" cy="182880"/>
          </a:xfrm>
          <a:prstGeom prst="rect">
            <a:avLst/>
          </a:prstGeom>
          <a:noFill/>
          <a:ln/>
        </p:spPr>
        <p:txBody>
          <a:bodyPr wrap="square" rtlCol="0" anchor="ctr"/>
          <a:lstStyle/>
          <a:p>
            <a:pPr algn="ctr" indent="0" marL="0">
              <a:buNone/>
            </a:pPr>
            <a:r>
              <a:rPr lang="en-US" sz="1000" dirty="0">
                <a:solidFill>
                  <a:srgbClr val="64748B"/>
                </a:solidFill>
                <a:latin typeface="Vazirmatn" pitchFamily="34" charset="0"/>
                <a:ea typeface="Vazirmatn" pitchFamily="34" charset="-122"/>
                <a:cs typeface="Vazirmatn"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مسئله و انگیزه</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9921240" y="1051560"/>
            <a:ext cx="91440" cy="91440"/>
          </a:xfrm>
          <a:prstGeom prst="ellipse">
            <a:avLst/>
          </a:prstGeom>
          <a:solidFill>
            <a:srgbClr val="4F46E5"/>
          </a:solidFill>
          <a:ln w="12700">
            <a:solidFill>
              <a:srgbClr val="4F46E5"/>
            </a:solidFill>
            <a:prstDash val="solid"/>
          </a:ln>
        </p:spPr>
      </p:sp>
      <p:sp>
        <p:nvSpPr>
          <p:cNvPr id="5" name="Text 3"/>
          <p:cNvSpPr/>
          <p:nvPr/>
        </p:nvSpPr>
        <p:spPr>
          <a:xfrm>
            <a:off x="914400" y="914400"/>
            <a:ext cx="8823960" cy="365760"/>
          </a:xfrm>
          <a:prstGeom prst="rect">
            <a:avLst/>
          </a:prstGeom>
          <a:noFill/>
          <a:ln/>
        </p:spPr>
        <p:txBody>
          <a:bodyPr wrap="square" lIns="0" tIns="0" rIns="0" bIns="0" rtlCol="0" anchor="ctr">
            <a:normAutofit/>
          </a:bodyPr>
          <a:lstStyle/>
          <a:p>
            <a:pPr rtl="1" algn="r" indent="0" marL="0">
              <a:buNone/>
            </a:pPr>
            <a:r>
              <a:rPr lang="en-US" sz="1500" dirty="0">
                <a:solidFill>
                  <a:srgbClr val="334155"/>
                </a:solidFill>
                <a:latin typeface="Vazirmatn" pitchFamily="34" charset="0"/>
                <a:ea typeface="Vazirmatn" pitchFamily="34" charset="-122"/>
                <a:cs typeface="Vazirmatn" pitchFamily="34" charset="-120"/>
              </a:rPr>
              <a:t>مدل‌های پیشرفته دقت بالایی دارند اما شفافیت کمی دارند</a:t>
            </a:r>
            <a:endParaRPr lang="en-US" sz="1500" dirty="0"/>
          </a:p>
        </p:txBody>
      </p:sp>
      <p:sp>
        <p:nvSpPr>
          <p:cNvPr id="6" name="Shape 4"/>
          <p:cNvSpPr/>
          <p:nvPr/>
        </p:nvSpPr>
        <p:spPr>
          <a:xfrm>
            <a:off x="9921240" y="1051560"/>
            <a:ext cx="91440" cy="91440"/>
          </a:xfrm>
          <a:prstGeom prst="ellipse">
            <a:avLst/>
          </a:prstGeom>
          <a:solidFill>
            <a:srgbClr val="4F46E5"/>
          </a:solidFill>
          <a:ln w="12700">
            <a:solidFill>
              <a:srgbClr val="4F46E5"/>
            </a:solidFill>
            <a:prstDash val="solid"/>
          </a:ln>
        </p:spPr>
      </p:sp>
      <p:sp>
        <p:nvSpPr>
          <p:cNvPr id="7" name="Text 5"/>
          <p:cNvSpPr/>
          <p:nvPr/>
        </p:nvSpPr>
        <p:spPr>
          <a:xfrm>
            <a:off x="914400" y="914400"/>
            <a:ext cx="8823960" cy="365760"/>
          </a:xfrm>
          <a:prstGeom prst="rect">
            <a:avLst/>
          </a:prstGeom>
          <a:noFill/>
          <a:ln/>
        </p:spPr>
        <p:txBody>
          <a:bodyPr wrap="square" lIns="0" tIns="0" rIns="0" bIns="0" rtlCol="0" anchor="ctr">
            <a:normAutofit/>
          </a:bodyPr>
          <a:lstStyle/>
          <a:p>
            <a:pPr rtl="1" algn="r" indent="0" marL="0">
              <a:buNone/>
            </a:pPr>
            <a:r>
              <a:rPr lang="en-US" sz="1500" dirty="0">
                <a:solidFill>
                  <a:srgbClr val="334155"/>
                </a:solidFill>
                <a:latin typeface="Vazirmatn" pitchFamily="34" charset="0"/>
                <a:ea typeface="Vazirmatn" pitchFamily="34" charset="-122"/>
                <a:cs typeface="Vazirmatn" pitchFamily="34" charset="-120"/>
              </a:rPr>
              <a:t>اعتماد کاربر به پیش‌بینی‌ها وابسته به قابلیت توضیح است</a:t>
            </a:r>
            <a:endParaRPr lang="en-US" sz="1500" dirty="0"/>
          </a:p>
        </p:txBody>
      </p:sp>
      <p:sp>
        <p:nvSpPr>
          <p:cNvPr id="8" name="Shape 6"/>
          <p:cNvSpPr/>
          <p:nvPr/>
        </p:nvSpPr>
        <p:spPr>
          <a:xfrm>
            <a:off x="9921240" y="1051560"/>
            <a:ext cx="91440" cy="91440"/>
          </a:xfrm>
          <a:prstGeom prst="ellipse">
            <a:avLst/>
          </a:prstGeom>
          <a:solidFill>
            <a:srgbClr val="4F46E5"/>
          </a:solidFill>
          <a:ln w="12700">
            <a:solidFill>
              <a:srgbClr val="4F46E5"/>
            </a:solidFill>
            <a:prstDash val="solid"/>
          </a:ln>
        </p:spPr>
      </p:sp>
      <p:sp>
        <p:nvSpPr>
          <p:cNvPr id="9" name="Text 7"/>
          <p:cNvSpPr/>
          <p:nvPr/>
        </p:nvSpPr>
        <p:spPr>
          <a:xfrm>
            <a:off x="914400" y="914400"/>
            <a:ext cx="8823960" cy="365760"/>
          </a:xfrm>
          <a:prstGeom prst="rect">
            <a:avLst/>
          </a:prstGeom>
          <a:noFill/>
          <a:ln/>
        </p:spPr>
        <p:txBody>
          <a:bodyPr wrap="square" lIns="0" tIns="0" rIns="0" bIns="0" rtlCol="0" anchor="ctr">
            <a:normAutofit/>
          </a:bodyPr>
          <a:lstStyle/>
          <a:p>
            <a:pPr rtl="1" algn="r" indent="0" marL="0">
              <a:buNone/>
            </a:pPr>
            <a:r>
              <a:rPr lang="en-US" sz="1500" dirty="0">
                <a:solidFill>
                  <a:srgbClr val="334155"/>
                </a:solidFill>
                <a:latin typeface="Vazirmatn" pitchFamily="34" charset="0"/>
                <a:ea typeface="Vazirmatn" pitchFamily="34" charset="-122"/>
                <a:cs typeface="Vazirmatn" pitchFamily="34" charset="-120"/>
              </a:rPr>
              <a:t>قابلیت تشخیص خطاها و بهبود مدل از طریق تفسیر امکان‌پذیر می‌شود</a:t>
            </a:r>
            <a:endParaRPr lang="en-US" sz="1500" dirty="0"/>
          </a:p>
        </p:txBody>
      </p:sp>
      <p:sp>
        <p:nvSpPr>
          <p:cNvPr id="10" name="Text 8"/>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در بسیاری از حوزه‌های حساس مانند پزشکی و مالی، تصمیم‌گیری‌های مبتنی بر مدل‌های یادگیری عمیق بدون توضیح واضح می‌تواند خطرناک باشد. بنابراین، توسعه روش‌های تفسیر که بتوانند اهمیت ویژگی‌ها را برای هر پیش‌بینی به‌صورت قابل‌فهم ارائه دهند، ضرورت اساسی دارد.</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پیش‌زمینه نظری</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روش‌های کلاسیک تفسیر</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روش‌های سنتی مانند تحلیل حساسیت، حذف ویژگی و گرادیان‌های محلی سعی می‌کنند تأثیر هر ویژگی را بر خروجی مدل ارزیابی کنند. این روش‌ها اغلب به‌صورت محلی عمل می‌کنند و تضمین‌های نظری قوی ندارند، به‌خصوص در حضور تعاملات غیرخطی پیچیده.</a:t>
            </a:r>
            <a:endParaRPr lang="en-US" sz="1300" dirty="0"/>
          </a:p>
        </p:txBody>
      </p:sp>
      <p:sp>
        <p:nvSpPr>
          <p:cNvPr id="7" name="Shape 5"/>
          <p:cNvSpPr/>
          <p:nvPr/>
        </p:nvSpPr>
        <p:spPr>
          <a:xfrm>
            <a:off x="548640" y="914400"/>
            <a:ext cx="10058400" cy="960120"/>
          </a:xfrm>
          <a:prstGeom prst="roundRect">
            <a:avLst/>
          </a:prstGeom>
          <a:solidFill>
            <a:srgbClr val="F8FAFC"/>
          </a:solidFill>
          <a:ln w="12700">
            <a:solidFill>
              <a:srgbClr val="E2E8F0"/>
            </a:solidFill>
            <a:prstDash val="solid"/>
          </a:ln>
        </p:spPr>
      </p:sp>
      <p:sp>
        <p:nvSpPr>
          <p:cNvPr id="8" name="Text 6"/>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نظریه بازی‌ها و شاپیلات</a:t>
            </a:r>
            <a:endParaRPr lang="en-US" sz="1800" dirty="0"/>
          </a:p>
        </p:txBody>
      </p:sp>
      <p:sp>
        <p:nvSpPr>
          <p:cNvPr id="9" name="Text 7"/>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مفهوم شاپیلات از نظریه بازی‌ها می‌آید و به‌عنوان توزیع عادلانه ارزش مشارکت هر بازیکن (ویژگی) در یک بازی (پیش‌بینی) تعریف می‌شود. این چارچوب ویژگی‌های افزایشی، منصفانه و منحصر به‌فرد را برای تفسیر فراهم می‌کند.</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مفهوم SHAP</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تعریف SHAP</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 مقادیر شاپیلات را برای هر ویژگی در یک پیش‌بینی محاسبه می‌کند؛ این مقادیر مجموعاً به مقدار پیش‌بینی مدل نسبت می‌شوند و به‌صورت افزایشی (additive) ترکیب می‌شوند. به‌عبارت دیگر، پیش‌بینی برابر است با مقدار پایه به‌اضافه مجموع SHAPها.</a:t>
            </a:r>
            <a:endParaRPr lang="en-US" sz="1300" dirty="0"/>
          </a:p>
        </p:txBody>
      </p:sp>
      <p:sp>
        <p:nvSpPr>
          <p:cNvPr id="7" name="Shape 5"/>
          <p:cNvSpPr/>
          <p:nvPr/>
        </p:nvSpPr>
        <p:spPr>
          <a:xfrm>
            <a:off x="548640" y="914400"/>
            <a:ext cx="10058400" cy="960120"/>
          </a:xfrm>
          <a:prstGeom prst="roundRect">
            <a:avLst/>
          </a:prstGeom>
          <a:solidFill>
            <a:srgbClr val="F8FAFC"/>
          </a:solidFill>
          <a:ln w="12700">
            <a:solidFill>
              <a:srgbClr val="E2E8F0"/>
            </a:solidFill>
            <a:prstDash val="solid"/>
          </a:ln>
        </p:spPr>
      </p:sp>
      <p:sp>
        <p:nvSpPr>
          <p:cNvPr id="8" name="Text 6"/>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خواص مطلوب SHAP</a:t>
            </a:r>
            <a:endParaRPr lang="en-US" sz="1800" dirty="0"/>
          </a:p>
        </p:txBody>
      </p:sp>
      <p:sp>
        <p:nvSpPr>
          <p:cNvPr id="9" name="Text 7"/>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 ویژگی‌های منصفانه، سازگاری با توزیع داده، توانایی ترکیب با هر مدل دلخواه و تفسیر محلی و سراسری را فراهم می‌کند. این خواص از نتایج نظری شاپیلات به‌دست می‌آیند و تضمین می‌کنند که هیچ روش دیگری نمی‌تواند این معیارها را به‌صورت کامل برآورده سازد.</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مقایسه روش‌های موجود</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731520" y="1371600"/>
            <a:ext cx="4572000" cy="2743200"/>
          </a:xfrm>
          <a:prstGeom prst="roundRect">
            <a:avLst/>
          </a:prstGeom>
          <a:solidFill>
            <a:srgbClr val="EEF2FF"/>
          </a:solidFill>
          <a:ln w="12700">
            <a:solidFill>
              <a:srgbClr val="E2E8F0"/>
            </a:solidFill>
            <a:prstDash val="solid"/>
          </a:ln>
        </p:spPr>
      </p:sp>
      <p:sp>
        <p:nvSpPr>
          <p:cNvPr id="5" name="Text 3"/>
          <p:cNvSpPr/>
          <p:nvPr/>
        </p:nvSpPr>
        <p:spPr>
          <a:xfrm>
            <a:off x="914400" y="1600200"/>
            <a:ext cx="4206240" cy="320040"/>
          </a:xfrm>
          <a:prstGeom prst="rect">
            <a:avLst/>
          </a:prstGeom>
          <a:noFill/>
          <a:ln/>
        </p:spPr>
        <p:txBody>
          <a:bodyPr wrap="square" lIns="0" tIns="0" rIns="0" bIns="0" rtlCol="0" anchor="ctr"/>
          <a:lstStyle/>
          <a:p>
            <a:pPr rtl="1" algn="ctr" indent="0" marL="0">
              <a:buNone/>
            </a:pPr>
            <a:endParaRPr lang="en-US" sz="2000" dirty="0"/>
          </a:p>
        </p:txBody>
      </p:sp>
      <p:sp>
        <p:nvSpPr>
          <p:cNvPr id="6" name="Shape 4"/>
          <p:cNvSpPr/>
          <p:nvPr/>
        </p:nvSpPr>
        <p:spPr>
          <a:xfrm>
            <a:off x="6400800" y="1371600"/>
            <a:ext cx="4572000" cy="2743200"/>
          </a:xfrm>
          <a:prstGeom prst="roundRect">
            <a:avLst/>
          </a:prstGeom>
          <a:solidFill>
            <a:srgbClr val="DCFCE7"/>
          </a:solidFill>
          <a:ln w="12700">
            <a:solidFill>
              <a:srgbClr val="E2E8F0"/>
            </a:solidFill>
            <a:prstDash val="solid"/>
          </a:ln>
        </p:spPr>
      </p:sp>
      <p:sp>
        <p:nvSpPr>
          <p:cNvPr id="7" name="Text 5"/>
          <p:cNvSpPr/>
          <p:nvPr/>
        </p:nvSpPr>
        <p:spPr>
          <a:xfrm>
            <a:off x="6583680" y="1600200"/>
            <a:ext cx="4206240" cy="320040"/>
          </a:xfrm>
          <a:prstGeom prst="rect">
            <a:avLst/>
          </a:prstGeom>
          <a:noFill/>
          <a:ln/>
        </p:spPr>
        <p:txBody>
          <a:bodyPr wrap="square" lIns="0" tIns="0" rIns="0" bIns="0" rtlCol="0" anchor="ctr"/>
          <a:lstStyle/>
          <a:p>
            <a:pPr rtl="1" algn="ctr" indent="0" marL="0">
              <a:buNone/>
            </a:pP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تاریخچه توسعه روش‌های تفسیر</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معماری و محاسبه SHAP</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محاسبه دقیق شاپیلات</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محاسبه دقیق شاپیلات نیازمند ارزیابی تمام زیرمجموعه‌های ویژگی‌ها است که برای مدل‌های بزرگ به‌صورت نمایی هزینه‌بر می‌شود؛ بنابراین الگوریتم‌های تقریب‌زننده مانند Kernel SHAP یا Tree SHAP توسعه یافته‌اند.</a:t>
            </a:r>
            <a:endParaRPr lang="en-US" sz="1300" dirty="0"/>
          </a:p>
        </p:txBody>
      </p:sp>
      <p:sp>
        <p:nvSpPr>
          <p:cNvPr id="7" name="Shape 5"/>
          <p:cNvSpPr/>
          <p:nvPr/>
        </p:nvSpPr>
        <p:spPr>
          <a:xfrm>
            <a:off x="548640" y="914400"/>
            <a:ext cx="10058400" cy="960120"/>
          </a:xfrm>
          <a:prstGeom prst="roundRect">
            <a:avLst/>
          </a:prstGeom>
          <a:solidFill>
            <a:srgbClr val="F8FAFC"/>
          </a:solidFill>
          <a:ln w="12700">
            <a:solidFill>
              <a:srgbClr val="E2E8F0"/>
            </a:solidFill>
            <a:prstDash val="solid"/>
          </a:ln>
        </p:spPr>
      </p:sp>
      <p:sp>
        <p:nvSpPr>
          <p:cNvPr id="8" name="Text 6"/>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بهینه‌سازی در درخت‌های تصمیم</a:t>
            </a:r>
            <a:endParaRPr lang="en-US" sz="1800" dirty="0"/>
          </a:p>
        </p:txBody>
      </p:sp>
      <p:sp>
        <p:nvSpPr>
          <p:cNvPr id="9" name="Text 7"/>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Tree SHAP با بهره‌گیری از ساختار درختی، محاسبه شاپیلات را به‌صورت خطی نسبت به تعداد گره‌ها انجام می‌دهد و برای مدل‌های مبتنی بر گرادیان بوستینگ کارایی بالایی دارد.</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ارزیابی تجربی</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9921240" y="1051560"/>
            <a:ext cx="91440" cy="91440"/>
          </a:xfrm>
          <a:prstGeom prst="ellipse">
            <a:avLst/>
          </a:prstGeom>
          <a:solidFill>
            <a:srgbClr val="4F46E5"/>
          </a:solidFill>
          <a:ln w="12700">
            <a:solidFill>
              <a:srgbClr val="4F46E5"/>
            </a:solidFill>
            <a:prstDash val="solid"/>
          </a:ln>
        </p:spPr>
      </p:sp>
      <p:sp>
        <p:nvSpPr>
          <p:cNvPr id="5" name="Text 3"/>
          <p:cNvSpPr/>
          <p:nvPr/>
        </p:nvSpPr>
        <p:spPr>
          <a:xfrm>
            <a:off x="914400" y="914400"/>
            <a:ext cx="8823960" cy="365760"/>
          </a:xfrm>
          <a:prstGeom prst="rect">
            <a:avLst/>
          </a:prstGeom>
          <a:noFill/>
          <a:ln/>
        </p:spPr>
        <p:txBody>
          <a:bodyPr wrap="square" lIns="0" tIns="0" rIns="0" bIns="0" rtlCol="0" anchor="ctr">
            <a:normAutofit/>
          </a:bodyPr>
          <a:lstStyle/>
          <a:p>
            <a:pPr rtl="1" algn="r" indent="0" marL="0">
              <a:buNone/>
            </a:pPr>
            <a:r>
              <a:rPr lang="en-US" sz="1500" dirty="0">
                <a:solidFill>
                  <a:srgbClr val="334155"/>
                </a:solidFill>
                <a:latin typeface="Vazirmatn" pitchFamily="34" charset="0"/>
                <a:ea typeface="Vazirmatn" pitchFamily="34" charset="-122"/>
                <a:cs typeface="Vazirmatn" pitchFamily="34" charset="-120"/>
              </a:rPr>
              <a:t>SHAP توضیح‌های سازگارتر و قابل‌تفسیرتر نسبت به LIME ارائه می‌دهد</a:t>
            </a:r>
            <a:endParaRPr lang="en-US" sz="1500" dirty="0"/>
          </a:p>
        </p:txBody>
      </p:sp>
      <p:sp>
        <p:nvSpPr>
          <p:cNvPr id="6" name="Shape 4"/>
          <p:cNvSpPr/>
          <p:nvPr/>
        </p:nvSpPr>
        <p:spPr>
          <a:xfrm>
            <a:off x="9921240" y="1051560"/>
            <a:ext cx="91440" cy="91440"/>
          </a:xfrm>
          <a:prstGeom prst="ellipse">
            <a:avLst/>
          </a:prstGeom>
          <a:solidFill>
            <a:srgbClr val="4F46E5"/>
          </a:solidFill>
          <a:ln w="12700">
            <a:solidFill>
              <a:srgbClr val="4F46E5"/>
            </a:solidFill>
            <a:prstDash val="solid"/>
          </a:ln>
        </p:spPr>
      </p:sp>
      <p:sp>
        <p:nvSpPr>
          <p:cNvPr id="7" name="Text 5"/>
          <p:cNvSpPr/>
          <p:nvPr/>
        </p:nvSpPr>
        <p:spPr>
          <a:xfrm>
            <a:off x="914400" y="914400"/>
            <a:ext cx="8823960" cy="365760"/>
          </a:xfrm>
          <a:prstGeom prst="rect">
            <a:avLst/>
          </a:prstGeom>
          <a:noFill/>
          <a:ln/>
        </p:spPr>
        <p:txBody>
          <a:bodyPr wrap="square" lIns="0" tIns="0" rIns="0" bIns="0" rtlCol="0" anchor="ctr">
            <a:normAutofit/>
          </a:bodyPr>
          <a:lstStyle/>
          <a:p>
            <a:pPr rtl="1" algn="r" indent="0" marL="0">
              <a:buNone/>
            </a:pPr>
            <a:r>
              <a:rPr lang="en-US" sz="1500" dirty="0">
                <a:solidFill>
                  <a:srgbClr val="334155"/>
                </a:solidFill>
                <a:latin typeface="Vazirmatn" pitchFamily="34" charset="0"/>
                <a:ea typeface="Vazirmatn" pitchFamily="34" charset="-122"/>
                <a:cs typeface="Vazirmatn" pitchFamily="34" charset="-120"/>
              </a:rPr>
              <a:t>در آزمایش‌های کاربری، کاربران SHAP را نزدیک‌تر به درک انسانی می‌دانند</a:t>
            </a:r>
            <a:endParaRPr lang="en-US" sz="1500" dirty="0"/>
          </a:p>
        </p:txBody>
      </p:sp>
      <p:sp>
        <p:nvSpPr>
          <p:cNvPr id="8" name="Shape 6"/>
          <p:cNvSpPr/>
          <p:nvPr/>
        </p:nvSpPr>
        <p:spPr>
          <a:xfrm>
            <a:off x="9921240" y="1051560"/>
            <a:ext cx="91440" cy="91440"/>
          </a:xfrm>
          <a:prstGeom prst="ellipse">
            <a:avLst/>
          </a:prstGeom>
          <a:solidFill>
            <a:srgbClr val="4F46E5"/>
          </a:solidFill>
          <a:ln w="12700">
            <a:solidFill>
              <a:srgbClr val="4F46E5"/>
            </a:solidFill>
            <a:prstDash val="solid"/>
          </a:ln>
        </p:spPr>
      </p:sp>
      <p:sp>
        <p:nvSpPr>
          <p:cNvPr id="9" name="Text 7"/>
          <p:cNvSpPr/>
          <p:nvPr/>
        </p:nvSpPr>
        <p:spPr>
          <a:xfrm>
            <a:off x="914400" y="914400"/>
            <a:ext cx="8823960" cy="365760"/>
          </a:xfrm>
          <a:prstGeom prst="rect">
            <a:avLst/>
          </a:prstGeom>
          <a:noFill/>
          <a:ln/>
        </p:spPr>
        <p:txBody>
          <a:bodyPr wrap="square" lIns="0" tIns="0" rIns="0" bIns="0" rtlCol="0" anchor="ctr">
            <a:normAutofit/>
          </a:bodyPr>
          <a:lstStyle/>
          <a:p>
            <a:pPr rtl="1" algn="r" indent="0" marL="0">
              <a:buNone/>
            </a:pPr>
            <a:r>
              <a:rPr lang="en-US" sz="1500" dirty="0">
                <a:solidFill>
                  <a:srgbClr val="334155"/>
                </a:solidFill>
                <a:latin typeface="Vazirmatn" pitchFamily="34" charset="0"/>
                <a:ea typeface="Vazirmatn" pitchFamily="34" charset="-122"/>
                <a:cs typeface="Vazirmatn" pitchFamily="34" charset="-120"/>
              </a:rPr>
              <a:t>محاسبه SHAP برای مدل‌های درختی سرعتی مشابه روش‌های بومی دارد</a:t>
            </a:r>
            <a:endParaRPr lang="en-US" sz="1500" dirty="0"/>
          </a:p>
        </p:txBody>
      </p:sp>
      <p:sp>
        <p:nvSpPr>
          <p:cNvPr id="10" name="Text 8"/>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در مجموعه داده‌های استاندارد، مقایسه‌های کمی نشان داد که SHAP نه تنها دقت توضیح را حفظ می‌کند بلکه به‌صورت افزایشی می‌تواند به‌سرعتی نزدیک به روش‌های تخمینی برسد، به‌ویژه در مدل‌های مبتنی بر درخت تصمیم.</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مقایسه عملکرد SHAP با روش‌های دیگر</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731520" y="1371600"/>
            <a:ext cx="4572000" cy="2743200"/>
          </a:xfrm>
          <a:prstGeom prst="roundRect">
            <a:avLst/>
          </a:prstGeom>
          <a:solidFill>
            <a:srgbClr val="EEF2FF"/>
          </a:solidFill>
          <a:ln w="12700">
            <a:solidFill>
              <a:srgbClr val="E2E8F0"/>
            </a:solidFill>
            <a:prstDash val="solid"/>
          </a:ln>
        </p:spPr>
      </p:sp>
      <p:sp>
        <p:nvSpPr>
          <p:cNvPr id="5" name="Text 3"/>
          <p:cNvSpPr/>
          <p:nvPr/>
        </p:nvSpPr>
        <p:spPr>
          <a:xfrm>
            <a:off x="914400" y="1600200"/>
            <a:ext cx="4206240" cy="320040"/>
          </a:xfrm>
          <a:prstGeom prst="rect">
            <a:avLst/>
          </a:prstGeom>
          <a:noFill/>
          <a:ln/>
        </p:spPr>
        <p:txBody>
          <a:bodyPr wrap="square" lIns="0" tIns="0" rIns="0" bIns="0" rtlCol="0" anchor="ctr"/>
          <a:lstStyle/>
          <a:p>
            <a:pPr rtl="1" algn="ctr" indent="0" marL="0">
              <a:buNone/>
            </a:pPr>
            <a:endParaRPr lang="en-US" sz="2000" dirty="0"/>
          </a:p>
        </p:txBody>
      </p:sp>
      <p:sp>
        <p:nvSpPr>
          <p:cNvPr id="6" name="Shape 4"/>
          <p:cNvSpPr/>
          <p:nvPr/>
        </p:nvSpPr>
        <p:spPr>
          <a:xfrm>
            <a:off x="6400800" y="1371600"/>
            <a:ext cx="4572000" cy="2743200"/>
          </a:xfrm>
          <a:prstGeom prst="roundRect">
            <a:avLst/>
          </a:prstGeom>
          <a:solidFill>
            <a:srgbClr val="DCFCE7"/>
          </a:solidFill>
          <a:ln w="12700">
            <a:solidFill>
              <a:srgbClr val="E2E8F0"/>
            </a:solidFill>
            <a:prstDash val="solid"/>
          </a:ln>
        </p:spPr>
      </p:sp>
      <p:sp>
        <p:nvSpPr>
          <p:cNvPr id="7" name="Text 5"/>
          <p:cNvSpPr/>
          <p:nvPr/>
        </p:nvSpPr>
        <p:spPr>
          <a:xfrm>
            <a:off x="6583680" y="1600200"/>
            <a:ext cx="4206240" cy="320040"/>
          </a:xfrm>
          <a:prstGeom prst="rect">
            <a:avLst/>
          </a:prstGeom>
          <a:noFill/>
          <a:ln/>
        </p:spPr>
        <p:txBody>
          <a:bodyPr wrap="square" lIns="0" tIns="0" rIns="0" bIns="0" rtlCol="0" anchor="ctr"/>
          <a:lstStyle/>
          <a:p>
            <a:pPr rtl="1" algn="ctr" indent="0" marL="0">
              <a:buNone/>
            </a:pP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محدودیت‌ها و چالش‌ها</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9921240" y="1051560"/>
            <a:ext cx="91440" cy="91440"/>
          </a:xfrm>
          <a:prstGeom prst="ellipse">
            <a:avLst/>
          </a:prstGeom>
          <a:solidFill>
            <a:srgbClr val="4F46E5"/>
          </a:solidFill>
          <a:ln w="12700">
            <a:solidFill>
              <a:srgbClr val="4F46E5"/>
            </a:solidFill>
            <a:prstDash val="solid"/>
          </a:ln>
        </p:spPr>
      </p:sp>
      <p:sp>
        <p:nvSpPr>
          <p:cNvPr id="5" name="Text 3"/>
          <p:cNvSpPr/>
          <p:nvPr/>
        </p:nvSpPr>
        <p:spPr>
          <a:xfrm>
            <a:off x="914400" y="914400"/>
            <a:ext cx="8823960" cy="365760"/>
          </a:xfrm>
          <a:prstGeom prst="rect">
            <a:avLst/>
          </a:prstGeom>
          <a:noFill/>
          <a:ln/>
        </p:spPr>
        <p:txBody>
          <a:bodyPr wrap="square" lIns="0" tIns="0" rIns="0" bIns="0" rtlCol="0" anchor="ctr">
            <a:normAutofit/>
          </a:bodyPr>
          <a:lstStyle/>
          <a:p>
            <a:pPr rtl="1" algn="r" indent="0" marL="0">
              <a:buNone/>
            </a:pPr>
            <a:r>
              <a:rPr lang="en-US" sz="1500" dirty="0">
                <a:solidFill>
                  <a:srgbClr val="334155"/>
                </a:solidFill>
                <a:latin typeface="Vazirmatn" pitchFamily="34" charset="0"/>
                <a:ea typeface="Vazirmatn" pitchFamily="34" charset="-122"/>
                <a:cs typeface="Vazirmatn" pitchFamily="34" charset="-120"/>
              </a:rPr>
              <a:t>محاسبه دقیق شاپیلات برای داده‌های با ابعاد بسیار بالا هزینه‌بر است</a:t>
            </a:r>
            <a:endParaRPr lang="en-US" sz="1500" dirty="0"/>
          </a:p>
        </p:txBody>
      </p:sp>
      <p:sp>
        <p:nvSpPr>
          <p:cNvPr id="6" name="Shape 4"/>
          <p:cNvSpPr/>
          <p:nvPr/>
        </p:nvSpPr>
        <p:spPr>
          <a:xfrm>
            <a:off x="9921240" y="1051560"/>
            <a:ext cx="91440" cy="91440"/>
          </a:xfrm>
          <a:prstGeom prst="ellipse">
            <a:avLst/>
          </a:prstGeom>
          <a:solidFill>
            <a:srgbClr val="4F46E5"/>
          </a:solidFill>
          <a:ln w="12700">
            <a:solidFill>
              <a:srgbClr val="4F46E5"/>
            </a:solidFill>
            <a:prstDash val="solid"/>
          </a:ln>
        </p:spPr>
      </p:sp>
      <p:sp>
        <p:nvSpPr>
          <p:cNvPr id="7" name="Text 5"/>
          <p:cNvSpPr/>
          <p:nvPr/>
        </p:nvSpPr>
        <p:spPr>
          <a:xfrm>
            <a:off x="914400" y="914400"/>
            <a:ext cx="8823960" cy="365760"/>
          </a:xfrm>
          <a:prstGeom prst="rect">
            <a:avLst/>
          </a:prstGeom>
          <a:noFill/>
          <a:ln/>
        </p:spPr>
        <p:txBody>
          <a:bodyPr wrap="square" lIns="0" tIns="0" rIns="0" bIns="0" rtlCol="0" anchor="ctr">
            <a:normAutofit/>
          </a:bodyPr>
          <a:lstStyle/>
          <a:p>
            <a:pPr rtl="1" algn="r" indent="0" marL="0">
              <a:buNone/>
            </a:pPr>
            <a:r>
              <a:rPr lang="en-US" sz="1500" dirty="0">
                <a:solidFill>
                  <a:srgbClr val="334155"/>
                </a:solidFill>
                <a:latin typeface="Vazirmatn" pitchFamily="34" charset="0"/>
                <a:ea typeface="Vazirmatn" pitchFamily="34" charset="-122"/>
                <a:cs typeface="Vazirmatn" pitchFamily="34" charset="-120"/>
              </a:rPr>
              <a:t>تفسیرهای محلی ممکن است با تفسیرهای سراسری تضاد داشته باشند</a:t>
            </a:r>
            <a:endParaRPr lang="en-US" sz="1500" dirty="0"/>
          </a:p>
        </p:txBody>
      </p:sp>
      <p:sp>
        <p:nvSpPr>
          <p:cNvPr id="8" name="Shape 6"/>
          <p:cNvSpPr/>
          <p:nvPr/>
        </p:nvSpPr>
        <p:spPr>
          <a:xfrm>
            <a:off x="9921240" y="1051560"/>
            <a:ext cx="91440" cy="91440"/>
          </a:xfrm>
          <a:prstGeom prst="ellipse">
            <a:avLst/>
          </a:prstGeom>
          <a:solidFill>
            <a:srgbClr val="4F46E5"/>
          </a:solidFill>
          <a:ln w="12700">
            <a:solidFill>
              <a:srgbClr val="4F46E5"/>
            </a:solidFill>
            <a:prstDash val="solid"/>
          </a:ln>
        </p:spPr>
      </p:sp>
      <p:sp>
        <p:nvSpPr>
          <p:cNvPr id="9" name="Text 7"/>
          <p:cNvSpPr/>
          <p:nvPr/>
        </p:nvSpPr>
        <p:spPr>
          <a:xfrm>
            <a:off x="914400" y="914400"/>
            <a:ext cx="8823960" cy="365760"/>
          </a:xfrm>
          <a:prstGeom prst="rect">
            <a:avLst/>
          </a:prstGeom>
          <a:noFill/>
          <a:ln/>
        </p:spPr>
        <p:txBody>
          <a:bodyPr wrap="square" lIns="0" tIns="0" rIns="0" bIns="0" rtlCol="0" anchor="ctr">
            <a:normAutofit/>
          </a:bodyPr>
          <a:lstStyle/>
          <a:p>
            <a:pPr rtl="1" algn="r" indent="0" marL="0">
              <a:buNone/>
            </a:pPr>
            <a:r>
              <a:rPr lang="en-US" sz="1500" dirty="0">
                <a:solidFill>
                  <a:srgbClr val="334155"/>
                </a:solidFill>
                <a:latin typeface="Vazirmatn" pitchFamily="34" charset="0"/>
                <a:ea typeface="Vazirmatn" pitchFamily="34" charset="-122"/>
                <a:cs typeface="Vazirmatn" pitchFamily="34" charset="-120"/>
              </a:rPr>
              <a:t>انتخاب توزیع مرجع برای مقایسه می‌تواند نتایج را تحت تأثیر قرار دهد</a:t>
            </a:r>
            <a:endParaRPr lang="en-US" sz="1500" dirty="0"/>
          </a:p>
        </p:txBody>
      </p:sp>
      <p:sp>
        <p:nvSpPr>
          <p:cNvPr id="10" name="Text 8"/>
          <p:cNvSpPr/>
          <p:nvPr/>
        </p:nvSpPr>
        <p:spPr>
          <a:xfrm>
            <a:off x="914400" y="914400"/>
            <a:ext cx="9144000" cy="822960"/>
          </a:xfrm>
          <a:prstGeom prst="rect">
            <a:avLst/>
          </a:prstGeom>
          <a:noFill/>
          <a:ln/>
        </p:spPr>
        <p:txBody>
          <a:bodyPr wrap="square" lIns="0" tIns="0" rIns="0" bIns="0" rtlCol="0" anchor="ctr">
            <a:normAutofit/>
          </a:bodyPr>
          <a:lstStyle/>
          <a:p>
            <a:pPr rtl="1" algn="r" indent="0" marL="0">
              <a:buNone/>
            </a:pPr>
            <a:r>
              <a:rPr lang="en-US" sz="1200" dirty="0">
                <a:solidFill>
                  <a:srgbClr val="334155"/>
                </a:solidFill>
                <a:latin typeface="Vazirmatn" pitchFamily="34" charset="0"/>
                <a:ea typeface="Vazirmatn" pitchFamily="34" charset="-122"/>
                <a:cs typeface="Vazirmatn" pitchFamily="34" charset="-120"/>
              </a:rPr>
              <a:t>اگرچه SHAP چارچوب نظری قوی‌ای دارد، اما در عمل برای مدل‌های بسیار بزرگ یا داده‌های با ویژگی‌های بسیار زیاد نیاز به بهینه‌سازی‌های بیشتر و روش‌های تقریب‌زننده کارآمد دارد.</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بهبودهای پیشنهادی</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تقریب‌های سلسله‌مراتبی</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استفاده از تقسیم‌بندی سلسله‌مراتبی ویژگی‌ها می‌تواند تعداد ترکیب‌های مورد نیاز برای محاسبه شاپیلات را به‌طور نمایی کاهش دهد و هزینه محاسباتی را بهبود بخشد.</a:t>
            </a:r>
            <a:endParaRPr lang="en-US" sz="1300" dirty="0"/>
          </a:p>
        </p:txBody>
      </p:sp>
      <p:sp>
        <p:nvSpPr>
          <p:cNvPr id="7" name="Shape 5"/>
          <p:cNvSpPr/>
          <p:nvPr/>
        </p:nvSpPr>
        <p:spPr>
          <a:xfrm>
            <a:off x="548640" y="914400"/>
            <a:ext cx="10058400" cy="960120"/>
          </a:xfrm>
          <a:prstGeom prst="roundRect">
            <a:avLst/>
          </a:prstGeom>
          <a:solidFill>
            <a:srgbClr val="F8FAFC"/>
          </a:solidFill>
          <a:ln w="12700">
            <a:solidFill>
              <a:srgbClr val="E2E8F0"/>
            </a:solidFill>
            <a:prstDash val="solid"/>
          </a:ln>
        </p:spPr>
      </p:sp>
      <p:sp>
        <p:nvSpPr>
          <p:cNvPr id="8" name="Text 6"/>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یکپارچه‌سازی با یادگیری فعال</a:t>
            </a:r>
            <a:endParaRPr lang="en-US" sz="1800" dirty="0"/>
          </a:p>
        </p:txBody>
      </p:sp>
      <p:sp>
        <p:nvSpPr>
          <p:cNvPr id="9" name="Text 7"/>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با ترکیب SHAP و استراتژی‌های یادگیری فعال می‌توان نمونه‌های مهم برای محاسبه دقیق شاپیلات را انتخاب کرد و به‌صورت پویا دقت توضیح را افزایش داد.</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4F46E5"/>
          </a:solidFill>
          <a:ln w="12700">
            <a:solidFill>
              <a:srgbClr val="4F46E5"/>
            </a:solidFill>
            <a:prstDash val="solid"/>
          </a:ln>
        </p:spPr>
      </p:sp>
      <p:sp>
        <p:nvSpPr>
          <p:cNvPr id="3" name="Text 1"/>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نتیجه‌گیری</a:t>
            </a:r>
            <a:endParaRPr lang="en-US" sz="3200" dirty="0"/>
          </a:p>
        </p:txBody>
      </p:sp>
      <p:sp>
        <p:nvSpPr>
          <p:cNvPr id="4" name="Shape 2"/>
          <p:cNvSpPr/>
          <p:nvPr/>
        </p:nvSpPr>
        <p:spPr>
          <a:xfrm>
            <a:off x="914400" y="1645920"/>
            <a:ext cx="10058400" cy="2103120"/>
          </a:xfrm>
          <a:prstGeom prst="roundRect">
            <a:avLst/>
          </a:prstGeom>
          <a:solidFill>
            <a:srgbClr val="EEF2FF"/>
          </a:solidFill>
          <a:ln w="12700">
            <a:solidFill>
              <a:srgbClr val="C7D2FE"/>
            </a:solidFill>
            <a:prstDash val="solid"/>
          </a:ln>
        </p:spPr>
      </p:sp>
      <p:sp>
        <p:nvSpPr>
          <p:cNvPr id="5" name="Text 3"/>
          <p:cNvSpPr/>
          <p:nvPr/>
        </p:nvSpPr>
        <p:spPr>
          <a:xfrm>
            <a:off x="1280160" y="2011680"/>
            <a:ext cx="9326880" cy="1097280"/>
          </a:xfrm>
          <a:prstGeom prst="rect">
            <a:avLst/>
          </a:prstGeom>
          <a:noFill/>
          <a:ln/>
        </p:spPr>
        <p:txBody>
          <a:bodyPr wrap="square" lIns="0" tIns="0" rIns="0" bIns="0" rtlCol="0" anchor="ctr">
            <a:normAutofit/>
          </a:bodyPr>
          <a:lstStyle/>
          <a:p>
            <a:pPr rtl="1" algn="r" indent="0" marL="0">
              <a:buNone/>
            </a:pPr>
            <a:r>
              <a:rPr lang="en-US" sz="1800" dirty="0">
                <a:solidFill>
                  <a:srgbClr val="334155"/>
                </a:solidFill>
                <a:latin typeface="Vazirmatn" pitchFamily="34" charset="0"/>
                <a:ea typeface="Vazirmatn" pitchFamily="34" charset="-122"/>
                <a:cs typeface="Vazirmatn" pitchFamily="34" charset="-120"/>
              </a:rPr>
              <a:t>SHAP چارچوب یکپارچه‌ای برای تفسیر پیش‌بینی‌های مدل‌های پیچیده فراهم می‌کند که با ویژگی‌های منصفانه و یکتا، محدودیت‌های روش‌های قبلی را برطرف می‌سازد. این رویکرد نه تنها به‌بهبود درک انسانی کمک می‌کند بلکه مسیرهای جدیدی برای بهینه‌سازی محاسباتی و ترکیب با یادگیری فعال باز می‌کند.</a:t>
            </a:r>
            <a:endParaRPr lang="en-US" sz="1800" dirty="0"/>
          </a:p>
        </p:txBody>
      </p:sp>
      <p:sp>
        <p:nvSpPr>
          <p:cNvPr id="6" name="Shape 4"/>
          <p:cNvSpPr/>
          <p:nvPr/>
        </p:nvSpPr>
        <p:spPr>
          <a:xfrm>
            <a:off x="3931920" y="4389120"/>
            <a:ext cx="4297680" cy="594360"/>
          </a:xfrm>
          <a:prstGeom prst="roundRect">
            <a:avLst/>
          </a:prstGeom>
          <a:solidFill>
            <a:srgbClr val="EEF2FF"/>
          </a:solidFill>
          <a:ln w="12700">
            <a:solidFill>
              <a:srgbClr val="4F46E5"/>
            </a:solidFill>
            <a:prstDash val="solid"/>
          </a:ln>
        </p:spPr>
      </p:sp>
      <p:sp>
        <p:nvSpPr>
          <p:cNvPr id="7" name="Text 5"/>
          <p:cNvSpPr/>
          <p:nvPr/>
        </p:nvSpPr>
        <p:spPr>
          <a:xfrm>
            <a:off x="3931920" y="4553712"/>
            <a:ext cx="4297680" cy="274320"/>
          </a:xfrm>
          <a:prstGeom prst="rect">
            <a:avLst/>
          </a:prstGeom>
          <a:noFill/>
          <a:ln/>
        </p:spPr>
        <p:txBody>
          <a:bodyPr wrap="square" lIns="0" tIns="0" rIns="0" bIns="0" rtlCol="0" anchor="ctr"/>
          <a:lstStyle/>
          <a:p>
            <a:pPr rtl="1" algn="ctr" indent="0" marL="0">
              <a:buNone/>
            </a:pPr>
            <a:r>
              <a:rPr lang="en-US" sz="1700" b="1" dirty="0">
                <a:solidFill>
                  <a:srgbClr val="4F46E5"/>
                </a:solidFill>
                <a:latin typeface="Vazirmatn" pitchFamily="34" charset="0"/>
                <a:ea typeface="Vazirmatn" pitchFamily="34" charset="-122"/>
                <a:cs typeface="Vazirmatn" pitchFamily="34" charset="-120"/>
              </a:rPr>
              <a:t>پایان ارائه</a:t>
            </a:r>
            <a:endParaRPr lang="en-US" sz="1700" dirty="0"/>
          </a:p>
        </p:txBody>
      </p:sp>
      <p:sp>
        <p:nvSpPr>
          <p:cNvPr id="8" name="Text 6"/>
          <p:cNvSpPr/>
          <p:nvPr/>
        </p:nvSpPr>
        <p:spPr>
          <a:xfrm>
            <a:off x="10972800" y="6400800"/>
            <a:ext cx="365760" cy="182880"/>
          </a:xfrm>
          <a:prstGeom prst="rect">
            <a:avLst/>
          </a:prstGeom>
          <a:noFill/>
          <a:ln/>
        </p:spPr>
        <p:txBody>
          <a:bodyPr wrap="square" rtlCol="0" anchor="ctr"/>
          <a:lstStyle/>
          <a:p>
            <a:pPr algn="ctr" indent="0" marL="0">
              <a:buNone/>
            </a:pPr>
            <a:r>
              <a:rPr lang="en-US" sz="1000" dirty="0">
                <a:solidFill>
                  <a:srgbClr val="64748B"/>
                </a:solidFill>
                <a:latin typeface="Vazirmatn" pitchFamily="34" charset="0"/>
                <a:ea typeface="Vazirmatn" pitchFamily="34" charset="-122"/>
                <a:cs typeface="Vazirmatn" pitchFamily="34" charset="-120"/>
              </a:rPr>
              <a:t>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Vazirmat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azirmat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AI Generator</dc:creator>
  <cp:lastModifiedBy>AI Generator</cp:lastModifiedBy>
  <cp:revision>1</cp:revision>
  <dcterms:created xsi:type="dcterms:W3CDTF">2026-08-09T14:28:18Z</dcterms:created>
  <dcterms:modified xsi:type="dcterms:W3CDTF">2026-08-09T14:28:18Z</dcterms:modified>
</cp:coreProperties>
</file>