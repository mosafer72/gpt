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4F46E5"/>
          </a:solidFill>
          <a:ln w="12700">
            <a:solidFill>
              <a:srgbClr val="4F46E5"/>
            </a:solidFill>
            <a:prstDash val="solid"/>
          </a:ln>
        </p:spPr>
      </p:sp>
      <p:sp>
        <p:nvSpPr>
          <p:cNvPr id="3" name="Text 1"/>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رویکرد یکپارچه برای تفسیر پیش بینی ها</a:t>
            </a:r>
            <a:endParaRPr lang="en-US" sz="3200" dirty="0"/>
          </a:p>
        </p:txBody>
      </p:sp>
      <p:sp>
        <p:nvSpPr>
          <p:cNvPr id="4" name="Text 2"/>
          <p:cNvSpPr/>
          <p:nvPr/>
        </p:nvSpPr>
        <p:spPr>
          <a:xfrm>
            <a:off x="10972800" y="6400800"/>
            <a:ext cx="365760" cy="182880"/>
          </a:xfrm>
          <a:prstGeom prst="rect">
            <a:avLst/>
          </a:prstGeom>
          <a:noFill/>
          <a:ln/>
        </p:spPr>
        <p:txBody>
          <a:bodyPr wrap="square" rtlCol="0" anchor="ctr"/>
          <a:lstStyle/>
          <a:p>
            <a:pPr algn="ctr" indent="0" marL="0">
              <a:buNone/>
            </a:pPr>
            <a:r>
              <a:rPr lang="en-US" sz="1000" dirty="0">
                <a:solidFill>
                  <a:srgbClr val="64748B"/>
                </a:solidFill>
                <a:latin typeface="Vazirmatn" pitchFamily="34" charset="0"/>
                <a:ea typeface="Vazirmatn" pitchFamily="34" charset="-122"/>
                <a:cs typeface="Vazirmatn"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مقدمه</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مقدمه</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درک اینکه چرا یک مدل پیش بینی می کند، به همان اندازه دقت پیش بینی مهم است. با افزایش پیچیدگی مدل ها، نیاز به روش هایی برای تفسیر پیش بینی ها افزایش یافته است.</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اهداف</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اهداف</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هدف این مطالعه، ارائه یک رویکرد یکپارچه برای تفسیر پیش بینی ها با استفاده از روش SHAP است که به تحلیل ویژگی ها و اهمیت آنها در پیش بینی می پردازد.</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مهم بودن تفسیر مدل</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مهم بودن تفسیر مدل</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درک دلایل پیش بینی مدل، به کاربران امکان می دهد تا به مدل اعتماد کنند، بهبود دهند و فرآیند مدل شده را درک کنند.</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چالش ها</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چالش ها</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مدل های پیچیده مانند مدل های یادگیری عمیق و مجموعه ها، به دلیل پیچیدگی، تفسیر آنها دشوار است. این چالش باعث ایجاد تعارض بین دقت و قابلیت تفسیر مدل می شود.</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روش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روش SHAP</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یک رویکرد یکپارچه برای تفسیر پیش بینی ها است که به تخصیص اهمیت به ویژگی ها و تحلیل تأثیر هر ویژگی بر پیش بینی می پردازد.</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مکانیسم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مکانیسم SHAP</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از نظریه بازی ها استفاده می کند تا اهمیت ویژگی ها را به طور یکنواخت تعیین کند. این روش به تحلیل تأثیر هر ویژگی بر پیش بینی می پردازد.</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ویژگی های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ویژگی های SHAP</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دارای ویژگی هایی مانند یکپارچگی، قابلیت تفسیر، و تطابق با نظریه بازی ها است که آن را به یک روش قوی برای تفسیر مدل تبدیل می کند.</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کاربردهای SHAP</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کاربردهای SHAP</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در حوزه های مختلفی مانند پزشکی، مالی، و تحلیل داده ها کاربرد دارد و به بهبود قابلیت تفسیر مدل ها کمک می کند.</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محدودیت ها</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محدودیت ها</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ممکن است در مدل های بسیار پیچیده یا با داده های بسیار بزرگ، کارایی کمتری داشته باشد و نیاز به محاسبات بیشتری داشته باشد.</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نتایج</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نتایج</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به عنوان یک روش یکپارچه، به بهبود قابلیت تفسیر مدل ها و افزایش اعتماد کاربران کمک می کند و در مقایسه با روش های دیگر، دقت و سازگاری بیشتری دارد.</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نتیجه گیری</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نتیجه گیری</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SHAP به عنوان یک رویکرد یکپارچه، به تفسیر پیش بینی ها کمک می کند و به بهبود قابلیت تفسیر مدل ها کمک می کند.</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پیشنهادات</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پیشنهادات</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برای بهبود قابلیت تفسیر مدل ها، استفاده از روش SHAP و به روز رسانی آن بر اساس نیازهای کاربران پیشنهاد می شود.</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مراجع</a:t>
            </a:r>
            <a:endParaRPr lang="en-US" sz="3200" dirty="0"/>
          </a:p>
        </p:txBody>
      </p:sp>
      <p:sp>
        <p:nvSpPr>
          <p:cNvPr id="3" name="Shape 1"/>
          <p:cNvSpPr/>
          <p:nvPr/>
        </p:nvSpPr>
        <p:spPr>
          <a:xfrm>
            <a:off x="640080" y="914400"/>
            <a:ext cx="10515600" cy="0"/>
          </a:xfrm>
          <a:prstGeom prst="line">
            <a:avLst/>
          </a:prstGeom>
          <a:noFill/>
          <a:ln w="12700">
            <a:solidFill>
              <a:srgbClr val="E2E8F0"/>
            </a:solidFill>
            <a:prstDash val="solid"/>
          </a:ln>
        </p:spPr>
      </p:sp>
      <p:sp>
        <p:nvSpPr>
          <p:cNvPr id="4" name="Shape 2"/>
          <p:cNvSpPr/>
          <p:nvPr/>
        </p:nvSpPr>
        <p:spPr>
          <a:xfrm>
            <a:off x="548640" y="914400"/>
            <a:ext cx="10058400" cy="960120"/>
          </a:xfrm>
          <a:prstGeom prst="roundRect">
            <a:avLst/>
          </a:prstGeom>
          <a:solidFill>
            <a:srgbClr val="F8FAFC"/>
          </a:solidFill>
          <a:ln w="12700">
            <a:solidFill>
              <a:srgbClr val="E2E8F0"/>
            </a:solidFill>
            <a:prstDash val="solid"/>
          </a:ln>
        </p:spPr>
      </p:sp>
      <p:sp>
        <p:nvSpPr>
          <p:cNvPr id="5" name="Text 3"/>
          <p:cNvSpPr/>
          <p:nvPr/>
        </p:nvSpPr>
        <p:spPr>
          <a:xfrm>
            <a:off x="777240" y="1051560"/>
            <a:ext cx="9601200" cy="274320"/>
          </a:xfrm>
          <a:prstGeom prst="rect">
            <a:avLst/>
          </a:prstGeom>
          <a:noFill/>
          <a:ln/>
        </p:spPr>
        <p:txBody>
          <a:bodyPr wrap="square" lIns="0" tIns="0" rIns="0" bIns="0" rtlCol="0" anchor="ctr"/>
          <a:lstStyle/>
          <a:p>
            <a:pPr rtl="1" algn="r" indent="0" marL="0">
              <a:buNone/>
            </a:pPr>
            <a:r>
              <a:rPr lang="en-US" sz="1800" b="1" dirty="0">
                <a:solidFill>
                  <a:srgbClr val="4F46E5"/>
                </a:solidFill>
                <a:latin typeface="Vazirmatn" pitchFamily="34" charset="0"/>
                <a:ea typeface="Vazirmatn" pitchFamily="34" charset="-122"/>
                <a:cs typeface="Vazirmatn" pitchFamily="34" charset="-120"/>
              </a:rPr>
              <a:t>مراجع</a:t>
            </a:r>
            <a:endParaRPr lang="en-US" sz="1800" dirty="0"/>
          </a:p>
        </p:txBody>
      </p:sp>
      <p:sp>
        <p:nvSpPr>
          <p:cNvPr id="6" name="Text 4"/>
          <p:cNvSpPr/>
          <p:nvPr/>
        </p:nvSpPr>
        <p:spPr>
          <a:xfrm>
            <a:off x="822960" y="1417320"/>
            <a:ext cx="9509760" cy="320040"/>
          </a:xfrm>
          <a:prstGeom prst="rect">
            <a:avLst/>
          </a:prstGeom>
          <a:noFill/>
          <a:ln/>
        </p:spPr>
        <p:txBody>
          <a:bodyPr wrap="square" lIns="0" tIns="0" rIns="0" bIns="0" rtlCol="0" anchor="t">
            <a:normAutofit/>
          </a:bodyPr>
          <a:lstStyle/>
          <a:p>
            <a:pPr rtl="1" algn="r" indent="0" marL="0">
              <a:buNone/>
            </a:pPr>
            <a:r>
              <a:rPr lang="en-US" sz="1300" dirty="0">
                <a:solidFill>
                  <a:srgbClr val="334155"/>
                </a:solidFill>
                <a:latin typeface="Vazirmatn" pitchFamily="34" charset="0"/>
                <a:ea typeface="Vazirmatn" pitchFamily="34" charset="-122"/>
                <a:cs typeface="Vazirmatn" pitchFamily="34" charset="-120"/>
              </a:rPr>
              <a:t>این مطالعه بر اساس مقالات و منابع علمی مختلفی انجام شده است که به طور کامل در متن مقاله ذکر شده اند.</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4F46E5"/>
          </a:solidFill>
          <a:ln w="12700">
            <a:solidFill>
              <a:srgbClr val="4F46E5"/>
            </a:solidFill>
            <a:prstDash val="solid"/>
          </a:ln>
        </p:spPr>
      </p:sp>
      <p:sp>
        <p:nvSpPr>
          <p:cNvPr id="3" name="Text 1"/>
          <p:cNvSpPr/>
          <p:nvPr/>
        </p:nvSpPr>
        <p:spPr>
          <a:xfrm>
            <a:off x="640080" y="228600"/>
            <a:ext cx="10058400" cy="457200"/>
          </a:xfrm>
          <a:prstGeom prst="rect">
            <a:avLst/>
          </a:prstGeom>
          <a:noFill/>
          <a:ln/>
        </p:spPr>
        <p:txBody>
          <a:bodyPr wrap="square" lIns="0" tIns="0" rIns="0" bIns="0" rtlCol="0" anchor="ctr">
            <a:normAutofit/>
          </a:bodyPr>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نتیجه گیری</a:t>
            </a:r>
            <a:endParaRPr lang="en-US" sz="3200" dirty="0"/>
          </a:p>
        </p:txBody>
      </p:sp>
      <p:sp>
        <p:nvSpPr>
          <p:cNvPr id="4" name="Shape 2"/>
          <p:cNvSpPr/>
          <p:nvPr/>
        </p:nvSpPr>
        <p:spPr>
          <a:xfrm>
            <a:off x="914400" y="1645920"/>
            <a:ext cx="10058400" cy="2103120"/>
          </a:xfrm>
          <a:prstGeom prst="roundRect">
            <a:avLst/>
          </a:prstGeom>
          <a:solidFill>
            <a:srgbClr val="EEF2FF"/>
          </a:solidFill>
          <a:ln w="12700">
            <a:solidFill>
              <a:srgbClr val="C7D2FE"/>
            </a:solidFill>
            <a:prstDash val="solid"/>
          </a:ln>
        </p:spPr>
      </p:sp>
      <p:sp>
        <p:nvSpPr>
          <p:cNvPr id="5" name="Text 3"/>
          <p:cNvSpPr/>
          <p:nvPr/>
        </p:nvSpPr>
        <p:spPr>
          <a:xfrm>
            <a:off x="1280160" y="2011680"/>
            <a:ext cx="9326880" cy="1097280"/>
          </a:xfrm>
          <a:prstGeom prst="rect">
            <a:avLst/>
          </a:prstGeom>
          <a:noFill/>
          <a:ln/>
        </p:spPr>
        <p:txBody>
          <a:bodyPr wrap="square" lIns="0" tIns="0" rIns="0" bIns="0" rtlCol="0" anchor="ctr">
            <a:normAutofit/>
          </a:bodyPr>
          <a:lstStyle/>
          <a:p>
            <a:pPr rtl="1" algn="r" indent="0" marL="0">
              <a:buNone/>
            </a:pPr>
            <a:r>
              <a:rPr lang="en-US" sz="2200" dirty="0">
                <a:solidFill>
                  <a:srgbClr val="334155"/>
                </a:solidFill>
                <a:latin typeface="Vazirmatn" pitchFamily="34" charset="0"/>
                <a:ea typeface="Vazirmatn" pitchFamily="34" charset="-122"/>
                <a:cs typeface="Vazirmatn" pitchFamily="34" charset="-120"/>
              </a:rPr>
              <a:t>SHAP به عنوان یک رویکرد یکپارچه، به تفسیر پیش بینی ها کمک می کند و به بهبود قابلیت تفسیر مدل ها کمک می کند.</a:t>
            </a:r>
            <a:endParaRPr lang="en-US" sz="2200" dirty="0"/>
          </a:p>
        </p:txBody>
      </p:sp>
      <p:sp>
        <p:nvSpPr>
          <p:cNvPr id="6" name="Shape 4"/>
          <p:cNvSpPr/>
          <p:nvPr/>
        </p:nvSpPr>
        <p:spPr>
          <a:xfrm>
            <a:off x="3931920" y="4389120"/>
            <a:ext cx="4297680" cy="594360"/>
          </a:xfrm>
          <a:prstGeom prst="roundRect">
            <a:avLst/>
          </a:prstGeom>
          <a:solidFill>
            <a:srgbClr val="EEF2FF"/>
          </a:solidFill>
          <a:ln w="12700">
            <a:solidFill>
              <a:srgbClr val="4F46E5"/>
            </a:solidFill>
            <a:prstDash val="solid"/>
          </a:ln>
        </p:spPr>
      </p:sp>
      <p:sp>
        <p:nvSpPr>
          <p:cNvPr id="7" name="Text 5"/>
          <p:cNvSpPr/>
          <p:nvPr/>
        </p:nvSpPr>
        <p:spPr>
          <a:xfrm>
            <a:off x="3931920" y="4553712"/>
            <a:ext cx="4297680" cy="274320"/>
          </a:xfrm>
          <a:prstGeom prst="rect">
            <a:avLst/>
          </a:prstGeom>
          <a:noFill/>
          <a:ln/>
        </p:spPr>
        <p:txBody>
          <a:bodyPr wrap="square" lIns="0" tIns="0" rIns="0" bIns="0" rtlCol="0" anchor="ctr"/>
          <a:lstStyle/>
          <a:p>
            <a:pPr rtl="1" algn="ctr" indent="0" marL="0">
              <a:buNone/>
            </a:pPr>
            <a:r>
              <a:rPr lang="en-US" sz="1700" b="1" dirty="0">
                <a:solidFill>
                  <a:srgbClr val="4F46E5"/>
                </a:solidFill>
                <a:latin typeface="Vazirmatn" pitchFamily="34" charset="0"/>
                <a:ea typeface="Vazirmatn" pitchFamily="34" charset="-122"/>
                <a:cs typeface="Vazirmatn" pitchFamily="34" charset="-120"/>
              </a:rPr>
              <a:t>پایان ارائه</a:t>
            </a:r>
            <a:endParaRPr lang="en-US" sz="1700" dirty="0"/>
          </a:p>
        </p:txBody>
      </p:sp>
      <p:sp>
        <p:nvSpPr>
          <p:cNvPr id="8" name="Text 6"/>
          <p:cNvSpPr/>
          <p:nvPr/>
        </p:nvSpPr>
        <p:spPr>
          <a:xfrm>
            <a:off x="10972800" y="6400800"/>
            <a:ext cx="365760" cy="182880"/>
          </a:xfrm>
          <a:prstGeom prst="rect">
            <a:avLst/>
          </a:prstGeom>
          <a:noFill/>
          <a:ln/>
        </p:spPr>
        <p:txBody>
          <a:bodyPr wrap="square" rtlCol="0" anchor="ctr"/>
          <a:lstStyle/>
          <a:p>
            <a:pPr algn="ctr" indent="0" marL="0">
              <a:buNone/>
            </a:pPr>
            <a:r>
              <a:rPr lang="en-US" sz="1000" dirty="0">
                <a:solidFill>
                  <a:srgbClr val="64748B"/>
                </a:solidFill>
                <a:latin typeface="Vazirmatn" pitchFamily="34" charset="0"/>
                <a:ea typeface="Vazirmatn" pitchFamily="34" charset="-122"/>
                <a:cs typeface="Vazirmatn" pitchFamily="34" charset="-120"/>
              </a:rPr>
              <a:t>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Vazirmat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Vazirmat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AI Generator</dc:creator>
  <cp:lastModifiedBy>AI Generator</cp:lastModifiedBy>
  <cp:revision>1</cp:revision>
  <dcterms:created xsi:type="dcterms:W3CDTF">2026-08-09T13:04:24Z</dcterms:created>
  <dcterms:modified xsi:type="dcterms:W3CDTF">2026-08-09T13:04:24Z</dcterms:modified>
</cp:coreProperties>
</file>