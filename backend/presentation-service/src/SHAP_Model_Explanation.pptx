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1F4E79"/>
                </a:solidFill>
                <a:latin typeface="B Nazanin" pitchFamily="34" charset="0"/>
                <a:ea typeface="B Nazanin" pitchFamily="34" charset="-122"/>
                <a:cs typeface="B Nazanin" pitchFamily="34" charset="-120"/>
              </a:rPr>
              <a:t>صفحه 1</a:t>
            </a:r>
            <a:endParaRPr lang="en-US" sz="2800" dirty="0"/>
          </a:p>
        </p:txBody>
      </p:sp>
      <p:sp>
        <p:nvSpPr>
          <p:cNvPr id="3" name="Shape 1"/>
          <p:cNvSpPr/>
          <p:nvPr/>
        </p:nvSpPr>
        <p:spPr>
          <a:xfrm>
            <a:off x="457200" y="1005840"/>
            <a:ext cx="8229600" cy="0"/>
          </a:xfrm>
          <a:prstGeom prst="line">
            <a:avLst/>
          </a:prstGeom>
          <a:noFill/>
          <a:ln w="25400">
            <a:solidFill>
              <a:srgbClr val="1F4E79"/>
            </a:solidFill>
            <a:prstDash val="solid"/>
          </a:ln>
        </p:spPr>
      </p:sp>
      <p:sp>
        <p:nvSpPr>
          <p:cNvPr id="4" name="Text 2"/>
          <p:cNvSpPr/>
          <p:nvPr/>
        </p:nvSpPr>
        <p:spPr>
          <a:xfrm>
            <a:off x="457200" y="1280160"/>
            <a:ext cx="8229600" cy="1097280"/>
          </a:xfrm>
          <a:prstGeom prst="rect">
            <a:avLst/>
          </a:prstGeom>
          <a:noFill/>
          <a:ln/>
        </p:spPr>
        <p:txBody>
          <a:bodyPr wrap="square" rtlCol="0" anchor="ctr"/>
          <a:lstStyle/>
          <a:p>
            <a:pPr rtl="1" algn="r" indent="0" marL="0">
              <a:buNone/>
            </a:pPr>
            <a:r>
              <a:rPr lang="en-US" sz="1600" dirty="0">
                <a:solidFill>
                  <a:srgbClr val="333333"/>
                </a:solidFill>
                <a:latin typeface="B Nazanin" pitchFamily="34" charset="0"/>
                <a:ea typeface="B Nazanin" pitchFamily="34" charset="-122"/>
                <a:cs typeface="B Nazanin" pitchFamily="34" charset="-120"/>
              </a:rPr>
              <a:t>تفسیر پیش بینی مدل ها در بسیاری از کاربردها به اندازه دقت پیش بینی خود مهم است. با این حال، مدل های پیچیده ای که دقت بالایی دارند، مانند مدل های یادگیری عمیق یا مجموعه ای، ممکن است برای متخصصان نیز قابل تفسیر نباشند. این تنش بین دقت و قابلیت تفسیر، نیاز به روش های جدیدی را ایجاد کرده است.</a:t>
            </a:r>
            <a:endParaRPr lang="en-US" sz="1600" dirty="0"/>
          </a:p>
        </p:txBody>
      </p:sp>
      <p:sp>
        <p:nvSpPr>
          <p:cNvPr id="5" name="Text 3"/>
          <p:cNvSpPr/>
          <p:nvPr/>
        </p:nvSpPr>
        <p:spPr>
          <a:xfrm>
            <a:off x="457200" y="2651760"/>
            <a:ext cx="8229600" cy="731520"/>
          </a:xfrm>
          <a:prstGeom prst="roundRect">
            <a:avLst/>
          </a:prstGeom>
          <a:solidFill>
            <a:srgbClr val="F2F2F2"/>
          </a:solidFill>
          <a:ln w="12700">
            <a:solidFill>
              <a:srgbClr val="D9D9D9"/>
            </a:solidFill>
          </a:ln>
        </p:spPr>
        <p:txBody>
          <a:bodyPr wrap="square" lIns="127000" tIns="127000" rIns="127000" bIns="127000" rtlCol="0" anchor="ctr"/>
          <a:lstStyle/>
          <a:p>
            <a:pPr rtl="1" algn="r" indent="0" marL="0">
              <a:buNone/>
            </a:pPr>
            <a:r>
              <a:rPr lang="en-US" sz="1600" dirty="0">
                <a:solidFill>
                  <a:srgbClr val="333333"/>
                </a:solidFill>
                <a:latin typeface="B Nazanin" pitchFamily="34" charset="0"/>
                <a:ea typeface="B Nazanin" pitchFamily="34" charset="-122"/>
                <a:cs typeface="B Nazanin" pitchFamily="34" charset="-120"/>
              </a:rPr>
              <a:t>مفهوم "توضیح مدل" به عنوان یک مدل خود تعریف می شود که به تفسیر پیش بینی مدل کمک می کند. این رویکرد به تعریف روش های تخصیص ویژگی اضافی منجر می شود.</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1F4E79"/>
                </a:solidFill>
                <a:latin typeface="B Nazanin" pitchFamily="34" charset="0"/>
                <a:ea typeface="B Nazanin" pitchFamily="34" charset="-122"/>
                <a:cs typeface="B Nazanin" pitchFamily="34" charset="-120"/>
              </a:rPr>
              <a:t>صفحه 2</a:t>
            </a:r>
            <a:endParaRPr lang="en-US" sz="2800" dirty="0"/>
          </a:p>
        </p:txBody>
      </p:sp>
      <p:sp>
        <p:nvSpPr>
          <p:cNvPr id="3" name="Shape 1"/>
          <p:cNvSpPr/>
          <p:nvPr/>
        </p:nvSpPr>
        <p:spPr>
          <a:xfrm>
            <a:off x="457200" y="1005840"/>
            <a:ext cx="8229600" cy="0"/>
          </a:xfrm>
          <a:prstGeom prst="line">
            <a:avLst/>
          </a:prstGeom>
          <a:noFill/>
          <a:ln w="25400">
            <a:solidFill>
              <a:srgbClr val="1F4E79"/>
            </a:solidFill>
            <a:prstDash val="solid"/>
          </a:ln>
        </p:spPr>
      </p:sp>
      <p:sp>
        <p:nvSpPr>
          <p:cNvPr id="4" name="Text 2"/>
          <p:cNvSpPr/>
          <p:nvPr/>
        </p:nvSpPr>
        <p:spPr>
          <a:xfrm>
            <a:off x="457200" y="1280160"/>
            <a:ext cx="8229600" cy="1097280"/>
          </a:xfrm>
          <a:prstGeom prst="rect">
            <a:avLst/>
          </a:prstGeom>
          <a:noFill/>
          <a:ln/>
        </p:spPr>
        <p:txBody>
          <a:bodyPr wrap="square" rtlCol="0" anchor="ctr"/>
          <a:lstStyle/>
          <a:p>
            <a:pPr rtl="1" algn="r" indent="0" marL="0">
              <a:buNone/>
            </a:pPr>
            <a:r>
              <a:rPr lang="en-US" sz="1600" dirty="0">
                <a:solidFill>
                  <a:srgbClr val="333333"/>
                </a:solidFill>
                <a:latin typeface="B Nazanin" pitchFamily="34" charset="0"/>
                <a:ea typeface="B Nazanin" pitchFamily="34" charset="-122"/>
                <a:cs typeface="B Nazanin" pitchFamily="34" charset="-120"/>
              </a:rPr>
              <a:t>مسئله اصلی این است که چگونه می توان مدل های پیچیده را به طور قابل اعتمادی تفسیر کرد. روش های مختلفی برای این منظور ارائه شده اند، اما ارتباط بین آنها و انتخاب بهترین روش هنوز مشخص نیست. این مسئله به دلیل افزایش داده های بزرگ و پیچیدگی مدل ها اهمیت بیشتری پیدا کرده است.</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651760"/>
          <a:ext cx="8229600" cy="731520"/>
        </p:xfrm>
        <a:graphic>
          <a:graphicData uri="http://schemas.openxmlformats.org/drawingml/2006/table">
            <a:tbl>
              <a:tblPr/>
              <a:tblGrid>
                <a:gridCol w="4114800"/>
                <a:gridCol w="4114800"/>
              </a:tblGrid>
              <a:tr h="731520">
                <a:tc>
                  <a:txBody>
                    <a:bodyPr/>
                    <a:lstStyle/>
                    <a:p>
                      <a:pPr algn="ctr" indent="0" marL="0">
                        <a:buNone/>
                      </a:pPr>
                      <a:r>
                        <a:rPr lang="en-US" sz="1200" b="1" dirty="0">
                          <a:solidFill>
                            <a:srgbClr val="000000"/>
                          </a:solidFill>
                        </a:rPr>
                        <a:t>مدل های پیچیده</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9F9F9"/>
                    </a:solidFill>
                  </a:tcPr>
                </a:tc>
                <a:tc>
                  <a:txBody>
                    <a:bodyPr/>
                    <a:lstStyle/>
                    <a:p>
                      <a:pPr algn="ctr" indent="0" marL="0">
                        <a:buNone/>
                      </a:pPr>
                      <a:r>
                        <a:rPr lang="en-US" sz="1200" b="1" dirty="0">
                          <a:solidFill>
                            <a:srgbClr val="000000"/>
                          </a:solidFill>
                        </a:rPr>
                        <a:t>مدل های ساده</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9F9F9"/>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1F4E79"/>
                </a:solidFill>
                <a:latin typeface="B Nazanin" pitchFamily="34" charset="0"/>
                <a:ea typeface="B Nazanin" pitchFamily="34" charset="-122"/>
                <a:cs typeface="B Nazanin" pitchFamily="34" charset="-120"/>
              </a:rPr>
              <a:t>صفحه 3</a:t>
            </a:r>
            <a:endParaRPr lang="en-US" sz="2800" dirty="0"/>
          </a:p>
        </p:txBody>
      </p:sp>
      <p:sp>
        <p:nvSpPr>
          <p:cNvPr id="3" name="Shape 1"/>
          <p:cNvSpPr/>
          <p:nvPr/>
        </p:nvSpPr>
        <p:spPr>
          <a:xfrm>
            <a:off x="457200" y="1005840"/>
            <a:ext cx="8229600" cy="0"/>
          </a:xfrm>
          <a:prstGeom prst="line">
            <a:avLst/>
          </a:prstGeom>
          <a:noFill/>
          <a:ln w="25400">
            <a:solidFill>
              <a:srgbClr val="1F4E79"/>
            </a:solidFill>
            <a:prstDash val="solid"/>
          </a:ln>
        </p:spPr>
      </p:sp>
      <p:sp>
        <p:nvSpPr>
          <p:cNvPr id="4" name="Text 2"/>
          <p:cNvSpPr/>
          <p:nvPr/>
        </p:nvSpPr>
        <p:spPr>
          <a:xfrm>
            <a:off x="457200" y="1280160"/>
            <a:ext cx="8229600" cy="731520"/>
          </a:xfrm>
          <a:prstGeom prst="rect">
            <a:avLst/>
          </a:prstGeom>
          <a:noFill/>
          <a:ln/>
        </p:spPr>
        <p:txBody>
          <a:bodyPr wrap="square" rtlCol="0" anchor="ctr"/>
          <a:lstStyle/>
          <a:p>
            <a:pPr rtl="1" algn="r" indent="0" marL="0">
              <a:buNone/>
            </a:pPr>
            <a:r>
              <a:rPr lang="en-US" sz="1600" dirty="0">
                <a:solidFill>
                  <a:srgbClr val="333333"/>
                </a:solidFill>
                <a:latin typeface="B Nazanin" pitchFamily="34" charset="0"/>
                <a:ea typeface="B Nazanin" pitchFamily="34" charset="-122"/>
                <a:cs typeface="B Nazanin" pitchFamily="34" charset="-120"/>
              </a:rPr>
              <a:t>پس زمینه نظری این مطالعه بر اساس نظریه بازی ها و تحلیل ویژگی ها است. این رویکرد به ایجاد یک رهیافت واحد برای تفسیر پیش بینی ها منجر می شود که به نام SHAP شناخته می شود. SHAP به تخصیص اهمیت ویژگی به صورت اضافی کمک می کند.</a:t>
            </a:r>
            <a:endParaRPr lang="en-US" sz="1600" dirty="0"/>
          </a:p>
        </p:txBody>
      </p:sp>
      <p:sp>
        <p:nvSpPr>
          <p:cNvPr id="5" name="Text 3"/>
          <p:cNvSpPr/>
          <p:nvPr/>
        </p:nvSpPr>
        <p:spPr>
          <a:xfrm>
            <a:off x="457200" y="2286000"/>
            <a:ext cx="8229600" cy="731520"/>
          </a:xfrm>
          <a:prstGeom prst="rect">
            <a:avLst/>
          </a:prstGeom>
          <a:noFill/>
          <a:ln/>
        </p:spPr>
        <p:txBody>
          <a:bodyPr wrap="square" rtlCol="0" anchor="ctr"/>
          <a:lstStyle/>
          <a:p>
            <a:pPr rtl="1" algn="ctr" indent="0" marL="0">
              <a:buNone/>
            </a:pPr>
            <a:r>
              <a:rPr lang="en-US" sz="1800" b="1" i="1" dirty="0">
                <a:solidFill>
                  <a:srgbClr val="8B0000"/>
                </a:solidFill>
                <a:latin typeface="Cambria Math" pitchFamily="34" charset="0"/>
                <a:ea typeface="Cambria Math" pitchFamily="34" charset="-122"/>
                <a:cs typeface="Cambria Math" pitchFamily="34" charset="-120"/>
              </a:rPr>
              <a:t>فرمول SHAP SHAP مقدار اهمیت ویژگی را بر اساس مجموعه ای از مقدارهای مرتبط محاسبه می کند.</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1F4E79"/>
                </a:solidFill>
                <a:latin typeface="B Nazanin" pitchFamily="34" charset="0"/>
                <a:ea typeface="B Nazanin" pitchFamily="34" charset="-122"/>
                <a:cs typeface="B Nazanin" pitchFamily="34" charset="-120"/>
              </a:rPr>
              <a:t>صفحه 4</a:t>
            </a:r>
            <a:endParaRPr lang="en-US" sz="2800" dirty="0"/>
          </a:p>
        </p:txBody>
      </p:sp>
      <p:sp>
        <p:nvSpPr>
          <p:cNvPr id="3" name="Shape 1"/>
          <p:cNvSpPr/>
          <p:nvPr/>
        </p:nvSpPr>
        <p:spPr>
          <a:xfrm>
            <a:off x="457200" y="1005840"/>
            <a:ext cx="8229600" cy="0"/>
          </a:xfrm>
          <a:prstGeom prst="line">
            <a:avLst/>
          </a:prstGeom>
          <a:noFill/>
          <a:ln w="25400">
            <a:solidFill>
              <a:srgbClr val="1F4E79"/>
            </a:solidFill>
            <a:prstDash val="solid"/>
          </a:ln>
        </p:spPr>
      </p:sp>
      <p:sp>
        <p:nvSpPr>
          <p:cNvPr id="4" name="Text 2"/>
          <p:cNvSpPr/>
          <p:nvPr/>
        </p:nvSpPr>
        <p:spPr>
          <a:xfrm>
            <a:off x="457200" y="1280160"/>
            <a:ext cx="8229600" cy="731520"/>
          </a:xfrm>
          <a:prstGeom prst="rect">
            <a:avLst/>
          </a:prstGeom>
          <a:noFill/>
          <a:ln/>
        </p:spPr>
        <p:txBody>
          <a:bodyPr wrap="square" rtlCol="0" anchor="ctr"/>
          <a:lstStyle/>
          <a:p>
            <a:pPr rtl="1" algn="r" indent="0" marL="0">
              <a:buNone/>
            </a:pPr>
            <a:r>
              <a:rPr lang="en-US" sz="1600" dirty="0">
                <a:solidFill>
                  <a:srgbClr val="333333"/>
                </a:solidFill>
                <a:latin typeface="B Nazanin" pitchFamily="34" charset="0"/>
                <a:ea typeface="B Nazanin" pitchFamily="34" charset="-122"/>
                <a:cs typeface="B Nazanin" pitchFamily="34" charset="-120"/>
              </a:rPr>
              <a:t>مفهوم اصلی این مطالعه، ایجاد یک رهیافت واحد برای تفسیر پیش بینی ها است. این رهیافت به ترکیب چندین روش موجود کمک می کند و بهبود عملکرد محاسباتی و سازگاری با دید انسانی را ارائه می دهد.</a:t>
            </a:r>
            <a:endParaRPr lang="en-US" sz="1600" dirty="0"/>
          </a:p>
        </p:txBody>
      </p:sp>
      <p:sp>
        <p:nvSpPr>
          <p:cNvPr id="5" name="Text 3"/>
          <p:cNvSpPr/>
          <p:nvPr/>
        </p:nvSpPr>
        <p:spPr>
          <a:xfrm>
            <a:off x="457200" y="2286000"/>
            <a:ext cx="8229600" cy="731520"/>
          </a:xfrm>
          <a:prstGeom prst="roundRect">
            <a:avLst/>
          </a:prstGeom>
          <a:solidFill>
            <a:srgbClr val="E6F0FA"/>
          </a:solidFill>
          <a:ln w="19050">
            <a:solidFill>
              <a:srgbClr val="9CB9D9"/>
            </a:solidFill>
          </a:ln>
        </p:spPr>
        <p:txBody>
          <a:bodyPr wrap="square" lIns="190500" tIns="190500" rIns="190500" bIns="190500" rtlCol="0" anchor="ctr"/>
          <a:lstStyle/>
          <a:p>
            <a:pPr rtl="1" algn="r" indent="0" marL="0">
              <a:buNone/>
            </a:pPr>
            <a:r>
              <a:rPr lang="en-US" sz="1600" b="1" dirty="0">
                <a:solidFill>
                  <a:srgbClr val="333333"/>
                </a:solidFill>
                <a:latin typeface="B Nazanin" pitchFamily="34" charset="0"/>
                <a:ea typeface="B Nazanin" pitchFamily="34" charset="-122"/>
                <a:cs typeface="B Nazanin" pitchFamily="34" charset="-120"/>
              </a:rPr>
              <a:t>SHAP SHAP یک رهیافت واحد برای تفسیر پیش بینی ها است که اهمیت ویژگی ها را به صورت اضافی تعریف می کند.</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1F4E79"/>
                </a:solidFill>
                <a:latin typeface="B Nazanin" pitchFamily="34" charset="0"/>
                <a:ea typeface="B Nazanin" pitchFamily="34" charset="-122"/>
                <a:cs typeface="B Nazanin" pitchFamily="34" charset="-120"/>
              </a:rPr>
              <a:t>صفحه 5</a:t>
            </a:r>
            <a:endParaRPr lang="en-US" sz="2800" dirty="0"/>
          </a:p>
        </p:txBody>
      </p:sp>
      <p:sp>
        <p:nvSpPr>
          <p:cNvPr id="3" name="Shape 1"/>
          <p:cNvSpPr/>
          <p:nvPr/>
        </p:nvSpPr>
        <p:spPr>
          <a:xfrm>
            <a:off x="457200" y="1005840"/>
            <a:ext cx="8229600" cy="0"/>
          </a:xfrm>
          <a:prstGeom prst="line">
            <a:avLst/>
          </a:prstGeom>
          <a:noFill/>
          <a:ln w="25400">
            <a:solidFill>
              <a:srgbClr val="1F4E79"/>
            </a:solidFill>
            <a:prstDash val="solid"/>
          </a:ln>
        </p:spPr>
      </p:sp>
      <p:sp>
        <p:nvSpPr>
          <p:cNvPr id="4" name="Text 2"/>
          <p:cNvSpPr/>
          <p:nvPr/>
        </p:nvSpPr>
        <p:spPr>
          <a:xfrm>
            <a:off x="457200" y="1280160"/>
            <a:ext cx="8229600" cy="731520"/>
          </a:xfrm>
          <a:prstGeom prst="rect">
            <a:avLst/>
          </a:prstGeom>
          <a:noFill/>
          <a:ln/>
        </p:spPr>
        <p:txBody>
          <a:bodyPr wrap="square" rtlCol="0" anchor="ctr"/>
          <a:lstStyle/>
          <a:p>
            <a:pPr rtl="1" algn="r" indent="0" marL="0">
              <a:buNone/>
            </a:pPr>
            <a:r>
              <a:rPr lang="en-US" sz="1600" dirty="0">
                <a:solidFill>
                  <a:srgbClr val="333333"/>
                </a:solidFill>
                <a:latin typeface="B Nazanin" pitchFamily="34" charset="0"/>
                <a:ea typeface="B Nazanin" pitchFamily="34" charset="-122"/>
                <a:cs typeface="B Nazanin" pitchFamily="34" charset="-120"/>
              </a:rPr>
              <a:t>روش شناسی این مطالعه شامل ایجاد یک مدل تفسیری و ارزیابی عملکرد آن در مقایسه با روش های موجود است. این روش به بهبود دقت و سرعت محاسبات کمک می کند.</a:t>
            </a:r>
            <a:endParaRPr lang="en-US" sz="1600" dirty="0"/>
          </a:p>
        </p:txBody>
      </p:sp>
      <p:sp>
        <p:nvSpPr>
          <p:cNvPr id="5" name="Text 3"/>
          <p:cNvSpPr/>
          <p:nvPr/>
        </p:nvSpPr>
        <p:spPr>
          <a:xfrm>
            <a:off x="457200" y="2286000"/>
            <a:ext cx="8229600" cy="731520"/>
          </a:xfrm>
          <a:prstGeom prst="roundRect">
            <a:avLst/>
          </a:prstGeom>
          <a:solidFill>
            <a:srgbClr val="4F81BD"/>
          </a:solidFill>
          <a:ln/>
        </p:spPr>
        <p:txBody>
          <a:bodyPr wrap="square" rtlCol="0" anchor="ctr"/>
          <a:lstStyle/>
          <a:p>
            <a:pPr rtl="1" algn="ctr" indent="0" marL="0">
              <a:buNone/>
            </a:pPr>
            <a:r>
              <a:rPr lang="en-US" sz="1600" b="1" dirty="0">
                <a:solidFill>
                  <a:srgbClr val="FFFFFF"/>
                </a:solidFill>
                <a:latin typeface="B Nazanin" pitchFamily="34" charset="0"/>
                <a:ea typeface="B Nazanin" pitchFamily="34" charset="-122"/>
                <a:cs typeface="B Nazanin" pitchFamily="34" charset="-120"/>
              </a:rPr>
              <a:t>ورودی داده محاسبه SHAP ارزیابی نتایج</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1F4E79"/>
                </a:solidFill>
                <a:latin typeface="B Nazanin" pitchFamily="34" charset="0"/>
                <a:ea typeface="B Nazanin" pitchFamily="34" charset="-122"/>
                <a:cs typeface="B Nazanin" pitchFamily="34" charset="-120"/>
              </a:rPr>
              <a:t>صفحه 6</a:t>
            </a:r>
            <a:endParaRPr lang="en-US" sz="2800" dirty="0"/>
          </a:p>
        </p:txBody>
      </p:sp>
      <p:sp>
        <p:nvSpPr>
          <p:cNvPr id="3" name="Shape 1"/>
          <p:cNvSpPr/>
          <p:nvPr/>
        </p:nvSpPr>
        <p:spPr>
          <a:xfrm>
            <a:off x="457200" y="1005840"/>
            <a:ext cx="8229600" cy="0"/>
          </a:xfrm>
          <a:prstGeom prst="line">
            <a:avLst/>
          </a:prstGeom>
          <a:noFill/>
          <a:ln w="25400">
            <a:solidFill>
              <a:srgbClr val="1F4E79"/>
            </a:solidFill>
            <a:prstDash val="solid"/>
          </a:ln>
        </p:spPr>
      </p:sp>
      <p:sp>
        <p:nvSpPr>
          <p:cNvPr id="4" name="Text 2"/>
          <p:cNvSpPr/>
          <p:nvPr/>
        </p:nvSpPr>
        <p:spPr>
          <a:xfrm>
            <a:off x="457200" y="1280160"/>
            <a:ext cx="8229600" cy="731520"/>
          </a:xfrm>
          <a:prstGeom prst="roundRect">
            <a:avLst/>
          </a:prstGeom>
          <a:solidFill>
            <a:srgbClr val="E6F0FA"/>
          </a:solidFill>
          <a:ln w="19050">
            <a:solidFill>
              <a:srgbClr val="9CB9D9"/>
            </a:solidFill>
          </a:ln>
        </p:spPr>
        <p:txBody>
          <a:bodyPr wrap="square" lIns="190500" tIns="190500" rIns="190500" bIns="190500" rtlCol="0" anchor="ctr"/>
          <a:lstStyle/>
          <a:p>
            <a:pPr rtl="1" algn="r" indent="0" marL="0">
              <a:buNone/>
            </a:pPr>
            <a:r>
              <a:rPr lang="en-US" sz="1600" b="1" dirty="0">
                <a:solidFill>
                  <a:srgbClr val="333333"/>
                </a:solidFill>
                <a:latin typeface="B Nazanin" pitchFamily="34" charset="0"/>
                <a:ea typeface="B Nazanin" pitchFamily="34" charset="-122"/>
                <a:cs typeface="B Nazanin" pitchFamily="34" charset="-120"/>
              </a:rPr>
              <a:t>مرحله های SHAP SHAP شامل محاسبه اهمیت ویژگی، ترکیب نتایج و ارائه توضیحات به کاربر است.</a:t>
            </a:r>
            <a:endParaRPr lang="en-US" sz="1600" dirty="0"/>
          </a:p>
        </p:txBody>
      </p:sp>
      <p:sp>
        <p:nvSpPr>
          <p:cNvPr id="5" name="Text 3"/>
          <p:cNvSpPr/>
          <p:nvPr/>
        </p:nvSpPr>
        <p:spPr>
          <a:xfrm>
            <a:off x="2286000" y="2286000"/>
            <a:ext cx="4572000" cy="2286000"/>
          </a:xfrm>
          <a:prstGeom prst="rect">
            <a:avLst/>
          </a:prstGeom>
          <a:solidFill>
            <a:srgbClr val="E0E0E0"/>
          </a:solidFill>
          <a:ln/>
        </p:spPr>
        <p:txBody>
          <a:bodyPr wrap="square" rtlCol="0" anchor="ctr"/>
          <a:lstStyle/>
          <a:p>
            <a:pPr algn="ctr" indent="0" marL="0">
              <a:buNone/>
            </a:pPr>
            <a:r>
              <a:rPr lang="en-US" dirty="0">
                <a:solidFill>
                  <a:srgbClr val="666666"/>
                </a:solidFill>
              </a:rPr>
              <a:t>طراحی معماری SHAP شامل چندین مرحله اصلی است که به تفسیر ویژگی ها کمک می کند.</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1F4E79"/>
                </a:solidFill>
                <a:latin typeface="B Nazanin" pitchFamily="34" charset="0"/>
                <a:ea typeface="B Nazanin" pitchFamily="34" charset="-122"/>
                <a:cs typeface="B Nazanin" pitchFamily="34" charset="-120"/>
              </a:rPr>
              <a:t>صفحه 7</a:t>
            </a:r>
            <a:endParaRPr lang="en-US" sz="2800" dirty="0"/>
          </a:p>
        </p:txBody>
      </p:sp>
      <p:sp>
        <p:nvSpPr>
          <p:cNvPr id="3" name="Shape 1"/>
          <p:cNvSpPr/>
          <p:nvPr/>
        </p:nvSpPr>
        <p:spPr>
          <a:xfrm>
            <a:off x="457200" y="1005840"/>
            <a:ext cx="8229600" cy="0"/>
          </a:xfrm>
          <a:prstGeom prst="line">
            <a:avLst/>
          </a:prstGeom>
          <a:noFill/>
          <a:ln w="25400">
            <a:solidFill>
              <a:srgbClr val="1F4E79"/>
            </a:solidFill>
            <a:prstDash val="solid"/>
          </a:ln>
        </p:spPr>
      </p:sp>
      <p:sp>
        <p:nvSpPr>
          <p:cNvPr id="4" name="Text 2"/>
          <p:cNvSpPr/>
          <p:nvPr/>
        </p:nvSpPr>
        <p:spPr>
          <a:xfrm>
            <a:off x="457200" y="1280160"/>
            <a:ext cx="8229600" cy="731520"/>
          </a:xfrm>
          <a:prstGeom prst="rect">
            <a:avLst/>
          </a:prstGeom>
          <a:noFill/>
          <a:ln/>
        </p:spPr>
        <p:txBody>
          <a:bodyPr wrap="square" rtlCol="0" anchor="ctr"/>
          <a:lstStyle/>
          <a:p>
            <a:pPr rtl="1" algn="r" indent="0" marL="0">
              <a:buNone/>
            </a:pPr>
            <a:r>
              <a:rPr lang="en-US" sz="1600" dirty="0">
                <a:solidFill>
                  <a:srgbClr val="333333"/>
                </a:solidFill>
                <a:latin typeface="B Nazanin" pitchFamily="34" charset="0"/>
                <a:ea typeface="B Nazanin" pitchFamily="34" charset="-122"/>
                <a:cs typeface="B Nazanin" pitchFamily="34" charset="-120"/>
              </a:rPr>
              <a:t>مکانیسم SHAP بر اساس تحلیل ویژگی ها و محاسبه اهمیت آنها است. این روش به بهبود سازگاری با دید انسانی و کاهش خطای محاسباتی کمک می کند.</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1F4E79"/>
                </a:solidFill>
                <a:latin typeface="B Nazanin" pitchFamily="34" charset="0"/>
                <a:ea typeface="B Nazanin" pitchFamily="34" charset="-122"/>
                <a:cs typeface="B Nazanin" pitchFamily="34" charset="-120"/>
              </a:rPr>
              <a:t>صفحه 8</a:t>
            </a:r>
            <a:endParaRPr lang="en-US" sz="2800" dirty="0"/>
          </a:p>
        </p:txBody>
      </p:sp>
      <p:sp>
        <p:nvSpPr>
          <p:cNvPr id="3" name="Shape 1"/>
          <p:cNvSpPr/>
          <p:nvPr/>
        </p:nvSpPr>
        <p:spPr>
          <a:xfrm>
            <a:off x="457200" y="1005840"/>
            <a:ext cx="8229600" cy="0"/>
          </a:xfrm>
          <a:prstGeom prst="line">
            <a:avLst/>
          </a:prstGeom>
          <a:noFill/>
          <a:ln w="25400">
            <a:solidFill>
              <a:srgbClr val="1F4E79"/>
            </a:solidFill>
            <a:prstDash val="solid"/>
          </a:ln>
        </p:spPr>
      </p:sp>
      <p:sp>
        <p:nvSpPr>
          <p:cNvPr id="4" name="Text 2"/>
          <p:cNvSpPr/>
          <p:nvPr/>
        </p:nvSpPr>
        <p:spPr>
          <a:xfrm>
            <a:off x="457200" y="1280160"/>
            <a:ext cx="8229600" cy="731520"/>
          </a:xfrm>
          <a:prstGeom prst="rect">
            <a:avLst/>
          </a:prstGeom>
          <a:noFill/>
          <a:ln/>
        </p:spPr>
        <p:txBody>
          <a:bodyPr wrap="square" rtlCol="0" anchor="ctr"/>
          <a:lstStyle/>
          <a:p>
            <a:pPr rtl="1" algn="r" indent="0" marL="0">
              <a:buNone/>
            </a:pPr>
            <a:r>
              <a:rPr lang="en-US" sz="1600" dirty="0">
                <a:solidFill>
                  <a:srgbClr val="333333"/>
                </a:solidFill>
                <a:latin typeface="B Nazanin" pitchFamily="34" charset="0"/>
                <a:ea typeface="B Nazanin" pitchFamily="34" charset="-122"/>
                <a:cs typeface="B Nazanin" pitchFamily="34" charset="-120"/>
              </a:rPr>
              <a:t>ارزیابی SHAP نشان می دهد که این روش در مقایسه با روش های موجود، دقت بیشتری دارد. محدودیت های این روش شامل نیاز به داده های بزرگ و محاسبات پر هزینه است. آینده این مطالعه می تواند شامل بهبود الگوریتم ها و افزایش سرعت محاسبات باشد.</a:t>
            </a:r>
            <a:endParaRPr lang="en-US" sz="1600" dirty="0"/>
          </a:p>
        </p:txBody>
      </p:sp>
      <p:sp>
        <p:nvSpPr>
          <p:cNvPr id="5" name="Text 3"/>
          <p:cNvSpPr/>
          <p:nvPr/>
        </p:nvSpPr>
        <p:spPr>
          <a:xfrm>
            <a:off x="457200" y="2286000"/>
            <a:ext cx="8229600" cy="731520"/>
          </a:xfrm>
          <a:prstGeom prst="rect">
            <a:avLst/>
          </a:prstGeom>
          <a:solidFill>
            <a:srgbClr val="EBF4EA"/>
          </a:solidFill>
          <a:ln w="25400">
            <a:solidFill>
              <a:srgbClr val="A3C9A6"/>
            </a:solidFill>
          </a:ln>
        </p:spPr>
        <p:txBody>
          <a:bodyPr wrap="square" lIns="190500" tIns="190500" rIns="190500" bIns="190500" rtlCol="0" anchor="ctr"/>
          <a:lstStyle/>
          <a:p>
            <a:pPr rtl="1" algn="r" indent="0" marL="0">
              <a:buNone/>
            </a:pPr>
            <a:r>
              <a:rPr lang="en-US" sz="1600" dirty="0">
                <a:solidFill>
                  <a:srgbClr val="333333"/>
                </a:solidFill>
                <a:latin typeface="B Nazanin" pitchFamily="34" charset="0"/>
                <a:ea typeface="B Nazanin" pitchFamily="34" charset="-122"/>
                <a:cs typeface="B Nazanin" pitchFamily="34" charset="-120"/>
              </a:rPr>
              <a:t>نتیجه گیری: SHAP یک رهیافت قوی برای تفسیر مدل ها است که به بهبود دقت و سازگاری با دید انسانی کمک می کند.</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2026-08-10T08:10:25Z</dcterms:created>
  <dcterms:modified xsi:type="dcterms:W3CDTF">2026-08-10T08:10:25Z</dcterms:modified>
</cp:coreProperties>
</file>