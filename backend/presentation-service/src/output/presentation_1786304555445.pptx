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Page title</a:t>
            </a:r>
            <a:endParaRPr lang="en-US" sz="3200" dirty="0"/>
          </a:p>
        </p:txBody>
      </p:sp>
      <p:sp>
        <p:nvSpPr>
          <p:cNvPr id="3" name="Shape 1"/>
          <p:cNvSpPr/>
          <p:nvPr/>
        </p:nvSpPr>
        <p:spPr>
          <a:xfrm>
            <a:off x="640080" y="914400"/>
            <a:ext cx="10515600" cy="0"/>
          </a:xfrm>
          <a:prstGeom prst="line">
            <a:avLst/>
          </a:prstGeom>
          <a:noFill/>
          <a:ln w="12700">
            <a:solidFill>
              <a:srgbClr val="E2E8F0"/>
            </a:solidFill>
            <a:prstDash val="solid"/>
          </a:ln>
        </p:spPr>
      </p:sp>
      <p:sp>
        <p:nvSpPr>
          <p:cNvPr id="4" name="Text 2"/>
          <p:cNvSpPr/>
          <p:nvPr/>
        </p:nvSpPr>
        <p:spPr>
          <a:xfrm>
            <a:off x="914400" y="914400"/>
            <a:ext cx="9144000" cy="822960"/>
          </a:xfrm>
          <a:prstGeom prst="rect">
            <a:avLst/>
          </a:prstGeom>
          <a:noFill/>
          <a:ln/>
        </p:spPr>
        <p:txBody>
          <a:bodyPr wrap="square" lIns="0" tIns="0" rIns="0" bIns="0" rtlCol="0" anchor="ctr">
            <a:normAutofit/>
          </a:bodyPr>
          <a:lstStyle/>
          <a:p>
            <a:pPr rtl="1" algn="r" indent="0" marL="0">
              <a:buNone/>
            </a:pPr>
            <a:r>
              <a:rPr lang="en-US" sz="1200" dirty="0">
                <a:solidFill>
                  <a:srgbClr val="334155"/>
                </a:solidFill>
                <a:latin typeface="Vazirmatn" pitchFamily="34" charset="0"/>
                <a:ea typeface="Vazirmatn" pitchFamily="34" charset="-122"/>
                <a:cs typeface="Vazirmatn" pitchFamily="34" charset="-120"/>
              </a:rPr>
              <a:t>The ability to interpret model predictions is critical for building trust, improving model performance, and understanding complex systems. In many applications, the accuracy of predictions is as important as their interpretability, yet modern complex models often obscure the reasoning behind their outputs. This tension between accuracy and interpretability necessitates a unified framework for explanation.</a:t>
            </a:r>
            <a:endParaRPr lang="en-US" sz="1200" dirty="0"/>
          </a:p>
        </p:txBody>
      </p:sp>
      <p:sp>
        <p:nvSpPr>
          <p:cNvPr id="5" name="Shape 3"/>
          <p:cNvSpPr/>
          <p:nvPr/>
        </p:nvSpPr>
        <p:spPr>
          <a:xfrm>
            <a:off x="548640" y="914400"/>
            <a:ext cx="10058400" cy="822960"/>
          </a:xfrm>
          <a:prstGeom prst="roundRect">
            <a:avLst/>
          </a:prstGeom>
          <a:solidFill>
            <a:srgbClr val="F8FAFC"/>
          </a:solidFill>
          <a:ln w="12700">
            <a:solidFill>
              <a:srgbClr val="E2E8F0"/>
            </a:solidFill>
            <a:prstDash val="solid"/>
          </a:ln>
        </p:spPr>
      </p:sp>
      <p:sp>
        <p:nvSpPr>
          <p:cNvPr id="6" name="Text 4"/>
          <p:cNvSpPr/>
          <p:nvPr/>
        </p:nvSpPr>
        <p:spPr>
          <a:xfrm>
            <a:off x="777240" y="1051560"/>
            <a:ext cx="9601200" cy="274320"/>
          </a:xfrm>
          <a:prstGeom prst="rect">
            <a:avLst/>
          </a:prstGeom>
          <a:noFill/>
          <a:ln/>
        </p:spPr>
        <p:txBody>
          <a:bodyPr wrap="square" lIns="0" tIns="0" rIns="0" bIns="0" rtlCol="0" anchor="ctr"/>
          <a:lstStyle/>
          <a:p>
            <a:pPr rtl="1" algn="r" indent="0" marL="0">
              <a:buNone/>
            </a:pPr>
            <a:r>
              <a:rPr lang="en-US" sz="1800" b="1" dirty="0">
                <a:solidFill>
                  <a:srgbClr val="4F46E5"/>
                </a:solidFill>
                <a:latin typeface="Vazirmatn" pitchFamily="34" charset="0"/>
                <a:ea typeface="Vazirmatn" pitchFamily="34" charset="-122"/>
                <a:cs typeface="Vazirmatn" pitchFamily="34" charset="-120"/>
              </a:rPr>
              <a:t>DEFINITION BOX</a:t>
            </a:r>
            <a:endParaRPr lang="en-US" sz="1800" dirty="0"/>
          </a:p>
        </p:txBody>
      </p:sp>
      <p:sp>
        <p:nvSpPr>
          <p:cNvPr id="7" name="Text 5"/>
          <p:cNvSpPr/>
          <p:nvPr/>
        </p:nvSpPr>
        <p:spPr>
          <a:xfrm>
            <a:off x="822960" y="1417320"/>
            <a:ext cx="9509760" cy="182880"/>
          </a:xfrm>
          <a:prstGeom prst="rect">
            <a:avLst/>
          </a:prstGeom>
          <a:noFill/>
          <a:ln/>
        </p:spPr>
        <p:txBody>
          <a:bodyPr wrap="square" lIns="0" tIns="0" rIns="0" bIns="0" rtlCol="0" anchor="t">
            <a:normAutofit/>
          </a:bodyPr>
          <a:lstStyle/>
          <a:p>
            <a:pPr rtl="1" algn="r" indent="0" marL="0">
              <a:buNone/>
            </a:pP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Page title</a:t>
            </a:r>
            <a:endParaRPr lang="en-US" sz="3200" dirty="0"/>
          </a:p>
        </p:txBody>
      </p:sp>
      <p:sp>
        <p:nvSpPr>
          <p:cNvPr id="3" name="Shape 1"/>
          <p:cNvSpPr/>
          <p:nvPr/>
        </p:nvSpPr>
        <p:spPr>
          <a:xfrm>
            <a:off x="640080" y="914400"/>
            <a:ext cx="10515600" cy="0"/>
          </a:xfrm>
          <a:prstGeom prst="line">
            <a:avLst/>
          </a:prstGeom>
          <a:noFill/>
          <a:ln w="12700">
            <a:solidFill>
              <a:srgbClr val="E2E8F0"/>
            </a:solidFill>
            <a:prstDash val="solid"/>
          </a:ln>
        </p:spPr>
      </p:sp>
      <p:sp>
        <p:nvSpPr>
          <p:cNvPr id="4" name="Text 2"/>
          <p:cNvSpPr/>
          <p:nvPr/>
        </p:nvSpPr>
        <p:spPr>
          <a:xfrm>
            <a:off x="914400" y="914400"/>
            <a:ext cx="9144000" cy="822960"/>
          </a:xfrm>
          <a:prstGeom prst="rect">
            <a:avLst/>
          </a:prstGeom>
          <a:noFill/>
          <a:ln/>
        </p:spPr>
        <p:txBody>
          <a:bodyPr wrap="square" lIns="0" tIns="0" rIns="0" bIns="0" rtlCol="0" anchor="ctr">
            <a:normAutofit/>
          </a:bodyPr>
          <a:lstStyle/>
          <a:p>
            <a:pPr rtl="1" algn="r" indent="0" marL="0">
              <a:buNone/>
            </a:pPr>
            <a:r>
              <a:rPr lang="en-US" sz="1200" dirty="0">
                <a:solidFill>
                  <a:srgbClr val="334155"/>
                </a:solidFill>
                <a:latin typeface="Vazirmatn" pitchFamily="34" charset="0"/>
                <a:ea typeface="Vazirmatn" pitchFamily="34" charset="-122"/>
                <a:cs typeface="Vazirmatn" pitchFamily="34" charset="-120"/>
              </a:rPr>
              <a:t>The challenge lies in reconciling the high accuracy of complex models like deep learning and ensemble methods with the need for transparency. While simpler models (e.g., linear regression) are easier to interpret, they often fail to capture the nuanced patterns in large datasets. This creates a critical gap in the field of machine learning.</a:t>
            </a:r>
            <a:endParaRPr lang="en-US" sz="1200" dirty="0"/>
          </a:p>
        </p:txBody>
      </p:sp>
      <p:sp>
        <p:nvSpPr>
          <p:cNvPr id="5" name="Shape 3"/>
          <p:cNvSpPr/>
          <p:nvPr/>
        </p:nvSpPr>
        <p:spPr>
          <a:xfrm>
            <a:off x="731520" y="1371600"/>
            <a:ext cx="4572000" cy="2743200"/>
          </a:xfrm>
          <a:prstGeom prst="roundRect">
            <a:avLst/>
          </a:prstGeom>
          <a:solidFill>
            <a:srgbClr val="EEF2FF"/>
          </a:solidFill>
          <a:ln w="12700">
            <a:solidFill>
              <a:srgbClr val="E2E8F0"/>
            </a:solidFill>
            <a:prstDash val="solid"/>
          </a:ln>
        </p:spPr>
      </p:sp>
      <p:sp>
        <p:nvSpPr>
          <p:cNvPr id="6" name="Text 4"/>
          <p:cNvSpPr/>
          <p:nvPr/>
        </p:nvSpPr>
        <p:spPr>
          <a:xfrm>
            <a:off x="914400" y="1600200"/>
            <a:ext cx="4206240" cy="320040"/>
          </a:xfrm>
          <a:prstGeom prst="rect">
            <a:avLst/>
          </a:prstGeom>
          <a:noFill/>
          <a:ln/>
        </p:spPr>
        <p:txBody>
          <a:bodyPr wrap="square" lIns="0" tIns="0" rIns="0" bIns="0" rtlCol="0" anchor="ctr"/>
          <a:lstStyle/>
          <a:p>
            <a:pPr rtl="1" algn="ctr" indent="0" marL="0">
              <a:buNone/>
            </a:pPr>
            <a:endParaRPr lang="en-US" sz="2000" dirty="0"/>
          </a:p>
        </p:txBody>
      </p:sp>
      <p:sp>
        <p:nvSpPr>
          <p:cNvPr id="7" name="Shape 5"/>
          <p:cNvSpPr/>
          <p:nvPr/>
        </p:nvSpPr>
        <p:spPr>
          <a:xfrm>
            <a:off x="6400800" y="1371600"/>
            <a:ext cx="4572000" cy="2743200"/>
          </a:xfrm>
          <a:prstGeom prst="roundRect">
            <a:avLst/>
          </a:prstGeom>
          <a:solidFill>
            <a:srgbClr val="DCFCE7"/>
          </a:solidFill>
          <a:ln w="12700">
            <a:solidFill>
              <a:srgbClr val="E2E8F0"/>
            </a:solidFill>
            <a:prstDash val="solid"/>
          </a:ln>
        </p:spPr>
      </p:sp>
      <p:sp>
        <p:nvSpPr>
          <p:cNvPr id="8" name="Text 6"/>
          <p:cNvSpPr/>
          <p:nvPr/>
        </p:nvSpPr>
        <p:spPr>
          <a:xfrm>
            <a:off x="6583680" y="1600200"/>
            <a:ext cx="4206240" cy="320040"/>
          </a:xfrm>
          <a:prstGeom prst="rect">
            <a:avLst/>
          </a:prstGeom>
          <a:noFill/>
          <a:ln/>
        </p:spPr>
        <p:txBody>
          <a:bodyPr wrap="square" lIns="0" tIns="0" rIns="0" bIns="0" rtlCol="0" anchor="ctr"/>
          <a:lstStyle/>
          <a:p>
            <a:pPr rtl="1" algn="ctr" indent="0" marL="0">
              <a:buNone/>
            </a:pP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Page title</a:t>
            </a:r>
            <a:endParaRPr lang="en-US" sz="3200" dirty="0"/>
          </a:p>
        </p:txBody>
      </p:sp>
      <p:sp>
        <p:nvSpPr>
          <p:cNvPr id="3" name="Shape 1"/>
          <p:cNvSpPr/>
          <p:nvPr/>
        </p:nvSpPr>
        <p:spPr>
          <a:xfrm>
            <a:off x="640080" y="914400"/>
            <a:ext cx="10515600" cy="0"/>
          </a:xfrm>
          <a:prstGeom prst="line">
            <a:avLst/>
          </a:prstGeom>
          <a:noFill/>
          <a:ln w="12700">
            <a:solidFill>
              <a:srgbClr val="E2E8F0"/>
            </a:solidFill>
            <a:prstDash val="solid"/>
          </a:ln>
        </p:spPr>
      </p:sp>
      <p:sp>
        <p:nvSpPr>
          <p:cNvPr id="4" name="Text 2"/>
          <p:cNvSpPr/>
          <p:nvPr/>
        </p:nvSpPr>
        <p:spPr>
          <a:xfrm>
            <a:off x="914400" y="914400"/>
            <a:ext cx="9144000" cy="822960"/>
          </a:xfrm>
          <a:prstGeom prst="rect">
            <a:avLst/>
          </a:prstGeom>
          <a:noFill/>
          <a:ln/>
        </p:spPr>
        <p:txBody>
          <a:bodyPr wrap="square" lIns="0" tIns="0" rIns="0" bIns="0" rtlCol="0" anchor="ctr">
            <a:normAutofit/>
          </a:bodyPr>
          <a:lstStyle/>
          <a:p>
            <a:pPr rtl="1" algn="r" indent="0" marL="0">
              <a:buNone/>
            </a:pPr>
            <a:r>
              <a:rPr lang="en-US" sz="1200" dirty="0">
                <a:solidFill>
                  <a:srgbClr val="334155"/>
                </a:solidFill>
                <a:latin typeface="Vazirmatn" pitchFamily="34" charset="0"/>
                <a:ea typeface="Vazirmatn" pitchFamily="34" charset="-122"/>
                <a:cs typeface="Vazirmatn" pitchFamily="34" charset="-120"/>
              </a:rPr>
              <a:t>Theoretical foundations for model interpretation draw from game theory, statistics, and computational learning. Key concepts include feature attribution, additive explanations, and the Shapley value from cooperative game theory. These principles form the basis for evaluating and comparing explanation methods.</a:t>
            </a:r>
            <a:endParaRPr lang="en-US" sz="1200" dirty="0"/>
          </a:p>
        </p:txBody>
      </p:sp>
      <p:sp>
        <p:nvSpPr>
          <p:cNvPr id="5" name="Shape 3"/>
          <p:cNvSpPr/>
          <p:nvPr/>
        </p:nvSpPr>
        <p:spPr>
          <a:xfrm>
            <a:off x="548640" y="914400"/>
            <a:ext cx="10058400" cy="822960"/>
          </a:xfrm>
          <a:prstGeom prst="roundRect">
            <a:avLst/>
          </a:prstGeom>
          <a:solidFill>
            <a:srgbClr val="F8FAFC"/>
          </a:solidFill>
          <a:ln w="12700">
            <a:solidFill>
              <a:srgbClr val="E2E8F0"/>
            </a:solidFill>
            <a:prstDash val="solid"/>
          </a:ln>
        </p:spPr>
      </p:sp>
      <p:sp>
        <p:nvSpPr>
          <p:cNvPr id="6" name="Text 4"/>
          <p:cNvSpPr/>
          <p:nvPr/>
        </p:nvSpPr>
        <p:spPr>
          <a:xfrm>
            <a:off x="777240" y="1051560"/>
            <a:ext cx="9601200" cy="274320"/>
          </a:xfrm>
          <a:prstGeom prst="rect">
            <a:avLst/>
          </a:prstGeom>
          <a:noFill/>
          <a:ln/>
        </p:spPr>
        <p:txBody>
          <a:bodyPr wrap="square" lIns="0" tIns="0" rIns="0" bIns="0" rtlCol="0" anchor="ctr"/>
          <a:lstStyle/>
          <a:p>
            <a:pPr rtl="1" algn="r" indent="0" marL="0">
              <a:buNone/>
            </a:pPr>
            <a:r>
              <a:rPr lang="en-US" sz="1800" b="1" dirty="0">
                <a:solidFill>
                  <a:srgbClr val="4F46E5"/>
                </a:solidFill>
                <a:latin typeface="Vazirmatn" pitchFamily="34" charset="0"/>
                <a:ea typeface="Vazirmatn" pitchFamily="34" charset="-122"/>
                <a:cs typeface="Vazirmatn" pitchFamily="34" charset="-120"/>
              </a:rPr>
              <a:t>INSIGHT BOX</a:t>
            </a:r>
            <a:endParaRPr lang="en-US" sz="1800" dirty="0"/>
          </a:p>
        </p:txBody>
      </p:sp>
      <p:sp>
        <p:nvSpPr>
          <p:cNvPr id="7" name="Text 5"/>
          <p:cNvSpPr/>
          <p:nvPr/>
        </p:nvSpPr>
        <p:spPr>
          <a:xfrm>
            <a:off x="822960" y="1417320"/>
            <a:ext cx="9509760" cy="182880"/>
          </a:xfrm>
          <a:prstGeom prst="rect">
            <a:avLst/>
          </a:prstGeom>
          <a:noFill/>
          <a:ln/>
        </p:spPr>
        <p:txBody>
          <a:bodyPr wrap="square" lIns="0" tIns="0" rIns="0" bIns="0" rtlCol="0" anchor="t">
            <a:normAutofit/>
          </a:bodyPr>
          <a:lstStyle/>
          <a:p>
            <a:pPr rtl="1" algn="r" indent="0" marL="0">
              <a:buNone/>
            </a:pP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Page title</a:t>
            </a:r>
            <a:endParaRPr lang="en-US" sz="3200" dirty="0"/>
          </a:p>
        </p:txBody>
      </p:sp>
      <p:sp>
        <p:nvSpPr>
          <p:cNvPr id="3" name="Shape 1"/>
          <p:cNvSpPr/>
          <p:nvPr/>
        </p:nvSpPr>
        <p:spPr>
          <a:xfrm>
            <a:off x="640080" y="914400"/>
            <a:ext cx="10515600" cy="0"/>
          </a:xfrm>
          <a:prstGeom prst="line">
            <a:avLst/>
          </a:prstGeom>
          <a:noFill/>
          <a:ln w="12700">
            <a:solidFill>
              <a:srgbClr val="E2E8F0"/>
            </a:solidFill>
            <a:prstDash val="solid"/>
          </a:ln>
        </p:spPr>
      </p:sp>
      <p:sp>
        <p:nvSpPr>
          <p:cNvPr id="4" name="Shape 2"/>
          <p:cNvSpPr/>
          <p:nvPr/>
        </p:nvSpPr>
        <p:spPr>
          <a:xfrm>
            <a:off x="548640" y="914400"/>
            <a:ext cx="10058400" cy="822960"/>
          </a:xfrm>
          <a:prstGeom prst="roundRect">
            <a:avLst/>
          </a:prstGeom>
          <a:solidFill>
            <a:srgbClr val="F8FAFC"/>
          </a:solidFill>
          <a:ln w="12700">
            <a:solidFill>
              <a:srgbClr val="E2E8F0"/>
            </a:solidFill>
            <a:prstDash val="solid"/>
          </a:ln>
        </p:spPr>
      </p:sp>
      <p:sp>
        <p:nvSpPr>
          <p:cNvPr id="5" name="Text 3"/>
          <p:cNvSpPr/>
          <p:nvPr/>
        </p:nvSpPr>
        <p:spPr>
          <a:xfrm>
            <a:off x="777240" y="1051560"/>
            <a:ext cx="9601200" cy="274320"/>
          </a:xfrm>
          <a:prstGeom prst="rect">
            <a:avLst/>
          </a:prstGeom>
          <a:noFill/>
          <a:ln/>
        </p:spPr>
        <p:txBody>
          <a:bodyPr wrap="square" lIns="0" tIns="0" rIns="0" bIns="0" rtlCol="0" anchor="ctr"/>
          <a:lstStyle/>
          <a:p>
            <a:pPr rtl="1" algn="r" indent="0" marL="0">
              <a:buNone/>
            </a:pPr>
            <a:r>
              <a:rPr lang="en-US" sz="1800" b="1" dirty="0">
                <a:solidFill>
                  <a:srgbClr val="4F46E5"/>
                </a:solidFill>
                <a:latin typeface="Vazirmatn" pitchFamily="34" charset="0"/>
                <a:ea typeface="Vazirmatn" pitchFamily="34" charset="-122"/>
                <a:cs typeface="Vazirmatn" pitchFamily="34" charset="-120"/>
              </a:rPr>
              <a:t>CONCEPT CARD</a:t>
            </a:r>
            <a:endParaRPr lang="en-US" sz="1800" dirty="0"/>
          </a:p>
        </p:txBody>
      </p:sp>
      <p:sp>
        <p:nvSpPr>
          <p:cNvPr id="6" name="Text 4"/>
          <p:cNvSpPr/>
          <p:nvPr/>
        </p:nvSpPr>
        <p:spPr>
          <a:xfrm>
            <a:off x="822960" y="1417320"/>
            <a:ext cx="9509760" cy="182880"/>
          </a:xfrm>
          <a:prstGeom prst="rect">
            <a:avLst/>
          </a:prstGeom>
          <a:noFill/>
          <a:ln/>
        </p:spPr>
        <p:txBody>
          <a:bodyPr wrap="square" lIns="0" tIns="0" rIns="0" bIns="0" rtlCol="0" anchor="t">
            <a:normAutofit/>
          </a:bodyPr>
          <a:lstStyle/>
          <a:p>
            <a:pPr rtl="1" algn="r" indent="0" marL="0">
              <a:buNone/>
            </a:pP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Page title</a:t>
            </a:r>
            <a:endParaRPr lang="en-US" sz="3200" dirty="0"/>
          </a:p>
        </p:txBody>
      </p:sp>
      <p:sp>
        <p:nvSpPr>
          <p:cNvPr id="3" name="Shape 1"/>
          <p:cNvSpPr/>
          <p:nvPr/>
        </p:nvSpPr>
        <p:spPr>
          <a:xfrm>
            <a:off x="640080" y="914400"/>
            <a:ext cx="10515600" cy="0"/>
          </a:xfrm>
          <a:prstGeom prst="line">
            <a:avLst/>
          </a:prstGeom>
          <a:noFill/>
          <a:ln w="12700">
            <a:solidFill>
              <a:srgbClr val="E2E8F0"/>
            </a:solidFill>
            <a:prstDash val="solid"/>
          </a:ln>
        </p:spPr>
      </p:sp>
      <p:sp>
        <p:nvSpPr>
          <p:cNvPr id="4" name="Text 2"/>
          <p:cNvSpPr/>
          <p:nvPr/>
        </p:nvSpPr>
        <p:spPr>
          <a:xfrm>
            <a:off x="914400" y="914400"/>
            <a:ext cx="9144000" cy="822960"/>
          </a:xfrm>
          <a:prstGeom prst="rect">
            <a:avLst/>
          </a:prstGeom>
          <a:noFill/>
          <a:ln/>
        </p:spPr>
        <p:txBody>
          <a:bodyPr wrap="square" lIns="0" tIns="0" rIns="0" bIns="0" rtlCol="0" anchor="ctr">
            <a:normAutofit/>
          </a:bodyPr>
          <a:lstStyle/>
          <a:p>
            <a:pPr rtl="1" algn="r" indent="0" marL="0">
              <a:buNone/>
            </a:pPr>
            <a:r>
              <a:rPr lang="en-US" sz="1200" dirty="0">
                <a:solidFill>
                  <a:srgbClr val="334155"/>
                </a:solidFill>
                <a:latin typeface="Vazirmatn" pitchFamily="34" charset="0"/>
                <a:ea typeface="Vazirmatn" pitchFamily="34" charset="-122"/>
                <a:cs typeface="Vazirmatn" pitchFamily="34" charset="-120"/>
              </a:rPr>
              <a:t>The methodology involves calculating SHAP values by considering all possible feature combinations. This approach ensures that each feature's contribution is evaluated in the context of the entire model, providing a comprehensive explanation.</a:t>
            </a:r>
            <a:endParaRPr lang="en-US" sz="1200" dirty="0"/>
          </a:p>
        </p:txBody>
      </p:sp>
      <p:sp>
        <p:nvSpPr>
          <p:cNvPr id="5" name="Shape 3"/>
          <p:cNvSpPr/>
          <p:nvPr/>
        </p:nvSpPr>
        <p:spPr>
          <a:xfrm>
            <a:off x="548640" y="914400"/>
            <a:ext cx="10058400" cy="822960"/>
          </a:xfrm>
          <a:prstGeom prst="roundRect">
            <a:avLst/>
          </a:prstGeom>
          <a:solidFill>
            <a:srgbClr val="F8FAFC"/>
          </a:solidFill>
          <a:ln w="12700">
            <a:solidFill>
              <a:srgbClr val="E2E8F0"/>
            </a:solidFill>
            <a:prstDash val="solid"/>
          </a:ln>
        </p:spPr>
      </p:sp>
      <p:sp>
        <p:nvSpPr>
          <p:cNvPr id="6" name="Text 4"/>
          <p:cNvSpPr/>
          <p:nvPr/>
        </p:nvSpPr>
        <p:spPr>
          <a:xfrm>
            <a:off x="777240" y="1051560"/>
            <a:ext cx="9601200" cy="274320"/>
          </a:xfrm>
          <a:prstGeom prst="rect">
            <a:avLst/>
          </a:prstGeom>
          <a:noFill/>
          <a:ln/>
        </p:spPr>
        <p:txBody>
          <a:bodyPr wrap="square" lIns="0" tIns="0" rIns="0" bIns="0" rtlCol="0" anchor="ctr"/>
          <a:lstStyle/>
          <a:p>
            <a:pPr rtl="1" algn="r" indent="0" marL="0">
              <a:buNone/>
            </a:pPr>
            <a:r>
              <a:rPr lang="en-US" sz="1800" b="1" dirty="0">
                <a:solidFill>
                  <a:srgbClr val="4F46E5"/>
                </a:solidFill>
                <a:latin typeface="Vazirmatn" pitchFamily="34" charset="0"/>
                <a:ea typeface="Vazirmatn" pitchFamily="34" charset="-122"/>
                <a:cs typeface="Vazirmatn" pitchFamily="34" charset="-120"/>
              </a:rPr>
              <a:t>PROCESS</a:t>
            </a:r>
            <a:endParaRPr lang="en-US" sz="1800" dirty="0"/>
          </a:p>
        </p:txBody>
      </p:sp>
      <p:sp>
        <p:nvSpPr>
          <p:cNvPr id="7" name="Text 5"/>
          <p:cNvSpPr/>
          <p:nvPr/>
        </p:nvSpPr>
        <p:spPr>
          <a:xfrm>
            <a:off x="822960" y="1417320"/>
            <a:ext cx="9509760" cy="182880"/>
          </a:xfrm>
          <a:prstGeom prst="rect">
            <a:avLst/>
          </a:prstGeom>
          <a:noFill/>
          <a:ln/>
        </p:spPr>
        <p:txBody>
          <a:bodyPr wrap="square" lIns="0" tIns="0" rIns="0" bIns="0" rtlCol="0" anchor="t">
            <a:normAutofit/>
          </a:bodyPr>
          <a:lstStyle/>
          <a:p>
            <a:pPr rtl="1" algn="r" indent="0" marL="0">
              <a:buNone/>
            </a:pP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Page title</a:t>
            </a:r>
            <a:endParaRPr lang="en-US" sz="3200" dirty="0"/>
          </a:p>
        </p:txBody>
      </p:sp>
      <p:sp>
        <p:nvSpPr>
          <p:cNvPr id="3" name="Shape 1"/>
          <p:cNvSpPr/>
          <p:nvPr/>
        </p:nvSpPr>
        <p:spPr>
          <a:xfrm>
            <a:off x="640080" y="914400"/>
            <a:ext cx="10515600" cy="0"/>
          </a:xfrm>
          <a:prstGeom prst="line">
            <a:avLst/>
          </a:prstGeom>
          <a:noFill/>
          <a:ln w="12700">
            <a:solidFill>
              <a:srgbClr val="E2E8F0"/>
            </a:solidFill>
            <a:prstDash val="solid"/>
          </a:ln>
        </p:spPr>
      </p:sp>
      <p:sp>
        <p:nvSpPr>
          <p:cNvPr id="4" name="Text 2"/>
          <p:cNvSpPr/>
          <p:nvPr/>
        </p:nvSpPr>
        <p:spPr>
          <a:xfrm>
            <a:off x="914400" y="914400"/>
            <a:ext cx="9144000" cy="822960"/>
          </a:xfrm>
          <a:prstGeom prst="rect">
            <a:avLst/>
          </a:prstGeom>
          <a:noFill/>
          <a:ln/>
        </p:spPr>
        <p:txBody>
          <a:bodyPr wrap="square" lIns="0" tIns="0" rIns="0" bIns="0" rtlCol="0" anchor="ctr">
            <a:normAutofit/>
          </a:bodyPr>
          <a:lstStyle/>
          <a:p>
            <a:pPr rtl="1" algn="r" indent="0" marL="0">
              <a:buNone/>
            </a:pPr>
            <a:r>
              <a:rPr lang="en-US" sz="1200" dirty="0">
                <a:solidFill>
                  <a:srgbClr val="334155"/>
                </a:solidFill>
                <a:latin typeface="Vazirmatn" pitchFamily="34" charset="0"/>
                <a:ea typeface="Vazirmatn" pitchFamily="34" charset="-122"/>
                <a:cs typeface="Vazirmatn" pitchFamily="34" charset="-120"/>
              </a:rPr>
              <a:t>The architecture consists of three main stages: input processing, SHAP value computation, and explanation generation. Each stage is designed to handle the complexity of modern models while maintaining interpretability.</a:t>
            </a:r>
            <a:endParaRPr lang="en-US" sz="1200" dirty="0"/>
          </a:p>
        </p:txBody>
      </p:sp>
      <p:sp>
        <p:nvSpPr>
          <p:cNvPr id="5" name="Shape 3"/>
          <p:cNvSpPr/>
          <p:nvPr/>
        </p:nvSpPr>
        <p:spPr>
          <a:xfrm>
            <a:off x="548640" y="914400"/>
            <a:ext cx="10058400" cy="822960"/>
          </a:xfrm>
          <a:prstGeom prst="roundRect">
            <a:avLst/>
          </a:prstGeom>
          <a:solidFill>
            <a:srgbClr val="F8FAFC"/>
          </a:solidFill>
          <a:ln w="12700">
            <a:solidFill>
              <a:srgbClr val="E2E8F0"/>
            </a:solidFill>
            <a:prstDash val="solid"/>
          </a:ln>
        </p:spPr>
      </p:sp>
      <p:sp>
        <p:nvSpPr>
          <p:cNvPr id="6" name="Text 4"/>
          <p:cNvSpPr/>
          <p:nvPr/>
        </p:nvSpPr>
        <p:spPr>
          <a:xfrm>
            <a:off x="777240" y="1051560"/>
            <a:ext cx="9601200" cy="274320"/>
          </a:xfrm>
          <a:prstGeom prst="rect">
            <a:avLst/>
          </a:prstGeom>
          <a:noFill/>
          <a:ln/>
        </p:spPr>
        <p:txBody>
          <a:bodyPr wrap="square" lIns="0" tIns="0" rIns="0" bIns="0" rtlCol="0" anchor="ctr"/>
          <a:lstStyle/>
          <a:p>
            <a:pPr rtl="1" algn="r" indent="0" marL="0">
              <a:buNone/>
            </a:pPr>
            <a:r>
              <a:rPr lang="en-US" sz="1800" b="1" dirty="0">
                <a:solidFill>
                  <a:srgbClr val="4F46E5"/>
                </a:solidFill>
                <a:latin typeface="Vazirmatn" pitchFamily="34" charset="0"/>
                <a:ea typeface="Vazirmatn" pitchFamily="34" charset="-122"/>
                <a:cs typeface="Vazirmatn" pitchFamily="34" charset="-120"/>
              </a:rPr>
              <a:t>PIPELINE</a:t>
            </a:r>
            <a:endParaRPr lang="en-US" sz="1800" dirty="0"/>
          </a:p>
        </p:txBody>
      </p:sp>
      <p:sp>
        <p:nvSpPr>
          <p:cNvPr id="7" name="Text 5"/>
          <p:cNvSpPr/>
          <p:nvPr/>
        </p:nvSpPr>
        <p:spPr>
          <a:xfrm>
            <a:off x="822960" y="1417320"/>
            <a:ext cx="9509760" cy="182880"/>
          </a:xfrm>
          <a:prstGeom prst="rect">
            <a:avLst/>
          </a:prstGeom>
          <a:noFill/>
          <a:ln/>
        </p:spPr>
        <p:txBody>
          <a:bodyPr wrap="square" lIns="0" tIns="0" rIns="0" bIns="0" rtlCol="0" anchor="t">
            <a:normAutofit/>
          </a:bodyPr>
          <a:lstStyle/>
          <a:p>
            <a:pPr rtl="1" algn="r" indent="0" marL="0">
              <a:buNone/>
            </a:pP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Page title</a:t>
            </a:r>
            <a:endParaRPr lang="en-US" sz="3200" dirty="0"/>
          </a:p>
        </p:txBody>
      </p:sp>
      <p:sp>
        <p:nvSpPr>
          <p:cNvPr id="3" name="Shape 1"/>
          <p:cNvSpPr/>
          <p:nvPr/>
        </p:nvSpPr>
        <p:spPr>
          <a:xfrm>
            <a:off x="640080" y="914400"/>
            <a:ext cx="10515600" cy="0"/>
          </a:xfrm>
          <a:prstGeom prst="line">
            <a:avLst/>
          </a:prstGeom>
          <a:noFill/>
          <a:ln w="12700">
            <a:solidFill>
              <a:srgbClr val="E2E8F0"/>
            </a:solidFill>
            <a:prstDash val="solid"/>
          </a:ln>
        </p:spPr>
      </p:sp>
      <p:sp>
        <p:nvSpPr>
          <p:cNvPr id="4" name="Text 2"/>
          <p:cNvSpPr/>
          <p:nvPr/>
        </p:nvSpPr>
        <p:spPr>
          <a:xfrm>
            <a:off x="914400" y="914400"/>
            <a:ext cx="9144000" cy="822960"/>
          </a:xfrm>
          <a:prstGeom prst="rect">
            <a:avLst/>
          </a:prstGeom>
          <a:noFill/>
          <a:ln/>
        </p:spPr>
        <p:txBody>
          <a:bodyPr wrap="square" lIns="0" tIns="0" rIns="0" bIns="0" rtlCol="0" anchor="ctr">
            <a:normAutofit/>
          </a:bodyPr>
          <a:lstStyle/>
          <a:p>
            <a:pPr rtl="1" algn="r" indent="0" marL="0">
              <a:buNone/>
            </a:pPr>
            <a:r>
              <a:rPr lang="en-US" sz="1200" dirty="0">
                <a:solidFill>
                  <a:srgbClr val="334155"/>
                </a:solidFill>
                <a:latin typeface="Vazirmatn" pitchFamily="34" charset="0"/>
                <a:ea typeface="Vazirmatn" pitchFamily="34" charset="-122"/>
                <a:cs typeface="Vazirmatn" pitchFamily="34" charset="-120"/>
              </a:rPr>
              <a:t>SHAP values are computed by averaging the marginal contributions of features across all possible subsets. This method ensures that the explanation is both locally accurate and globally consistent, addressing the limitations of previous approaches.</a:t>
            </a:r>
            <a:endParaRPr lang="en-US" sz="1200" dirty="0"/>
          </a:p>
        </p:txBody>
      </p:sp>
      <p:sp>
        <p:nvSpPr>
          <p:cNvPr id="5" name="Shape 3"/>
          <p:cNvSpPr/>
          <p:nvPr/>
        </p:nvSpPr>
        <p:spPr>
          <a:xfrm>
            <a:off x="548640" y="914400"/>
            <a:ext cx="10058400" cy="822960"/>
          </a:xfrm>
          <a:prstGeom prst="roundRect">
            <a:avLst/>
          </a:prstGeom>
          <a:solidFill>
            <a:srgbClr val="F8FAFC"/>
          </a:solidFill>
          <a:ln w="12700">
            <a:solidFill>
              <a:srgbClr val="E2E8F0"/>
            </a:solidFill>
            <a:prstDash val="solid"/>
          </a:ln>
        </p:spPr>
      </p:sp>
      <p:sp>
        <p:nvSpPr>
          <p:cNvPr id="6" name="Text 4"/>
          <p:cNvSpPr/>
          <p:nvPr/>
        </p:nvSpPr>
        <p:spPr>
          <a:xfrm>
            <a:off x="777240" y="1051560"/>
            <a:ext cx="9601200" cy="274320"/>
          </a:xfrm>
          <a:prstGeom prst="rect">
            <a:avLst/>
          </a:prstGeom>
          <a:noFill/>
          <a:ln/>
        </p:spPr>
        <p:txBody>
          <a:bodyPr wrap="square" lIns="0" tIns="0" rIns="0" bIns="0" rtlCol="0" anchor="ctr"/>
          <a:lstStyle/>
          <a:p>
            <a:pPr rtl="1" algn="r" indent="0" marL="0">
              <a:buNone/>
            </a:pPr>
            <a:r>
              <a:rPr lang="en-US" sz="1800" b="1" dirty="0">
                <a:solidFill>
                  <a:srgbClr val="4F46E5"/>
                </a:solidFill>
                <a:latin typeface="Vazirmatn" pitchFamily="34" charset="0"/>
                <a:ea typeface="Vazirmatn" pitchFamily="34" charset="-122"/>
                <a:cs typeface="Vazirmatn" pitchFamily="34" charset="-120"/>
              </a:rPr>
              <a:t>FORMULA</a:t>
            </a:r>
            <a:endParaRPr lang="en-US" sz="1800" dirty="0"/>
          </a:p>
        </p:txBody>
      </p:sp>
      <p:sp>
        <p:nvSpPr>
          <p:cNvPr id="7" name="Text 5"/>
          <p:cNvSpPr/>
          <p:nvPr/>
        </p:nvSpPr>
        <p:spPr>
          <a:xfrm>
            <a:off x="822960" y="1417320"/>
            <a:ext cx="9509760" cy="182880"/>
          </a:xfrm>
          <a:prstGeom prst="rect">
            <a:avLst/>
          </a:prstGeom>
          <a:noFill/>
          <a:ln/>
        </p:spPr>
        <p:txBody>
          <a:bodyPr wrap="square" lIns="0" tIns="0" rIns="0" bIns="0" rtlCol="0" anchor="t">
            <a:normAutofit/>
          </a:bodyPr>
          <a:lstStyle/>
          <a:p>
            <a:pPr rtl="1" algn="r" indent="0" marL="0">
              <a:buNone/>
            </a:pP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Page title</a:t>
            </a:r>
            <a:endParaRPr lang="en-US" sz="3200" dirty="0"/>
          </a:p>
        </p:txBody>
      </p:sp>
      <p:sp>
        <p:nvSpPr>
          <p:cNvPr id="3" name="Shape 1"/>
          <p:cNvSpPr/>
          <p:nvPr/>
        </p:nvSpPr>
        <p:spPr>
          <a:xfrm>
            <a:off x="640080" y="914400"/>
            <a:ext cx="10515600" cy="0"/>
          </a:xfrm>
          <a:prstGeom prst="line">
            <a:avLst/>
          </a:prstGeom>
          <a:noFill/>
          <a:ln w="12700">
            <a:solidFill>
              <a:srgbClr val="E2E8F0"/>
            </a:solidFill>
            <a:prstDash val="solid"/>
          </a:ln>
        </p:spPr>
      </p:sp>
      <p:sp>
        <p:nvSpPr>
          <p:cNvPr id="4" name="Text 2"/>
          <p:cNvSpPr/>
          <p:nvPr/>
        </p:nvSpPr>
        <p:spPr>
          <a:xfrm>
            <a:off x="914400" y="914400"/>
            <a:ext cx="9144000" cy="822960"/>
          </a:xfrm>
          <a:prstGeom prst="rect">
            <a:avLst/>
          </a:prstGeom>
          <a:noFill/>
          <a:ln/>
        </p:spPr>
        <p:txBody>
          <a:bodyPr wrap="square" lIns="0" tIns="0" rIns="0" bIns="0" rtlCol="0" anchor="ctr">
            <a:normAutofit/>
          </a:bodyPr>
          <a:lstStyle/>
          <a:p>
            <a:pPr rtl="1" algn="r" indent="0" marL="0">
              <a:buNone/>
            </a:pPr>
            <a:r>
              <a:rPr lang="en-US" sz="1200" dirty="0">
                <a:solidFill>
                  <a:srgbClr val="334155"/>
                </a:solidFill>
                <a:latin typeface="Vazirmatn" pitchFamily="34" charset="0"/>
                <a:ea typeface="Vazirmatn" pitchFamily="34" charset="-122"/>
                <a:cs typeface="Vazirmatn" pitchFamily="34" charset="-120"/>
              </a:rPr>
              <a:t>Evaluation of SHAP demonstrates improved alignment with human intuition compared to existing methods. Limitations include computational complexity for high-dimensional data, which motivates future research into scalable approximation techniques.</a:t>
            </a:r>
            <a:endParaRPr lang="en-US" sz="1200" dirty="0"/>
          </a:p>
        </p:txBody>
      </p:sp>
      <p:sp>
        <p:nvSpPr>
          <p:cNvPr id="5" name="Shape 3"/>
          <p:cNvSpPr/>
          <p:nvPr/>
        </p:nvSpPr>
        <p:spPr>
          <a:xfrm>
            <a:off x="548640" y="914400"/>
            <a:ext cx="10058400" cy="822960"/>
          </a:xfrm>
          <a:prstGeom prst="roundRect">
            <a:avLst/>
          </a:prstGeom>
          <a:solidFill>
            <a:srgbClr val="F8FAFC"/>
          </a:solidFill>
          <a:ln w="12700">
            <a:solidFill>
              <a:srgbClr val="E2E8F0"/>
            </a:solidFill>
            <a:prstDash val="solid"/>
          </a:ln>
        </p:spPr>
      </p:sp>
      <p:sp>
        <p:nvSpPr>
          <p:cNvPr id="6" name="Text 4"/>
          <p:cNvSpPr/>
          <p:nvPr/>
        </p:nvSpPr>
        <p:spPr>
          <a:xfrm>
            <a:off x="777240" y="1051560"/>
            <a:ext cx="9601200" cy="274320"/>
          </a:xfrm>
          <a:prstGeom prst="rect">
            <a:avLst/>
          </a:prstGeom>
          <a:noFill/>
          <a:ln/>
        </p:spPr>
        <p:txBody>
          <a:bodyPr wrap="square" lIns="0" tIns="0" rIns="0" bIns="0" rtlCol="0" anchor="ctr"/>
          <a:lstStyle/>
          <a:p>
            <a:pPr rtl="1" algn="r" indent="0" marL="0">
              <a:buNone/>
            </a:pPr>
            <a:r>
              <a:rPr lang="en-US" sz="1800" b="1" dirty="0">
                <a:solidFill>
                  <a:srgbClr val="4F46E5"/>
                </a:solidFill>
                <a:latin typeface="Vazirmatn" pitchFamily="34" charset="0"/>
                <a:ea typeface="Vazirmatn" pitchFamily="34" charset="-122"/>
                <a:cs typeface="Vazirmatn" pitchFamily="34" charset="-120"/>
              </a:rPr>
              <a:t>INSIGHT BOX</a:t>
            </a:r>
            <a:endParaRPr lang="en-US" sz="1800" dirty="0"/>
          </a:p>
        </p:txBody>
      </p:sp>
      <p:sp>
        <p:nvSpPr>
          <p:cNvPr id="7" name="Text 5"/>
          <p:cNvSpPr/>
          <p:nvPr/>
        </p:nvSpPr>
        <p:spPr>
          <a:xfrm>
            <a:off x="822960" y="1417320"/>
            <a:ext cx="9509760" cy="182880"/>
          </a:xfrm>
          <a:prstGeom prst="rect">
            <a:avLst/>
          </a:prstGeom>
          <a:noFill/>
          <a:ln/>
        </p:spPr>
        <p:txBody>
          <a:bodyPr wrap="square" lIns="0" tIns="0" rIns="0" bIns="0" rtlCol="0" anchor="t">
            <a:normAutofit/>
          </a:bodyPr>
          <a:lstStyle/>
          <a:p>
            <a:pPr rtl="1" algn="r" indent="0" marL="0">
              <a:buNone/>
            </a:pP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2026-08-09T19:42:35Z</dcterms:created>
  <dcterms:modified xsi:type="dcterms:W3CDTF">2026-08-09T19:42:35Z</dcterms:modified>
</cp:coreProperties>
</file>