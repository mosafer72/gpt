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2743200" y="411480"/>
            <a:ext cx="6705295" cy="0"/>
          </a:xfrm>
          <a:prstGeom prst="rect">
            <a:avLst/>
          </a:prstGeom>
          <a:noFill/>
          <a:ln/>
        </p:spPr>
        <p:txBody>
          <a:bodyPr wrap="square" lIns="0" tIns="0" rIns="0" bIns="0" rtlCol="0" anchor="ctr">
            <a:normAutofit/>
          </a:bodyPr>
          <a:lstStyle>
            <a:lvl1pPr algn="l"/>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Page 1</a:t>
            </a:r>
            <a:endParaRPr lang="en-US" sz="3200" dirty="0"/>
          </a:p>
        </p:txBody>
      </p:sp>
      <p:sp>
        <p:nvSpPr>
          <p:cNvPr id="3" name="Shape 1"/>
          <p:cNvSpPr/>
          <p:nvPr/>
        </p:nvSpPr>
        <p:spPr>
          <a:xfrm>
            <a:off x="2743200" y="1143000"/>
            <a:ext cx="6705295" cy="0"/>
          </a:xfrm>
          <a:prstGeom prst="line">
            <a:avLst/>
          </a:prstGeom>
          <a:noFill/>
          <a:ln w="12700">
            <a:solidFill>
              <a:srgbClr val="E2E8F0"/>
            </a:solidFill>
            <a:prstDash val="solid"/>
          </a:ln>
        </p:spPr>
      </p:sp>
      <p:sp>
        <p:nvSpPr>
          <p:cNvPr id="4" name="Text 2"/>
          <p:cNvSpPr/>
          <p:nvPr/>
        </p:nvSpPr>
        <p:spPr>
          <a:xfrm>
            <a:off x="2743200" y="1691640"/>
            <a:ext cx="6705295" cy="0"/>
          </a:xfrm>
          <a:prstGeom prst="rect">
            <a:avLst/>
          </a:prstGeom>
          <a:noFill/>
          <a:ln/>
        </p:spPr>
        <p:txBody>
          <a:bodyPr wrap="square" lIns="0" tIns="0" rIns="0" bIns="0" rtlCol="0" anchor="t">
            <a:normAutofit/>
          </a:bodyPr>
          <a:lstStyle>
            <a:lvl1pPr algn="l"/>
          </a:lstStyle>
          <a:p>
            <a:pPr rtl="1" algn="r" indent="0" marL="0">
              <a:buNone/>
            </a:pPr>
            <a:r>
              <a:rPr lang="en-US" sz="1200" dirty="0">
                <a:solidFill>
                  <a:srgbClr val="334155"/>
                </a:solidFill>
                <a:latin typeface="Vazirmatn" pitchFamily="34" charset="0"/>
                <a:ea typeface="Vazirmatn" pitchFamily="34" charset="-122"/>
                <a:cs typeface="Vazirmatn" pitchFamily="34" charset="-120"/>
              </a:rPr>
              <a:t>در بسیاری از کاربردها، درک اینکه یک مدل چه پیش بینی ای انجام می دهد، به اندازه دقت پیش بینی خود مهم است. با این حال، مدل های پیچیده ای مانند مدل های یادگیری عمیق یا مجموعه ها، که دقت بالایی دارند، معمولاً برای تفسیر آنها چالش برانگیز هستند. این تناقض بین دقت و قابلیت تفسیر، نیاز به روش های جدیدی را ایجاد کرده است.</a:t>
            </a:r>
            <a:endParaRPr lang="en-US" sz="1200" dirty="0"/>
          </a:p>
        </p:txBody>
      </p:sp>
      <p:sp>
        <p:nvSpPr>
          <p:cNvPr id="5" name="Shape 3"/>
          <p:cNvSpPr/>
          <p:nvPr/>
        </p:nvSpPr>
        <p:spPr>
          <a:xfrm>
            <a:off x="2743200" y="3458095"/>
            <a:ext cx="6705295" cy="0"/>
          </a:xfrm>
          <a:prstGeom prst="roundRect">
            <a:avLst/>
          </a:prstGeom>
          <a:solidFill>
            <a:srgbClr val="F8FAFC"/>
          </a:solidFill>
          <a:ln w="12700">
            <a:solidFill>
              <a:srgbClr val="E2E8F0"/>
            </a:solidFill>
            <a:prstDash val="solid"/>
          </a:ln>
        </p:spPr>
      </p:sp>
      <p:sp>
        <p:nvSpPr>
          <p:cNvPr id="6" name="Text 4"/>
          <p:cNvSpPr/>
          <p:nvPr/>
        </p:nvSpPr>
        <p:spPr>
          <a:xfrm>
            <a:off x="2971800" y="3622687"/>
            <a:ext cx="6248095" cy="320040"/>
          </a:xfrm>
          <a:prstGeom prst="rect">
            <a:avLst/>
          </a:prstGeom>
          <a:noFill/>
          <a:ln/>
        </p:spPr>
        <p:txBody>
          <a:bodyPr wrap="square" lIns="0" tIns="0" rIns="0" bIns="0" rtlCol="0" anchor="ctr">
            <a:normAutofit/>
          </a:bodyPr>
          <a:lstStyle/>
          <a:p>
            <a:pPr rtl="1" algn="r" indent="0" marL="0">
              <a:buNone/>
            </a:pPr>
            <a:r>
              <a:rPr lang="en-US" sz="1700" b="1" dirty="0">
                <a:solidFill>
                  <a:srgbClr val="4F46E5"/>
                </a:solidFill>
                <a:latin typeface="Vazirmatn" pitchFamily="34" charset="0"/>
                <a:ea typeface="Vazirmatn" pitchFamily="34" charset="-122"/>
                <a:cs typeface="Vazirmatn" pitchFamily="34" charset="-120"/>
              </a:rPr>
              <a:t>definition box</a:t>
            </a:r>
            <a:endParaRPr lang="en-US" sz="1700" dirty="0"/>
          </a:p>
        </p:txBody>
      </p:sp>
      <p:sp>
        <p:nvSpPr>
          <p:cNvPr id="7" name="Text 5"/>
          <p:cNvSpPr/>
          <p:nvPr/>
        </p:nvSpPr>
        <p:spPr>
          <a:xfrm>
            <a:off x="2971800" y="4034167"/>
            <a:ext cx="6248095" cy="-713232"/>
          </a:xfrm>
          <a:prstGeom prst="rect">
            <a:avLst/>
          </a:prstGeom>
          <a:noFill/>
          <a:ln/>
        </p:spPr>
        <p:txBody>
          <a:bodyPr wrap="square" lIns="0" tIns="0" rIns="0" bIns="0" rtlCol="0" anchor="t">
            <a:normAutofit/>
          </a:bodyPr>
          <a:lstStyle/>
          <a:p>
            <a:pPr rtl="1" algn="r" indent="0" marL="0">
              <a:buNone/>
            </a:pPr>
            <a:r>
              <a:rPr lang="en-US" sz="1400" dirty="0">
                <a:solidFill>
                  <a:srgbClr val="334155"/>
                </a:solidFill>
                <a:latin typeface="Vazirmatn" pitchFamily="34" charset="0"/>
                <a:ea typeface="Vazirmatn" pitchFamily="34" charset="-122"/>
                <a:cs typeface="Vazirmatn" pitchFamily="34" charset="-120"/>
              </a:rPr>
              <a:t>تفسیر پیش بینی مدل: فرآیندی است که به کاربران کمک می کند تا دلایل پیش بینی های مدل را درک کنند.</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2743200" y="640080"/>
            <a:ext cx="6705295" cy="0"/>
          </a:xfrm>
          <a:prstGeom prst="roundRect">
            <a:avLst/>
          </a:prstGeom>
          <a:solidFill>
            <a:srgbClr val="F8FAFC"/>
          </a:solidFill>
          <a:ln w="12700">
            <a:solidFill>
              <a:srgbClr val="E2E8F0"/>
            </a:solidFill>
            <a:prstDash val="solid"/>
          </a:ln>
        </p:spPr>
      </p:sp>
      <p:sp>
        <p:nvSpPr>
          <p:cNvPr id="3" name="Text 1"/>
          <p:cNvSpPr/>
          <p:nvPr/>
        </p:nvSpPr>
        <p:spPr>
          <a:xfrm>
            <a:off x="2971800" y="804672"/>
            <a:ext cx="6248095" cy="320040"/>
          </a:xfrm>
          <a:prstGeom prst="rect">
            <a:avLst/>
          </a:prstGeom>
          <a:noFill/>
          <a:ln/>
        </p:spPr>
        <p:txBody>
          <a:bodyPr wrap="square" lIns="0" tIns="0" rIns="0" bIns="0" rtlCol="0" anchor="ctr">
            <a:normAutofit/>
          </a:bodyPr>
          <a:lstStyle/>
          <a:p>
            <a:pPr rtl="1" algn="r" indent="0" marL="0">
              <a:buNone/>
            </a:pPr>
            <a:r>
              <a:rPr lang="en-US" sz="1700" b="1" dirty="0">
                <a:solidFill>
                  <a:srgbClr val="4F46E5"/>
                </a:solidFill>
                <a:latin typeface="Vazirmatn" pitchFamily="34" charset="0"/>
                <a:ea typeface="Vazirmatn" pitchFamily="34" charset="-122"/>
                <a:cs typeface="Vazirmatn" pitchFamily="34" charset="-120"/>
              </a:rPr>
              <a:t>concept card</a:t>
            </a:r>
            <a:endParaRPr lang="en-US" sz="1700" dirty="0"/>
          </a:p>
        </p:txBody>
      </p:sp>
      <p:sp>
        <p:nvSpPr>
          <p:cNvPr id="4" name="Text 2"/>
          <p:cNvSpPr/>
          <p:nvPr/>
        </p:nvSpPr>
        <p:spPr>
          <a:xfrm>
            <a:off x="2971800" y="1216152"/>
            <a:ext cx="6248095" cy="-713232"/>
          </a:xfrm>
          <a:prstGeom prst="rect">
            <a:avLst/>
          </a:prstGeom>
          <a:noFill/>
          <a:ln/>
        </p:spPr>
        <p:txBody>
          <a:bodyPr wrap="square" lIns="0" tIns="0" rIns="0" bIns="0" rtlCol="0" anchor="t">
            <a:normAutofit/>
          </a:bodyPr>
          <a:lstStyle/>
          <a:p>
            <a:pPr rtl="1" algn="r" indent="0" marL="0">
              <a:buNone/>
            </a:pPr>
            <a:r>
              <a:rPr lang="en-US" sz="1400" dirty="0">
                <a:solidFill>
                  <a:srgbClr val="334155"/>
                </a:solidFill>
                <a:latin typeface="Vazirmatn" pitchFamily="34" charset="0"/>
                <a:ea typeface="Vazirmatn" pitchFamily="34" charset="-122"/>
                <a:cs typeface="Vazirmatn" pitchFamily="34" charset="-120"/>
              </a:rPr>
              <a:t>مهمیت تفسیر مدل تفسیر مدل به ایجاد اعتماد کاربر، بهبود مدل و درک فرآیند مدل شده کمک می کند.</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2743200" y="411480"/>
            <a:ext cx="6705295" cy="0"/>
          </a:xfrm>
          <a:prstGeom prst="rect">
            <a:avLst/>
          </a:prstGeom>
          <a:noFill/>
          <a:ln/>
        </p:spPr>
        <p:txBody>
          <a:bodyPr wrap="square" lIns="0" tIns="0" rIns="0" bIns="0" rtlCol="0" anchor="ctr">
            <a:normAutofit/>
          </a:bodyPr>
          <a:lstStyle>
            <a:lvl1pPr algn="l"/>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Page 2</a:t>
            </a:r>
            <a:endParaRPr lang="en-US" sz="3200" dirty="0"/>
          </a:p>
        </p:txBody>
      </p:sp>
      <p:sp>
        <p:nvSpPr>
          <p:cNvPr id="3" name="Shape 1"/>
          <p:cNvSpPr/>
          <p:nvPr/>
        </p:nvSpPr>
        <p:spPr>
          <a:xfrm>
            <a:off x="2743200" y="1143000"/>
            <a:ext cx="6705295" cy="0"/>
          </a:xfrm>
          <a:prstGeom prst="line">
            <a:avLst/>
          </a:prstGeom>
          <a:noFill/>
          <a:ln w="12700">
            <a:solidFill>
              <a:srgbClr val="E2E8F0"/>
            </a:solidFill>
            <a:prstDash val="solid"/>
          </a:ln>
        </p:spPr>
      </p:sp>
      <p:sp>
        <p:nvSpPr>
          <p:cNvPr id="4" name="Text 2"/>
          <p:cNvSpPr/>
          <p:nvPr/>
        </p:nvSpPr>
        <p:spPr>
          <a:xfrm>
            <a:off x="2743200" y="1691640"/>
            <a:ext cx="6705295" cy="0"/>
          </a:xfrm>
          <a:prstGeom prst="rect">
            <a:avLst/>
          </a:prstGeom>
          <a:noFill/>
          <a:ln/>
        </p:spPr>
        <p:txBody>
          <a:bodyPr wrap="square" lIns="0" tIns="0" rIns="0" bIns="0" rtlCol="0" anchor="t">
            <a:normAutofit/>
          </a:bodyPr>
          <a:lstStyle>
            <a:lvl1pPr algn="l"/>
          </a:lstStyle>
          <a:p>
            <a:pPr rtl="1" algn="r" indent="0" marL="0">
              <a:buNone/>
            </a:pPr>
            <a:r>
              <a:rPr lang="en-US" sz="1400" dirty="0">
                <a:solidFill>
                  <a:srgbClr val="334155"/>
                </a:solidFill>
                <a:latin typeface="Vazirmatn" pitchFamily="34" charset="0"/>
                <a:ea typeface="Vazirmatn" pitchFamily="34" charset="-122"/>
                <a:cs typeface="Vazirmatn" pitchFamily="34" charset="-120"/>
              </a:rPr>
              <a:t>مسئله اصلی این است که چگونه می توان مدل های پیچیده را به طور قابل اعتمادی تفسیر کرد. روش های مختلفی برای این منظور ارائه شده اند، اما ارتباط بین آنها و انتخاب بهترین روش هنوز مشخص نیست.</a:t>
            </a:r>
            <a:endParaRPr lang="en-US" sz="1400" dirty="0"/>
          </a:p>
        </p:txBody>
      </p:sp>
      <p:sp>
        <p:nvSpPr>
          <p:cNvPr id="5" name="Shape 3"/>
          <p:cNvSpPr/>
          <p:nvPr/>
        </p:nvSpPr>
        <p:spPr>
          <a:xfrm>
            <a:off x="2743200" y="2917767"/>
            <a:ext cx="6705295" cy="0"/>
          </a:xfrm>
          <a:prstGeom prst="roundRect">
            <a:avLst/>
          </a:prstGeom>
          <a:solidFill>
            <a:srgbClr val="F8FAFC"/>
          </a:solidFill>
          <a:ln w="12700">
            <a:solidFill>
              <a:srgbClr val="E2E8F0"/>
            </a:solidFill>
            <a:prstDash val="solid"/>
          </a:ln>
        </p:spPr>
      </p:sp>
      <p:sp>
        <p:nvSpPr>
          <p:cNvPr id="6" name="Text 4"/>
          <p:cNvSpPr/>
          <p:nvPr/>
        </p:nvSpPr>
        <p:spPr>
          <a:xfrm>
            <a:off x="2971800" y="3082359"/>
            <a:ext cx="6248095" cy="320040"/>
          </a:xfrm>
          <a:prstGeom prst="rect">
            <a:avLst/>
          </a:prstGeom>
          <a:noFill/>
          <a:ln/>
        </p:spPr>
        <p:txBody>
          <a:bodyPr wrap="square" lIns="0" tIns="0" rIns="0" bIns="0" rtlCol="0" anchor="ctr">
            <a:normAutofit/>
          </a:bodyPr>
          <a:lstStyle/>
          <a:p>
            <a:pPr rtl="1" algn="r" indent="0" marL="0">
              <a:buNone/>
            </a:pPr>
            <a:r>
              <a:rPr lang="en-US" sz="1700" b="1" dirty="0">
                <a:solidFill>
                  <a:srgbClr val="4F46E5"/>
                </a:solidFill>
                <a:latin typeface="Vazirmatn" pitchFamily="34" charset="0"/>
                <a:ea typeface="Vazirmatn" pitchFamily="34" charset="-122"/>
                <a:cs typeface="Vazirmatn" pitchFamily="34" charset="-120"/>
              </a:rPr>
              <a:t>definition box</a:t>
            </a:r>
            <a:endParaRPr lang="en-US" sz="1700" dirty="0"/>
          </a:p>
        </p:txBody>
      </p:sp>
      <p:sp>
        <p:nvSpPr>
          <p:cNvPr id="7" name="Text 5"/>
          <p:cNvSpPr/>
          <p:nvPr/>
        </p:nvSpPr>
        <p:spPr>
          <a:xfrm>
            <a:off x="2971800" y="3493839"/>
            <a:ext cx="6248095" cy="-713232"/>
          </a:xfrm>
          <a:prstGeom prst="rect">
            <a:avLst/>
          </a:prstGeom>
          <a:noFill/>
          <a:ln/>
        </p:spPr>
        <p:txBody>
          <a:bodyPr wrap="square" lIns="0" tIns="0" rIns="0" bIns="0" rtlCol="0" anchor="t">
            <a:normAutofit/>
          </a:bodyPr>
          <a:lstStyle/>
          <a:p>
            <a:pPr rtl="1" algn="r" indent="0" marL="0">
              <a:buNone/>
            </a:pPr>
            <a:r>
              <a:rPr lang="en-US" sz="1400" dirty="0">
                <a:solidFill>
                  <a:srgbClr val="334155"/>
                </a:solidFill>
                <a:latin typeface="Vazirmatn" pitchFamily="34" charset="0"/>
                <a:ea typeface="Vazirmatn" pitchFamily="34" charset="-122"/>
                <a:cs typeface="Vazirmatn" pitchFamily="34" charset="-120"/>
              </a:rPr>
              <a:t>تناقض دقت و قابلیت تفسیر: افزایش دقت مدل های پیچیده با کاهش قابلیت تفسیر همراه است.</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731520" y="640080"/>
            <a:ext cx="6705295" cy="2743200"/>
          </a:xfrm>
          <a:prstGeom prst="roundRect">
            <a:avLst/>
          </a:prstGeom>
          <a:solidFill>
            <a:srgbClr val="EEF2FF"/>
          </a:solidFill>
          <a:ln w="12700">
            <a:solidFill>
              <a:srgbClr val="E2E8F0"/>
            </a:solidFill>
            <a:prstDash val="solid"/>
          </a:ln>
        </p:spPr>
      </p:sp>
      <p:sp>
        <p:nvSpPr>
          <p:cNvPr id="3" name="Text 1"/>
          <p:cNvSpPr/>
          <p:nvPr/>
        </p:nvSpPr>
        <p:spPr>
          <a:xfrm>
            <a:off x="914400" y="868680"/>
            <a:ext cx="4206240" cy="320040"/>
          </a:xfrm>
          <a:prstGeom prst="rect">
            <a:avLst/>
          </a:prstGeom>
          <a:noFill/>
          <a:ln/>
        </p:spPr>
        <p:txBody>
          <a:bodyPr wrap="square" lIns="0" tIns="0" rIns="0" bIns="0" rtlCol="0" anchor="ctr"/>
          <a:lstStyle/>
          <a:p>
            <a:pPr rtl="1" algn="ctr" indent="0" marL="0">
              <a:buNone/>
            </a:pPr>
            <a:r>
              <a:rPr lang="en-US" sz="2000" b="1" dirty="0">
                <a:solidFill>
                  <a:srgbClr val="0F172A"/>
                </a:solidFill>
                <a:latin typeface="Vazirmatn" pitchFamily="34" charset="0"/>
                <a:ea typeface="Vazirmatn" pitchFamily="34" charset="-122"/>
                <a:cs typeface="Vazirmatn" pitchFamily="34" charset="-120"/>
              </a:rPr>
              <a:t>مدل های ساده</a:t>
            </a:r>
            <a:endParaRPr lang="en-US" sz="2000" dirty="0"/>
          </a:p>
        </p:txBody>
      </p:sp>
      <p:sp>
        <p:nvSpPr>
          <p:cNvPr id="4" name="Shape 2"/>
          <p:cNvSpPr/>
          <p:nvPr/>
        </p:nvSpPr>
        <p:spPr>
          <a:xfrm>
            <a:off x="6400800" y="640080"/>
            <a:ext cx="6705295" cy="2743200"/>
          </a:xfrm>
          <a:prstGeom prst="roundRect">
            <a:avLst/>
          </a:prstGeom>
          <a:solidFill>
            <a:srgbClr val="DCFCE7"/>
          </a:solidFill>
          <a:ln w="12700">
            <a:solidFill>
              <a:srgbClr val="E2E8F0"/>
            </a:solidFill>
            <a:prstDash val="solid"/>
          </a:ln>
        </p:spPr>
      </p:sp>
      <p:sp>
        <p:nvSpPr>
          <p:cNvPr id="5" name="Text 3"/>
          <p:cNvSpPr/>
          <p:nvPr/>
        </p:nvSpPr>
        <p:spPr>
          <a:xfrm>
            <a:off x="6583680" y="868680"/>
            <a:ext cx="4206240" cy="320040"/>
          </a:xfrm>
          <a:prstGeom prst="rect">
            <a:avLst/>
          </a:prstGeom>
          <a:noFill/>
          <a:ln/>
        </p:spPr>
        <p:txBody>
          <a:bodyPr wrap="square" lIns="0" tIns="0" rIns="0" bIns="0" rtlCol="0" anchor="ctr"/>
          <a:lstStyle/>
          <a:p>
            <a:pPr rtl="1" algn="ctr" indent="0" marL="0">
              <a:buNone/>
            </a:pPr>
            <a:r>
              <a:rPr lang="en-US" sz="2000" b="1" dirty="0">
                <a:solidFill>
                  <a:srgbClr val="0F172A"/>
                </a:solidFill>
                <a:latin typeface="Vazirmatn" pitchFamily="34" charset="0"/>
                <a:ea typeface="Vazirmatn" pitchFamily="34" charset="-122"/>
                <a:cs typeface="Vazirmatn" pitchFamily="34" charset="-120"/>
              </a:rPr>
              <a:t>مدل های پیچیده</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2743200" y="411480"/>
            <a:ext cx="6705295" cy="0"/>
          </a:xfrm>
          <a:prstGeom prst="rect">
            <a:avLst/>
          </a:prstGeom>
          <a:noFill/>
          <a:ln/>
        </p:spPr>
        <p:txBody>
          <a:bodyPr wrap="square" lIns="0" tIns="0" rIns="0" bIns="0" rtlCol="0" anchor="ctr">
            <a:normAutofit/>
          </a:bodyPr>
          <a:lstStyle>
            <a:lvl1pPr algn="l"/>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Page 3</a:t>
            </a:r>
            <a:endParaRPr lang="en-US" sz="3200" dirty="0"/>
          </a:p>
        </p:txBody>
      </p:sp>
      <p:sp>
        <p:nvSpPr>
          <p:cNvPr id="3" name="Shape 1"/>
          <p:cNvSpPr/>
          <p:nvPr/>
        </p:nvSpPr>
        <p:spPr>
          <a:xfrm>
            <a:off x="2743200" y="1143000"/>
            <a:ext cx="6705295" cy="0"/>
          </a:xfrm>
          <a:prstGeom prst="line">
            <a:avLst/>
          </a:prstGeom>
          <a:noFill/>
          <a:ln w="12700">
            <a:solidFill>
              <a:srgbClr val="E2E8F0"/>
            </a:solidFill>
            <a:prstDash val="solid"/>
          </a:ln>
        </p:spPr>
      </p:sp>
      <p:sp>
        <p:nvSpPr>
          <p:cNvPr id="4" name="Text 2"/>
          <p:cNvSpPr/>
          <p:nvPr/>
        </p:nvSpPr>
        <p:spPr>
          <a:xfrm>
            <a:off x="2743200" y="1691640"/>
            <a:ext cx="6705295" cy="0"/>
          </a:xfrm>
          <a:prstGeom prst="rect">
            <a:avLst/>
          </a:prstGeom>
          <a:noFill/>
          <a:ln/>
        </p:spPr>
        <p:txBody>
          <a:bodyPr wrap="square" lIns="0" tIns="0" rIns="0" bIns="0" rtlCol="0" anchor="t">
            <a:normAutofit/>
          </a:bodyPr>
          <a:lstStyle>
            <a:lvl1pPr algn="l"/>
          </a:lstStyle>
          <a:p>
            <a:pPr rtl="1" algn="r" indent="0" marL="0">
              <a:buNone/>
            </a:pPr>
            <a:r>
              <a:rPr lang="en-US" sz="1400" dirty="0">
                <a:solidFill>
                  <a:srgbClr val="334155"/>
                </a:solidFill>
                <a:latin typeface="Vazirmatn" pitchFamily="34" charset="0"/>
                <a:ea typeface="Vazirmatn" pitchFamily="34" charset="-122"/>
                <a:cs typeface="Vazirmatn" pitchFamily="34" charset="-120"/>
              </a:rPr>
              <a:t>پس زمینه نظری شامل نظریه بازی ها و مفاهیم اصلی مانند اهمیت ویژگی ها است. این نظریه به ایجاد یک چارچوب واحد برای تفسیر مدل ها کمک می کند.</a:t>
            </a:r>
            <a:endParaRPr lang="en-US" sz="1400" dirty="0"/>
          </a:p>
        </p:txBody>
      </p:sp>
      <p:sp>
        <p:nvSpPr>
          <p:cNvPr id="5" name="Shape 3"/>
          <p:cNvSpPr/>
          <p:nvPr/>
        </p:nvSpPr>
        <p:spPr>
          <a:xfrm>
            <a:off x="2743200" y="2788920"/>
            <a:ext cx="6705295" cy="0"/>
          </a:xfrm>
          <a:prstGeom prst="roundRect">
            <a:avLst/>
          </a:prstGeom>
          <a:solidFill>
            <a:srgbClr val="F8FAFC"/>
          </a:solidFill>
          <a:ln w="12700">
            <a:solidFill>
              <a:srgbClr val="E2E8F0"/>
            </a:solidFill>
            <a:prstDash val="solid"/>
          </a:ln>
        </p:spPr>
      </p:sp>
      <p:sp>
        <p:nvSpPr>
          <p:cNvPr id="6" name="Text 4"/>
          <p:cNvSpPr/>
          <p:nvPr/>
        </p:nvSpPr>
        <p:spPr>
          <a:xfrm>
            <a:off x="2971800" y="2953512"/>
            <a:ext cx="6248095" cy="320040"/>
          </a:xfrm>
          <a:prstGeom prst="rect">
            <a:avLst/>
          </a:prstGeom>
          <a:noFill/>
          <a:ln/>
        </p:spPr>
        <p:txBody>
          <a:bodyPr wrap="square" lIns="0" tIns="0" rIns="0" bIns="0" rtlCol="0" anchor="ctr">
            <a:normAutofit/>
          </a:bodyPr>
          <a:lstStyle/>
          <a:p>
            <a:pPr rtl="1" algn="r" indent="0" marL="0">
              <a:buNone/>
            </a:pPr>
            <a:r>
              <a:rPr lang="en-US" sz="1700" b="1" dirty="0">
                <a:solidFill>
                  <a:srgbClr val="4F46E5"/>
                </a:solidFill>
                <a:latin typeface="Vazirmatn" pitchFamily="34" charset="0"/>
                <a:ea typeface="Vazirmatn" pitchFamily="34" charset="-122"/>
                <a:cs typeface="Vazirmatn" pitchFamily="34" charset="-120"/>
              </a:rPr>
              <a:t>definition box</a:t>
            </a:r>
            <a:endParaRPr lang="en-US" sz="1700" dirty="0"/>
          </a:p>
        </p:txBody>
      </p:sp>
      <p:sp>
        <p:nvSpPr>
          <p:cNvPr id="7" name="Text 5"/>
          <p:cNvSpPr/>
          <p:nvPr/>
        </p:nvSpPr>
        <p:spPr>
          <a:xfrm>
            <a:off x="2971800" y="3364992"/>
            <a:ext cx="6248095" cy="-713232"/>
          </a:xfrm>
          <a:prstGeom prst="rect">
            <a:avLst/>
          </a:prstGeom>
          <a:noFill/>
          <a:ln/>
        </p:spPr>
        <p:txBody>
          <a:bodyPr wrap="square" lIns="0" tIns="0" rIns="0" bIns="0" rtlCol="0" anchor="t">
            <a:normAutofit/>
          </a:bodyPr>
          <a:lstStyle/>
          <a:p>
            <a:pPr rtl="1" algn="r" indent="0" marL="0">
              <a:buNone/>
            </a:pPr>
            <a:r>
              <a:rPr lang="en-US" sz="1400" dirty="0">
                <a:solidFill>
                  <a:srgbClr val="334155"/>
                </a:solidFill>
                <a:latin typeface="Vazirmatn" pitchFamily="34" charset="0"/>
                <a:ea typeface="Vazirmatn" pitchFamily="34" charset="-122"/>
                <a:cs typeface="Vazirmatn" pitchFamily="34" charset="-120"/>
              </a:rPr>
              <a:t>اهمیت ویژگی: مقداری که نشان می دهد هر ویژگی چه میزان به پیش بینی مدل کمک می کند.</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2743200" y="640080"/>
            <a:ext cx="6705295" cy="0"/>
          </a:xfrm>
          <a:prstGeom prst="roundRect">
            <a:avLst/>
          </a:prstGeom>
          <a:solidFill>
            <a:srgbClr val="EEF2FF"/>
          </a:solidFill>
          <a:ln w="12700">
            <a:solidFill>
              <a:srgbClr val="10B981"/>
            </a:solidFill>
            <a:prstDash val="solid"/>
          </a:ln>
        </p:spPr>
      </p:sp>
      <p:sp>
        <p:nvSpPr>
          <p:cNvPr id="3" name="Text 1"/>
          <p:cNvSpPr/>
          <p:nvPr/>
        </p:nvSpPr>
        <p:spPr>
          <a:xfrm>
            <a:off x="3063240" y="822960"/>
            <a:ext cx="6065215" cy="-365760"/>
          </a:xfrm>
          <a:prstGeom prst="rect">
            <a:avLst/>
          </a:prstGeom>
          <a:noFill/>
          <a:ln/>
        </p:spPr>
        <p:txBody>
          <a:bodyPr wrap="square" lIns="0" tIns="0" rIns="0" bIns="0" rtlCol="0" anchor="ctr">
            <a:normAutofit/>
          </a:bodyPr>
          <a:lstStyle/>
          <a:p>
            <a:pPr rtl="1" algn="r" indent="0" marL="0">
              <a:buNone/>
            </a:pPr>
            <a:r>
              <a:rPr lang="en-US" sz="1500" b="1" dirty="0">
                <a:solidFill>
                  <a:srgbClr val="10B981"/>
                </a:solidFill>
                <a:latin typeface="Vazirmatn" pitchFamily="34" charset="0"/>
                <a:ea typeface="Vazirmatn" pitchFamily="34" charset="-122"/>
                <a:cs typeface="Vazirmatn" pitchFamily="34" charset="-120"/>
              </a:rPr>
              <a:t>\phi_i = \frac{1}{n} \sum_{S \subseteq N \setminus \{i\}} \frac{|S|! (n - |S| - 1)!}{n!} (v(S \cup \{i\}) - v(S))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2743200" y="411480"/>
            <a:ext cx="6705295" cy="0"/>
          </a:xfrm>
          <a:prstGeom prst="rect">
            <a:avLst/>
          </a:prstGeom>
          <a:noFill/>
          <a:ln/>
        </p:spPr>
        <p:txBody>
          <a:bodyPr wrap="square" lIns="0" tIns="0" rIns="0" bIns="0" rtlCol="0" anchor="ctr">
            <a:normAutofit/>
          </a:bodyPr>
          <a:lstStyle>
            <a:lvl1pPr algn="l"/>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Page 4</a:t>
            </a:r>
            <a:endParaRPr lang="en-US" sz="3200" dirty="0"/>
          </a:p>
        </p:txBody>
      </p:sp>
      <p:sp>
        <p:nvSpPr>
          <p:cNvPr id="3" name="Shape 1"/>
          <p:cNvSpPr/>
          <p:nvPr/>
        </p:nvSpPr>
        <p:spPr>
          <a:xfrm>
            <a:off x="2743200" y="1143000"/>
            <a:ext cx="6705295" cy="0"/>
          </a:xfrm>
          <a:prstGeom prst="line">
            <a:avLst/>
          </a:prstGeom>
          <a:noFill/>
          <a:ln w="12700">
            <a:solidFill>
              <a:srgbClr val="E2E8F0"/>
            </a:solidFill>
            <a:prstDash val="solid"/>
          </a:ln>
        </p:spPr>
      </p:sp>
      <p:sp>
        <p:nvSpPr>
          <p:cNvPr id="4" name="Text 2"/>
          <p:cNvSpPr/>
          <p:nvPr/>
        </p:nvSpPr>
        <p:spPr>
          <a:xfrm>
            <a:off x="2743200" y="1691640"/>
            <a:ext cx="6705295" cy="0"/>
          </a:xfrm>
          <a:prstGeom prst="rect">
            <a:avLst/>
          </a:prstGeom>
          <a:noFill/>
          <a:ln/>
        </p:spPr>
        <p:txBody>
          <a:bodyPr wrap="square" lIns="0" tIns="0" rIns="0" bIns="0" rtlCol="0" anchor="t">
            <a:normAutofit/>
          </a:bodyPr>
          <a:lstStyle>
            <a:lvl1pPr algn="l"/>
          </a:lstStyle>
          <a:p>
            <a:pPr rtl="1" algn="r" indent="0" marL="0">
              <a:buNone/>
            </a:pPr>
            <a:r>
              <a:rPr lang="en-US" sz="1400" dirty="0">
                <a:solidFill>
                  <a:srgbClr val="334155"/>
                </a:solidFill>
                <a:latin typeface="Vazirmatn" pitchFamily="34" charset="0"/>
                <a:ea typeface="Vazirmatn" pitchFamily="34" charset="-122"/>
                <a:cs typeface="Vazirmatn" pitchFamily="34" charset="-120"/>
              </a:rPr>
              <a:t>این چارچوب شش روش موجود را به هم متصل می کند و خصوصیات مطلوبی مانند منحصر به فرد بودن و سازگاری با دیدگاه انسانی را دارد.</a:t>
            </a:r>
            <a:endParaRPr lang="en-US" sz="1400" dirty="0"/>
          </a:p>
        </p:txBody>
      </p:sp>
      <p:sp>
        <p:nvSpPr>
          <p:cNvPr id="5" name="Shape 3"/>
          <p:cNvSpPr/>
          <p:nvPr/>
        </p:nvSpPr>
        <p:spPr>
          <a:xfrm>
            <a:off x="2743200" y="2788920"/>
            <a:ext cx="6705295" cy="0"/>
          </a:xfrm>
          <a:prstGeom prst="roundRect">
            <a:avLst/>
          </a:prstGeom>
          <a:solidFill>
            <a:srgbClr val="F8FAFC"/>
          </a:solidFill>
          <a:ln w="12700">
            <a:solidFill>
              <a:srgbClr val="E2E8F0"/>
            </a:solidFill>
            <a:prstDash val="solid"/>
          </a:ln>
        </p:spPr>
      </p:sp>
      <p:sp>
        <p:nvSpPr>
          <p:cNvPr id="6" name="Text 4"/>
          <p:cNvSpPr/>
          <p:nvPr/>
        </p:nvSpPr>
        <p:spPr>
          <a:xfrm>
            <a:off x="2971800" y="2953512"/>
            <a:ext cx="6248095" cy="320040"/>
          </a:xfrm>
          <a:prstGeom prst="rect">
            <a:avLst/>
          </a:prstGeom>
          <a:noFill/>
          <a:ln/>
        </p:spPr>
        <p:txBody>
          <a:bodyPr wrap="square" lIns="0" tIns="0" rIns="0" bIns="0" rtlCol="0" anchor="ctr">
            <a:normAutofit/>
          </a:bodyPr>
          <a:lstStyle/>
          <a:p>
            <a:pPr rtl="1" algn="r" indent="0" marL="0">
              <a:buNone/>
            </a:pPr>
            <a:r>
              <a:rPr lang="en-US" sz="1700" b="1" dirty="0">
                <a:solidFill>
                  <a:srgbClr val="4F46E5"/>
                </a:solidFill>
                <a:latin typeface="Vazirmatn" pitchFamily="34" charset="0"/>
                <a:ea typeface="Vazirmatn" pitchFamily="34" charset="-122"/>
                <a:cs typeface="Vazirmatn" pitchFamily="34" charset="-120"/>
              </a:rPr>
              <a:t>concept card</a:t>
            </a:r>
            <a:endParaRPr lang="en-US" sz="1700" dirty="0"/>
          </a:p>
        </p:txBody>
      </p:sp>
      <p:sp>
        <p:nvSpPr>
          <p:cNvPr id="7" name="Text 5"/>
          <p:cNvSpPr/>
          <p:nvPr/>
        </p:nvSpPr>
        <p:spPr>
          <a:xfrm>
            <a:off x="2971800" y="3364992"/>
            <a:ext cx="6248095" cy="-713232"/>
          </a:xfrm>
          <a:prstGeom prst="rect">
            <a:avLst/>
          </a:prstGeom>
          <a:noFill/>
          <a:ln/>
        </p:spPr>
        <p:txBody>
          <a:bodyPr wrap="square" lIns="0" tIns="0" rIns="0" bIns="0" rtlCol="0" anchor="t">
            <a:normAutofit/>
          </a:bodyPr>
          <a:lstStyle/>
          <a:p>
            <a:pPr rtl="1" algn="r" indent="0" marL="0">
              <a:buNone/>
            </a:pPr>
            <a:r>
              <a:rPr lang="en-US" sz="1400" dirty="0">
                <a:solidFill>
                  <a:srgbClr val="334155"/>
                </a:solidFill>
                <a:latin typeface="Vazirmatn" pitchFamily="34" charset="0"/>
                <a:ea typeface="Vazirmatn" pitchFamily="34" charset="-122"/>
                <a:cs typeface="Vazirmatn" pitchFamily="34" charset="-120"/>
              </a:rPr>
              <a:t>مفهوم اصلی چارچوب SHAP به عنوان یک راه حل واحد برای تفسیر مدل ها ارائه می شود که اهمیت ویژگی ها را به طور افزوده تعیین می کند.</a:t>
            </a:r>
            <a:endParaRPr lang="en-US" sz="1400" dirty="0"/>
          </a:p>
        </p:txBody>
      </p:sp>
      <p:sp>
        <p:nvSpPr>
          <p:cNvPr id="8" name="Text 6"/>
          <p:cNvSpPr/>
          <p:nvPr/>
        </p:nvSpPr>
        <p:spPr>
          <a:xfrm>
            <a:off x="2743200" y="4343400"/>
            <a:ext cx="6705295" cy="0"/>
          </a:xfrm>
          <a:prstGeom prst="rect">
            <a:avLst/>
          </a:prstGeom>
          <a:noFill/>
          <a:ln/>
        </p:spPr>
        <p:txBody>
          <a:bodyPr wrap="square" lIns="0" tIns="0" rIns="0" bIns="0" rtlCol="0" anchor="t">
            <a:normAutofit/>
          </a:bodyPr>
          <a:lstStyle>
            <a:lvl1pPr algn="l"/>
          </a:lstStyle>
          <a:p>
            <a:pPr rtl="1" algn="r" indent="0" marL="0">
              <a:buNone/>
            </a:pPr>
            <a:r>
              <a:rPr lang="en-US" sz="1600" dirty="0">
                <a:solidFill>
                  <a:srgbClr val="334155"/>
                </a:solidFill>
                <a:latin typeface="Vazirmatn" pitchFamily="34" charset="0"/>
                <a:ea typeface="Vazirmatn" pitchFamily="34" charset="-122"/>
                <a:cs typeface="Vazirmatn" pitchFamily="34" charset="-120"/>
              </a:rPr>
              <a:t>تعریف مدل تفسیری استفاده از نظریه بازی ها محاسبه اهمیت ویژگی ها</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2743200" y="411480"/>
            <a:ext cx="6705295" cy="0"/>
          </a:xfrm>
          <a:prstGeom prst="rect">
            <a:avLst/>
          </a:prstGeom>
          <a:noFill/>
          <a:ln/>
        </p:spPr>
        <p:txBody>
          <a:bodyPr wrap="square" lIns="0" tIns="0" rIns="0" bIns="0" rtlCol="0" anchor="ctr">
            <a:normAutofit/>
          </a:bodyPr>
          <a:lstStyle>
            <a:lvl1pPr algn="l"/>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Page 5</a:t>
            </a:r>
            <a:endParaRPr lang="en-US" sz="3200" dirty="0"/>
          </a:p>
        </p:txBody>
      </p:sp>
      <p:sp>
        <p:nvSpPr>
          <p:cNvPr id="3" name="Shape 1"/>
          <p:cNvSpPr/>
          <p:nvPr/>
        </p:nvSpPr>
        <p:spPr>
          <a:xfrm>
            <a:off x="2743200" y="1143000"/>
            <a:ext cx="6705295" cy="0"/>
          </a:xfrm>
          <a:prstGeom prst="line">
            <a:avLst/>
          </a:prstGeom>
          <a:noFill/>
          <a:ln w="12700">
            <a:solidFill>
              <a:srgbClr val="E2E8F0"/>
            </a:solidFill>
            <a:prstDash val="solid"/>
          </a:ln>
        </p:spPr>
      </p:sp>
      <p:sp>
        <p:nvSpPr>
          <p:cNvPr id="4" name="Text 2"/>
          <p:cNvSpPr/>
          <p:nvPr/>
        </p:nvSpPr>
        <p:spPr>
          <a:xfrm>
            <a:off x="2743200" y="1691640"/>
            <a:ext cx="6705295" cy="0"/>
          </a:xfrm>
          <a:prstGeom prst="rect">
            <a:avLst/>
          </a:prstGeom>
          <a:noFill/>
          <a:ln/>
        </p:spPr>
        <p:txBody>
          <a:bodyPr wrap="square" lIns="0" tIns="0" rIns="0" bIns="0" rtlCol="0" anchor="t">
            <a:normAutofit/>
          </a:bodyPr>
          <a:lstStyle>
            <a:lvl1pPr algn="l"/>
          </a:lstStyle>
          <a:p>
            <a:pPr rtl="1" algn="r" indent="0" marL="0">
              <a:buNone/>
            </a:pPr>
            <a:r>
              <a:rPr lang="en-US" sz="1400" dirty="0">
                <a:solidFill>
                  <a:srgbClr val="334155"/>
                </a:solidFill>
                <a:latin typeface="Vazirmatn" pitchFamily="34" charset="0"/>
                <a:ea typeface="Vazirmatn" pitchFamily="34" charset="-122"/>
                <a:cs typeface="Vazirmatn" pitchFamily="34" charset="-120"/>
              </a:rPr>
              <a:t>روشی که در این مطالعه ارائه می شود، شامل چند مرحله است: تعریف مدل تفسیری، استفاده از نظریه بازی ها برای تعیین اهمیت ویژگی ها، و ارائه نتایج به صورت قابل فهم.</a:t>
            </a:r>
            <a:endParaRPr lang="en-US" sz="1400" dirty="0"/>
          </a:p>
        </p:txBody>
      </p:sp>
      <p:sp>
        <p:nvSpPr>
          <p:cNvPr id="5" name="Shape 3"/>
          <p:cNvSpPr/>
          <p:nvPr/>
        </p:nvSpPr>
        <p:spPr>
          <a:xfrm>
            <a:off x="2743200" y="2801389"/>
            <a:ext cx="6705295" cy="0"/>
          </a:xfrm>
          <a:prstGeom prst="roundRect">
            <a:avLst/>
          </a:prstGeom>
          <a:solidFill>
            <a:srgbClr val="F8FAFC"/>
          </a:solidFill>
          <a:ln w="12700">
            <a:solidFill>
              <a:srgbClr val="E2E8F0"/>
            </a:solidFill>
            <a:prstDash val="solid"/>
          </a:ln>
        </p:spPr>
      </p:sp>
      <p:sp>
        <p:nvSpPr>
          <p:cNvPr id="6" name="Text 4"/>
          <p:cNvSpPr/>
          <p:nvPr/>
        </p:nvSpPr>
        <p:spPr>
          <a:xfrm>
            <a:off x="2971800" y="2965981"/>
            <a:ext cx="6248095" cy="320040"/>
          </a:xfrm>
          <a:prstGeom prst="rect">
            <a:avLst/>
          </a:prstGeom>
          <a:noFill/>
          <a:ln/>
        </p:spPr>
        <p:txBody>
          <a:bodyPr wrap="square" lIns="0" tIns="0" rIns="0" bIns="0" rtlCol="0" anchor="ctr">
            <a:normAutofit/>
          </a:bodyPr>
          <a:lstStyle/>
          <a:p>
            <a:pPr rtl="1" algn="r" indent="0" marL="0">
              <a:buNone/>
            </a:pPr>
            <a:r>
              <a:rPr lang="en-US" sz="1700" b="1" dirty="0">
                <a:solidFill>
                  <a:srgbClr val="4F46E5"/>
                </a:solidFill>
                <a:latin typeface="Vazirmatn" pitchFamily="34" charset="0"/>
                <a:ea typeface="Vazirmatn" pitchFamily="34" charset="-122"/>
                <a:cs typeface="Vazirmatn" pitchFamily="34" charset="-120"/>
              </a:rPr>
              <a:t>definition box</a:t>
            </a:r>
            <a:endParaRPr lang="en-US" sz="1700" dirty="0"/>
          </a:p>
        </p:txBody>
      </p:sp>
      <p:sp>
        <p:nvSpPr>
          <p:cNvPr id="7" name="Text 5"/>
          <p:cNvSpPr/>
          <p:nvPr/>
        </p:nvSpPr>
        <p:spPr>
          <a:xfrm>
            <a:off x="2971800" y="3377461"/>
            <a:ext cx="6248095" cy="-713232"/>
          </a:xfrm>
          <a:prstGeom prst="rect">
            <a:avLst/>
          </a:prstGeom>
          <a:noFill/>
          <a:ln/>
        </p:spPr>
        <p:txBody>
          <a:bodyPr wrap="square" lIns="0" tIns="0" rIns="0" bIns="0" rtlCol="0" anchor="t">
            <a:normAutofit/>
          </a:bodyPr>
          <a:lstStyle/>
          <a:p>
            <a:pPr rtl="1" algn="r" indent="0" marL="0">
              <a:buNone/>
            </a:pPr>
            <a:r>
              <a:rPr lang="en-US" sz="1400" dirty="0">
                <a:solidFill>
                  <a:srgbClr val="334155"/>
                </a:solidFill>
                <a:latin typeface="Vazirmatn" pitchFamily="34" charset="0"/>
                <a:ea typeface="Vazirmatn" pitchFamily="34" charset="-122"/>
                <a:cs typeface="Vazirmatn" pitchFamily="34" charset="-120"/>
              </a:rPr>
              <a:t>روش SHAP: یک چارچوب واحد برای تفسیر مدل ها که اهمیت ویژگی ها را به طور افزوده تعیین می کند.</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2743200" y="640080"/>
            <a:ext cx="6705295" cy="0"/>
          </a:xfrm>
          <a:prstGeom prst="rect">
            <a:avLst/>
          </a:prstGeom>
          <a:noFill/>
          <a:ln/>
        </p:spPr>
        <p:txBody>
          <a:bodyPr wrap="square" lIns="0" tIns="0" rIns="0" bIns="0" rtlCol="0" anchor="t">
            <a:normAutofit/>
          </a:bodyPr>
          <a:lstStyle>
            <a:lvl1pPr algn="l"/>
          </a:lstStyle>
          <a:p>
            <a:pPr rtl="1" algn="r" indent="0" marL="0">
              <a:buNone/>
            </a:pPr>
            <a:r>
              <a:rPr lang="en-US" sz="1600" dirty="0">
                <a:solidFill>
                  <a:srgbClr val="334155"/>
                </a:solidFill>
                <a:latin typeface="Vazirmatn" pitchFamily="34" charset="0"/>
                <a:ea typeface="Vazirmatn" pitchFamily="34" charset="-122"/>
                <a:cs typeface="Vazirmatn" pitchFamily="34" charset="-120"/>
              </a:rPr>
              <a:t>ورودی داده محاسبه SHAP تفسیر نتایج</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2743200" y="411480"/>
            <a:ext cx="6705295" cy="0"/>
          </a:xfrm>
          <a:prstGeom prst="rect">
            <a:avLst/>
          </a:prstGeom>
          <a:noFill/>
          <a:ln/>
        </p:spPr>
        <p:txBody>
          <a:bodyPr wrap="square" lIns="0" tIns="0" rIns="0" bIns="0" rtlCol="0" anchor="ctr">
            <a:normAutofit/>
          </a:bodyPr>
          <a:lstStyle>
            <a:lvl1pPr algn="l"/>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Page 6</a:t>
            </a:r>
            <a:endParaRPr lang="en-US" sz="3200" dirty="0"/>
          </a:p>
        </p:txBody>
      </p:sp>
      <p:sp>
        <p:nvSpPr>
          <p:cNvPr id="3" name="Shape 1"/>
          <p:cNvSpPr/>
          <p:nvPr/>
        </p:nvSpPr>
        <p:spPr>
          <a:xfrm>
            <a:off x="2743200" y="1143000"/>
            <a:ext cx="6705295" cy="0"/>
          </a:xfrm>
          <a:prstGeom prst="line">
            <a:avLst/>
          </a:prstGeom>
          <a:noFill/>
          <a:ln w="12700">
            <a:solidFill>
              <a:srgbClr val="E2E8F0"/>
            </a:solidFill>
            <a:prstDash val="solid"/>
          </a:ln>
        </p:spPr>
      </p:sp>
      <p:sp>
        <p:nvSpPr>
          <p:cNvPr id="4" name="Shape 2"/>
          <p:cNvSpPr/>
          <p:nvPr/>
        </p:nvSpPr>
        <p:spPr>
          <a:xfrm>
            <a:off x="2743200" y="1691640"/>
            <a:ext cx="6705295" cy="0"/>
          </a:xfrm>
          <a:prstGeom prst="roundRect">
            <a:avLst/>
          </a:prstGeom>
          <a:solidFill>
            <a:srgbClr val="F8FAFC"/>
          </a:solidFill>
          <a:ln w="12700">
            <a:solidFill>
              <a:srgbClr val="E2E8F0"/>
            </a:solidFill>
            <a:prstDash val="solid"/>
          </a:ln>
        </p:spPr>
      </p:sp>
      <p:sp>
        <p:nvSpPr>
          <p:cNvPr id="5" name="Text 3"/>
          <p:cNvSpPr/>
          <p:nvPr/>
        </p:nvSpPr>
        <p:spPr>
          <a:xfrm>
            <a:off x="2971800" y="1856232"/>
            <a:ext cx="6248095" cy="320040"/>
          </a:xfrm>
          <a:prstGeom prst="rect">
            <a:avLst/>
          </a:prstGeom>
          <a:noFill/>
          <a:ln/>
        </p:spPr>
        <p:txBody>
          <a:bodyPr wrap="square" lIns="0" tIns="0" rIns="0" bIns="0" rtlCol="0" anchor="ctr">
            <a:normAutofit/>
          </a:bodyPr>
          <a:lstStyle/>
          <a:p>
            <a:pPr rtl="1" algn="r" indent="0" marL="0">
              <a:buNone/>
            </a:pPr>
            <a:r>
              <a:rPr lang="en-US" sz="1700" b="1" dirty="0">
                <a:solidFill>
                  <a:srgbClr val="4F46E5"/>
                </a:solidFill>
                <a:latin typeface="Vazirmatn" pitchFamily="34" charset="0"/>
                <a:ea typeface="Vazirmatn" pitchFamily="34" charset="-122"/>
                <a:cs typeface="Vazirmatn" pitchFamily="34" charset="-120"/>
              </a:rPr>
              <a:t>definition box</a:t>
            </a:r>
            <a:endParaRPr lang="en-US" sz="1700" dirty="0"/>
          </a:p>
        </p:txBody>
      </p:sp>
      <p:sp>
        <p:nvSpPr>
          <p:cNvPr id="6" name="Text 4"/>
          <p:cNvSpPr/>
          <p:nvPr/>
        </p:nvSpPr>
        <p:spPr>
          <a:xfrm>
            <a:off x="2971800" y="2267712"/>
            <a:ext cx="6248095" cy="-713232"/>
          </a:xfrm>
          <a:prstGeom prst="rect">
            <a:avLst/>
          </a:prstGeom>
          <a:noFill/>
          <a:ln/>
        </p:spPr>
        <p:txBody>
          <a:bodyPr wrap="square" lIns="0" tIns="0" rIns="0" bIns="0" rtlCol="0" anchor="t">
            <a:normAutofit/>
          </a:bodyPr>
          <a:lstStyle/>
          <a:p>
            <a:pPr rtl="1" algn="r" indent="0" marL="0">
              <a:buNone/>
            </a:pPr>
            <a:r>
              <a:rPr lang="en-US" sz="1400" dirty="0">
                <a:solidFill>
                  <a:srgbClr val="334155"/>
                </a:solidFill>
                <a:latin typeface="Vazirmatn" pitchFamily="34" charset="0"/>
                <a:ea typeface="Vazirmatn" pitchFamily="34" charset="-122"/>
                <a:cs typeface="Vazirmatn" pitchFamily="34" charset="-120"/>
              </a:rPr>
              <a:t>معماری چارچوب: شامل مراحلی مانند ورودی داده، محاسبه اهمیت ویژگی ها، و ارائه نتایج است.</a:t>
            </a:r>
            <a:endParaRPr lang="en-US" sz="1400" dirty="0"/>
          </a:p>
        </p:txBody>
      </p:sp>
      <p:sp>
        <p:nvSpPr>
          <p:cNvPr id="7" name="Shape 5"/>
          <p:cNvSpPr/>
          <p:nvPr/>
        </p:nvSpPr>
        <p:spPr>
          <a:xfrm>
            <a:off x="2743200" y="3246120"/>
            <a:ext cx="6705295" cy="0"/>
          </a:xfrm>
          <a:prstGeom prst="roundRect">
            <a:avLst/>
          </a:prstGeom>
          <a:solidFill>
            <a:srgbClr val="F8FAFC"/>
          </a:solidFill>
          <a:ln w="12700">
            <a:solidFill>
              <a:srgbClr val="E2E8F0"/>
            </a:solidFill>
            <a:prstDash val="solid"/>
          </a:ln>
        </p:spPr>
      </p:sp>
      <p:sp>
        <p:nvSpPr>
          <p:cNvPr id="8" name="Text 6"/>
          <p:cNvSpPr/>
          <p:nvPr/>
        </p:nvSpPr>
        <p:spPr>
          <a:xfrm>
            <a:off x="2971800" y="3410712"/>
            <a:ext cx="6248095" cy="320040"/>
          </a:xfrm>
          <a:prstGeom prst="rect">
            <a:avLst/>
          </a:prstGeom>
          <a:noFill/>
          <a:ln/>
        </p:spPr>
        <p:txBody>
          <a:bodyPr wrap="square" lIns="0" tIns="0" rIns="0" bIns="0" rtlCol="0" anchor="ctr">
            <a:normAutofit/>
          </a:bodyPr>
          <a:lstStyle/>
          <a:p>
            <a:pPr rtl="1" algn="r" indent="0" marL="0">
              <a:buNone/>
            </a:pPr>
            <a:r>
              <a:rPr lang="en-US" sz="1700" b="1" dirty="0">
                <a:solidFill>
                  <a:srgbClr val="4F46E5"/>
                </a:solidFill>
                <a:latin typeface="Vazirmatn" pitchFamily="34" charset="0"/>
                <a:ea typeface="Vazirmatn" pitchFamily="34" charset="-122"/>
                <a:cs typeface="Vazirmatn" pitchFamily="34" charset="-120"/>
              </a:rPr>
              <a:t>concept card</a:t>
            </a:r>
            <a:endParaRPr lang="en-US" sz="1700" dirty="0"/>
          </a:p>
        </p:txBody>
      </p:sp>
      <p:sp>
        <p:nvSpPr>
          <p:cNvPr id="9" name="Text 7"/>
          <p:cNvSpPr/>
          <p:nvPr/>
        </p:nvSpPr>
        <p:spPr>
          <a:xfrm>
            <a:off x="2971800" y="3822192"/>
            <a:ext cx="6248095" cy="-713232"/>
          </a:xfrm>
          <a:prstGeom prst="rect">
            <a:avLst/>
          </a:prstGeom>
          <a:noFill/>
          <a:ln/>
        </p:spPr>
        <p:txBody>
          <a:bodyPr wrap="square" lIns="0" tIns="0" rIns="0" bIns="0" rtlCol="0" anchor="t">
            <a:normAutofit/>
          </a:bodyPr>
          <a:lstStyle/>
          <a:p>
            <a:pPr rtl="1" algn="r" indent="0" marL="0">
              <a:buNone/>
            </a:pPr>
            <a:r>
              <a:rPr lang="en-US" sz="1400" dirty="0">
                <a:solidFill>
                  <a:srgbClr val="334155"/>
                </a:solidFill>
                <a:latin typeface="Vazirmatn" pitchFamily="34" charset="0"/>
                <a:ea typeface="Vazirmatn" pitchFamily="34" charset="-122"/>
                <a:cs typeface="Vazirmatn" pitchFamily="34" charset="-120"/>
              </a:rPr>
              <a:t>طراحی ساختاری چارچوب SHAP با استفاده از مفاهیم اصلی نظریه بازی ها، به طور منظم و قابل اعتمادی مدل ها را تفسیر می کند.</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2743200" y="411480"/>
            <a:ext cx="6705295" cy="0"/>
          </a:xfrm>
          <a:prstGeom prst="rect">
            <a:avLst/>
          </a:prstGeom>
          <a:noFill/>
          <a:ln/>
        </p:spPr>
        <p:txBody>
          <a:bodyPr wrap="square" lIns="0" tIns="0" rIns="0" bIns="0" rtlCol="0" anchor="ctr">
            <a:normAutofit/>
          </a:bodyPr>
          <a:lstStyle>
            <a:lvl1pPr algn="l"/>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Page 7</a:t>
            </a:r>
            <a:endParaRPr lang="en-US" sz="3200" dirty="0"/>
          </a:p>
        </p:txBody>
      </p:sp>
      <p:sp>
        <p:nvSpPr>
          <p:cNvPr id="3" name="Shape 1"/>
          <p:cNvSpPr/>
          <p:nvPr/>
        </p:nvSpPr>
        <p:spPr>
          <a:xfrm>
            <a:off x="2743200" y="1143000"/>
            <a:ext cx="6705295" cy="0"/>
          </a:xfrm>
          <a:prstGeom prst="line">
            <a:avLst/>
          </a:prstGeom>
          <a:noFill/>
          <a:ln w="12700">
            <a:solidFill>
              <a:srgbClr val="E2E8F0"/>
            </a:solidFill>
            <a:prstDash val="solid"/>
          </a:ln>
        </p:spPr>
      </p:sp>
      <p:sp>
        <p:nvSpPr>
          <p:cNvPr id="4" name="Text 2"/>
          <p:cNvSpPr/>
          <p:nvPr/>
        </p:nvSpPr>
        <p:spPr>
          <a:xfrm>
            <a:off x="2743200" y="1691640"/>
            <a:ext cx="6705295" cy="0"/>
          </a:xfrm>
          <a:prstGeom prst="rect">
            <a:avLst/>
          </a:prstGeom>
          <a:noFill/>
          <a:ln/>
        </p:spPr>
        <p:txBody>
          <a:bodyPr wrap="square" lIns="0" tIns="0" rIns="0" bIns="0" rtlCol="0" anchor="t">
            <a:normAutofit/>
          </a:bodyPr>
          <a:lstStyle>
            <a:lvl1pPr algn="l"/>
          </a:lstStyle>
          <a:p>
            <a:pPr rtl="1" algn="r" indent="0" marL="0">
              <a:buNone/>
            </a:pPr>
            <a:r>
              <a:rPr lang="en-US" sz="1400" dirty="0">
                <a:solidFill>
                  <a:srgbClr val="334155"/>
                </a:solidFill>
                <a:latin typeface="Vazirmatn" pitchFamily="34" charset="0"/>
                <a:ea typeface="Vazirmatn" pitchFamily="34" charset="-122"/>
                <a:cs typeface="Vazirmatn" pitchFamily="34" charset="-120"/>
              </a:rPr>
              <a:t>مکانیسم اصلی چارچوب SHAP بر اساس محاسبه اهمیت ویژگی ها با استفاده از نظریه بازی ها است. این روش به طور خاص به دلیل سازگاری با دیدگاه انسانی و بهبود عملکرد محاسباتی مورد توجه قرار گرفته است.</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2743200" y="411480"/>
            <a:ext cx="6705295" cy="0"/>
          </a:xfrm>
          <a:prstGeom prst="rect">
            <a:avLst/>
          </a:prstGeom>
          <a:noFill/>
          <a:ln/>
        </p:spPr>
        <p:txBody>
          <a:bodyPr wrap="square" lIns="0" tIns="0" rIns="0" bIns="0" rtlCol="0" anchor="ctr">
            <a:normAutofit/>
          </a:bodyPr>
          <a:lstStyle>
            <a:lvl1pPr algn="l"/>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Page 8</a:t>
            </a:r>
            <a:endParaRPr lang="en-US" sz="3200" dirty="0"/>
          </a:p>
        </p:txBody>
      </p:sp>
      <p:sp>
        <p:nvSpPr>
          <p:cNvPr id="3" name="Shape 1"/>
          <p:cNvSpPr/>
          <p:nvPr/>
        </p:nvSpPr>
        <p:spPr>
          <a:xfrm>
            <a:off x="2743200" y="1143000"/>
            <a:ext cx="6705295" cy="0"/>
          </a:xfrm>
          <a:prstGeom prst="line">
            <a:avLst/>
          </a:prstGeom>
          <a:noFill/>
          <a:ln w="12700">
            <a:solidFill>
              <a:srgbClr val="E2E8F0"/>
            </a:solidFill>
            <a:prstDash val="solid"/>
          </a:ln>
        </p:spPr>
      </p:sp>
      <p:sp>
        <p:nvSpPr>
          <p:cNvPr id="4" name="Text 2"/>
          <p:cNvSpPr/>
          <p:nvPr/>
        </p:nvSpPr>
        <p:spPr>
          <a:xfrm>
            <a:off x="2743200" y="1691640"/>
            <a:ext cx="6705295" cy="0"/>
          </a:xfrm>
          <a:prstGeom prst="rect">
            <a:avLst/>
          </a:prstGeom>
          <a:noFill/>
          <a:ln/>
        </p:spPr>
        <p:txBody>
          <a:bodyPr wrap="square" lIns="0" tIns="0" rIns="0" bIns="0" rtlCol="0" anchor="t">
            <a:normAutofit/>
          </a:bodyPr>
          <a:lstStyle>
            <a:lvl1pPr algn="l"/>
          </a:lstStyle>
          <a:p>
            <a:pPr rtl="1" algn="r" indent="0" marL="0">
              <a:buNone/>
            </a:pPr>
            <a:r>
              <a:rPr lang="en-US" sz="1400" dirty="0">
                <a:solidFill>
                  <a:srgbClr val="334155"/>
                </a:solidFill>
                <a:latin typeface="Vazirmatn" pitchFamily="34" charset="0"/>
                <a:ea typeface="Vazirmatn" pitchFamily="34" charset="-122"/>
                <a:cs typeface="Vazirmatn" pitchFamily="34" charset="-120"/>
              </a:rPr>
              <a:t>ارزیابی چارچوب SHAP نشان داده است که این روش به طور قابل توجهی با دیدگاه انسانی سازگار است و در تشخیص کلاس های مدل بهتر از روش های قبلی عمل می کند. محدودیت هایی مانند نیاز به محاسبات پرقدرت وجود دارد.</a:t>
            </a:r>
            <a:endParaRPr lang="en-US" sz="1400" dirty="0"/>
          </a:p>
        </p:txBody>
      </p:sp>
      <p:sp>
        <p:nvSpPr>
          <p:cNvPr id="5" name="Shape 3"/>
          <p:cNvSpPr/>
          <p:nvPr/>
        </p:nvSpPr>
        <p:spPr>
          <a:xfrm>
            <a:off x="2743200" y="2980113"/>
            <a:ext cx="6705295" cy="0"/>
          </a:xfrm>
          <a:prstGeom prst="roundRect">
            <a:avLst/>
          </a:prstGeom>
          <a:solidFill>
            <a:srgbClr val="F8FAFC"/>
          </a:solidFill>
          <a:ln w="12700">
            <a:solidFill>
              <a:srgbClr val="E2E8F0"/>
            </a:solidFill>
            <a:prstDash val="solid"/>
          </a:ln>
        </p:spPr>
      </p:sp>
      <p:sp>
        <p:nvSpPr>
          <p:cNvPr id="6" name="Text 4"/>
          <p:cNvSpPr/>
          <p:nvPr/>
        </p:nvSpPr>
        <p:spPr>
          <a:xfrm>
            <a:off x="2971800" y="3144705"/>
            <a:ext cx="6248095" cy="320040"/>
          </a:xfrm>
          <a:prstGeom prst="rect">
            <a:avLst/>
          </a:prstGeom>
          <a:noFill/>
          <a:ln/>
        </p:spPr>
        <p:txBody>
          <a:bodyPr wrap="square" lIns="0" tIns="0" rIns="0" bIns="0" rtlCol="0" anchor="ctr">
            <a:normAutofit/>
          </a:bodyPr>
          <a:lstStyle/>
          <a:p>
            <a:pPr rtl="1" algn="r" indent="0" marL="0">
              <a:buNone/>
            </a:pPr>
            <a:r>
              <a:rPr lang="en-US" sz="1700" b="1" dirty="0">
                <a:solidFill>
                  <a:srgbClr val="4F46E5"/>
                </a:solidFill>
                <a:latin typeface="Vazirmatn" pitchFamily="34" charset="0"/>
                <a:ea typeface="Vazirmatn" pitchFamily="34" charset="-122"/>
                <a:cs typeface="Vazirmatn" pitchFamily="34" charset="-120"/>
              </a:rPr>
              <a:t>definition box</a:t>
            </a:r>
            <a:endParaRPr lang="en-US" sz="1700" dirty="0"/>
          </a:p>
        </p:txBody>
      </p:sp>
      <p:sp>
        <p:nvSpPr>
          <p:cNvPr id="7" name="Text 5"/>
          <p:cNvSpPr/>
          <p:nvPr/>
        </p:nvSpPr>
        <p:spPr>
          <a:xfrm>
            <a:off x="2971800" y="3556185"/>
            <a:ext cx="6248095" cy="-713232"/>
          </a:xfrm>
          <a:prstGeom prst="rect">
            <a:avLst/>
          </a:prstGeom>
          <a:noFill/>
          <a:ln/>
        </p:spPr>
        <p:txBody>
          <a:bodyPr wrap="square" lIns="0" tIns="0" rIns="0" bIns="0" rtlCol="0" anchor="t">
            <a:normAutofit/>
          </a:bodyPr>
          <a:lstStyle/>
          <a:p>
            <a:pPr rtl="1" algn="r" indent="0" marL="0">
              <a:buNone/>
            </a:pPr>
            <a:r>
              <a:rPr lang="en-US" sz="1400" dirty="0">
                <a:solidFill>
                  <a:srgbClr val="334155"/>
                </a:solidFill>
                <a:latin typeface="Vazirmatn" pitchFamily="34" charset="0"/>
                <a:ea typeface="Vazirmatn" pitchFamily="34" charset="-122"/>
                <a:cs typeface="Vazirmatn" pitchFamily="34" charset="-120"/>
              </a:rPr>
              <a:t>جهت تحقیقات آینده: بهبود عملکرد محاسباتی و گسترش به مدل های مختلف.</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731520" y="640080"/>
            <a:ext cx="6705295" cy="2743200"/>
          </a:xfrm>
          <a:prstGeom prst="roundRect">
            <a:avLst/>
          </a:prstGeom>
          <a:solidFill>
            <a:srgbClr val="EEF2FF"/>
          </a:solidFill>
          <a:ln w="12700">
            <a:solidFill>
              <a:srgbClr val="E2E8F0"/>
            </a:solidFill>
            <a:prstDash val="solid"/>
          </a:ln>
        </p:spPr>
      </p:sp>
      <p:sp>
        <p:nvSpPr>
          <p:cNvPr id="3" name="Text 1"/>
          <p:cNvSpPr/>
          <p:nvPr/>
        </p:nvSpPr>
        <p:spPr>
          <a:xfrm>
            <a:off x="914400" y="868680"/>
            <a:ext cx="4206240" cy="320040"/>
          </a:xfrm>
          <a:prstGeom prst="rect">
            <a:avLst/>
          </a:prstGeom>
          <a:noFill/>
          <a:ln/>
        </p:spPr>
        <p:txBody>
          <a:bodyPr wrap="square" lIns="0" tIns="0" rIns="0" bIns="0" rtlCol="0" anchor="ctr"/>
          <a:lstStyle/>
          <a:p>
            <a:pPr rtl="1" algn="ctr" indent="0" marL="0">
              <a:buNone/>
            </a:pPr>
            <a:r>
              <a:rPr lang="en-US" sz="2000" b="1" dirty="0">
                <a:solidFill>
                  <a:srgbClr val="0F172A"/>
                </a:solidFill>
                <a:latin typeface="Vazirmatn" pitchFamily="34" charset="0"/>
                <a:ea typeface="Vazirmatn" pitchFamily="34" charset="-122"/>
                <a:cs typeface="Vazirmatn" pitchFamily="34" charset="-120"/>
              </a:rPr>
              <a:t>SHAP</a:t>
            </a:r>
            <a:endParaRPr lang="en-US" sz="2000" dirty="0"/>
          </a:p>
        </p:txBody>
      </p:sp>
      <p:sp>
        <p:nvSpPr>
          <p:cNvPr id="4" name="Shape 2"/>
          <p:cNvSpPr/>
          <p:nvPr/>
        </p:nvSpPr>
        <p:spPr>
          <a:xfrm>
            <a:off x="6400800" y="640080"/>
            <a:ext cx="6705295" cy="2743200"/>
          </a:xfrm>
          <a:prstGeom prst="roundRect">
            <a:avLst/>
          </a:prstGeom>
          <a:solidFill>
            <a:srgbClr val="DCFCE7"/>
          </a:solidFill>
          <a:ln w="12700">
            <a:solidFill>
              <a:srgbClr val="E2E8F0"/>
            </a:solidFill>
            <a:prstDash val="solid"/>
          </a:ln>
        </p:spPr>
      </p:sp>
      <p:sp>
        <p:nvSpPr>
          <p:cNvPr id="5" name="Text 3"/>
          <p:cNvSpPr/>
          <p:nvPr/>
        </p:nvSpPr>
        <p:spPr>
          <a:xfrm>
            <a:off x="6583680" y="868680"/>
            <a:ext cx="4206240" cy="320040"/>
          </a:xfrm>
          <a:prstGeom prst="rect">
            <a:avLst/>
          </a:prstGeom>
          <a:noFill/>
          <a:ln/>
        </p:spPr>
        <p:txBody>
          <a:bodyPr wrap="square" lIns="0" tIns="0" rIns="0" bIns="0" rtlCol="0" anchor="ctr"/>
          <a:lstStyle/>
          <a:p>
            <a:pPr rtl="1" algn="ctr" indent="0" marL="0">
              <a:buNone/>
            </a:pPr>
            <a:r>
              <a:rPr lang="en-US" sz="2000" b="1" dirty="0">
                <a:solidFill>
                  <a:srgbClr val="0F172A"/>
                </a:solidFill>
                <a:latin typeface="Vazirmatn" pitchFamily="34" charset="0"/>
                <a:ea typeface="Vazirmatn" pitchFamily="34" charset="-122"/>
                <a:cs typeface="Vazirmatn" pitchFamily="34" charset="-120"/>
              </a:rPr>
              <a:t>روش های قدیمی</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2026-08-09T20:14:47Z</dcterms:created>
  <dcterms:modified xsi:type="dcterms:W3CDTF">2026-08-09T20:14:47Z</dcterms:modified>
</cp:coreProperties>
</file>