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2743200" y="411480"/>
            <a:ext cx="5790895" cy="0"/>
          </a:xfrm>
          <a:prstGeom prst="rect">
            <a:avLst/>
          </a:prstGeom>
          <a:noFill/>
          <a:ln/>
        </p:spPr>
        <p:txBody>
          <a:bodyPr wrap="square" lIns="0" tIns="0" rIns="0" bIns="0" rtlCol="0" anchor="ctr">
            <a:normAutofit/>
          </a:bodyPr>
          <a:lstStyle>
            <a:lvl1pPr algn="l"/>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مقدمه، تعریف و اهمیت</a:t>
            </a:r>
            <a:endParaRPr lang="en-US" sz="3200" dirty="0"/>
          </a:p>
        </p:txBody>
      </p:sp>
      <p:sp>
        <p:nvSpPr>
          <p:cNvPr id="3" name="Shape 1"/>
          <p:cNvSpPr/>
          <p:nvPr/>
        </p:nvSpPr>
        <p:spPr>
          <a:xfrm>
            <a:off x="2743200" y="1143000"/>
            <a:ext cx="5790895" cy="0"/>
          </a:xfrm>
          <a:prstGeom prst="line">
            <a:avLst/>
          </a:prstGeom>
          <a:noFill/>
          <a:ln w="12700">
            <a:solidFill>
              <a:srgbClr val="E2E8F0"/>
            </a:solidFill>
            <a:prstDash val="solid"/>
          </a:ln>
        </p:spPr>
      </p:sp>
      <p:sp>
        <p:nvSpPr>
          <p:cNvPr id="4" name="Text 2"/>
          <p:cNvSpPr/>
          <p:nvPr/>
        </p:nvSpPr>
        <p:spPr>
          <a:xfrm>
            <a:off x="2743200" y="1691640"/>
            <a:ext cx="5790895" cy="0"/>
          </a:xfrm>
          <a:prstGeom prst="rect">
            <a:avLst/>
          </a:prstGeom>
          <a:noFill/>
          <a:ln/>
        </p:spPr>
        <p:txBody>
          <a:bodyPr wrap="square" lIns="0" tIns="0" rIns="0" bIns="0" rtlCol="0" anchor="t">
            <a:normAutofit/>
          </a:bodyPr>
          <a:lstStyle>
            <a:lvl1pPr algn="l"/>
          </a:lstStyle>
          <a:p>
            <a:pPr rtl="1" algn="r" indent="0" marL="0">
              <a:buNone/>
            </a:pPr>
            <a:r>
              <a:rPr lang="en-US" sz="1200" dirty="0">
                <a:solidFill>
                  <a:srgbClr val="334155"/>
                </a:solidFill>
                <a:latin typeface="Vazirmatn" pitchFamily="34" charset="0"/>
                <a:ea typeface="Vazirmatn" pitchFamily="34" charset="-122"/>
                <a:cs typeface="Vazirmatn" pitchFamily="34" charset="-120"/>
              </a:rPr>
              <a:t>در بسیاری از کاربردها، درک اینکه یک مدل چه پیش بینی ای ارائه می دهد، به همان اندازه دقت پیش بینی مهم است. با افزایش پیچیدگی مدل ها، مانند مدل های یادگیری عمیق یا مجموعه ها، تضادی بین دقت و قابلیت تفسیر پدید می آید. این مقاله به معرفی یک چارچوب یکپارچه برای تفسیر پیش بینی ها می پردازد.</a:t>
            </a:r>
            <a:endParaRPr lang="en-US" sz="1200" dirty="0"/>
          </a:p>
        </p:txBody>
      </p:sp>
      <p:sp>
        <p:nvSpPr>
          <p:cNvPr id="5" name="Shape 3"/>
          <p:cNvSpPr/>
          <p:nvPr/>
        </p:nvSpPr>
        <p:spPr>
          <a:xfrm>
            <a:off x="2743200" y="3333404"/>
            <a:ext cx="5790895" cy="0"/>
          </a:xfrm>
          <a:prstGeom prst="roundRect">
            <a:avLst/>
          </a:prstGeom>
          <a:solidFill>
            <a:srgbClr val="F8FAFC"/>
          </a:solidFill>
          <a:ln w="12700">
            <a:solidFill>
              <a:srgbClr val="E2E8F0"/>
            </a:solidFill>
            <a:prstDash val="solid"/>
          </a:ln>
        </p:spPr>
      </p:sp>
      <p:sp>
        <p:nvSpPr>
          <p:cNvPr id="6" name="Text 4"/>
          <p:cNvSpPr/>
          <p:nvPr/>
        </p:nvSpPr>
        <p:spPr>
          <a:xfrm>
            <a:off x="2971800" y="3497996"/>
            <a:ext cx="5333695" cy="320040"/>
          </a:xfrm>
          <a:prstGeom prst="rect">
            <a:avLst/>
          </a:prstGeom>
          <a:noFill/>
          <a:ln/>
        </p:spPr>
        <p:txBody>
          <a:bodyPr wrap="square" lIns="0" tIns="0" rIns="0" bIns="0" rtlCol="0" anchor="ctr">
            <a:normAutofit/>
          </a:bodyPr>
          <a:lstStyle/>
          <a:p>
            <a:pPr rtl="1" algn="r" indent="0" marL="0">
              <a:buNone/>
            </a:pPr>
            <a:r>
              <a:rPr lang="en-US" sz="1700" b="1" dirty="0">
                <a:solidFill>
                  <a:srgbClr val="4F46E5"/>
                </a:solidFill>
                <a:latin typeface="Vazirmatn" pitchFamily="34" charset="0"/>
                <a:ea typeface="Vazirmatn" pitchFamily="34" charset="-122"/>
                <a:cs typeface="Vazirmatn" pitchFamily="34" charset="-120"/>
              </a:rPr>
              <a:t>definition box</a:t>
            </a:r>
            <a:endParaRPr lang="en-US" sz="1700" dirty="0"/>
          </a:p>
        </p:txBody>
      </p:sp>
      <p:sp>
        <p:nvSpPr>
          <p:cNvPr id="7" name="Text 5"/>
          <p:cNvSpPr/>
          <p:nvPr/>
        </p:nvSpPr>
        <p:spPr>
          <a:xfrm>
            <a:off x="2971800" y="3909476"/>
            <a:ext cx="5333695" cy="-713232"/>
          </a:xfrm>
          <a:prstGeom prst="rect">
            <a:avLst/>
          </a:prstGeom>
          <a:noFill/>
          <a:ln/>
        </p:spPr>
        <p:txBody>
          <a:bodyPr wrap="square" lIns="0" tIns="0" rIns="0" bIns="0" rtlCol="0" anchor="t">
            <a:normAutofit/>
          </a:bodyPr>
          <a:lstStyle/>
          <a:p>
            <a:pPr rtl="1" algn="r" indent="0" marL="0">
              <a:buNone/>
            </a:pPr>
            <a:r>
              <a:rPr lang="en-US" sz="1400" dirty="0">
                <a:solidFill>
                  <a:srgbClr val="334155"/>
                </a:solidFill>
                <a:latin typeface="Vazirmatn" pitchFamily="34" charset="0"/>
                <a:ea typeface="Vazirmatn" pitchFamily="34" charset="-122"/>
                <a:cs typeface="Vazirmatn" pitchFamily="34" charset="-120"/>
              </a:rPr>
              <a:t>تعریف: SHAP (SHapley Additive exPlanations) یک چارچوب یکپارچه برای تفسیر پیش بینی های مدل ها است که اهمیت ویژگی ها را برای هر پیش بینی تعیین می کند.</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2743200" y="411480"/>
            <a:ext cx="5790895" cy="0"/>
          </a:xfrm>
          <a:prstGeom prst="rect">
            <a:avLst/>
          </a:prstGeom>
          <a:noFill/>
          <a:ln/>
        </p:spPr>
        <p:txBody>
          <a:bodyPr wrap="square" lIns="0" tIns="0" rIns="0" bIns="0" rtlCol="0" anchor="ctr">
            <a:normAutofit/>
          </a:bodyPr>
          <a:lstStyle>
            <a:lvl1pPr algn="l"/>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بیان مسئله و انگیزه</a:t>
            </a:r>
            <a:endParaRPr lang="en-US" sz="3200" dirty="0"/>
          </a:p>
        </p:txBody>
      </p:sp>
      <p:sp>
        <p:nvSpPr>
          <p:cNvPr id="3" name="Shape 1"/>
          <p:cNvSpPr/>
          <p:nvPr/>
        </p:nvSpPr>
        <p:spPr>
          <a:xfrm>
            <a:off x="2743200" y="1143000"/>
            <a:ext cx="5790895" cy="0"/>
          </a:xfrm>
          <a:prstGeom prst="line">
            <a:avLst/>
          </a:prstGeom>
          <a:noFill/>
          <a:ln w="12700">
            <a:solidFill>
              <a:srgbClr val="E2E8F0"/>
            </a:solidFill>
            <a:prstDash val="solid"/>
          </a:ln>
        </p:spPr>
      </p:sp>
      <p:sp>
        <p:nvSpPr>
          <p:cNvPr id="4" name="Text 2"/>
          <p:cNvSpPr/>
          <p:nvPr/>
        </p:nvSpPr>
        <p:spPr>
          <a:xfrm>
            <a:off x="2743200" y="1691640"/>
            <a:ext cx="5790895" cy="0"/>
          </a:xfrm>
          <a:prstGeom prst="rect">
            <a:avLst/>
          </a:prstGeom>
          <a:noFill/>
          <a:ln/>
        </p:spPr>
        <p:txBody>
          <a:bodyPr wrap="square" lIns="0" tIns="0" rIns="0" bIns="0" rtlCol="0" anchor="t">
            <a:normAutofit/>
          </a:bodyPr>
          <a:lstStyle>
            <a:lvl1pPr algn="l"/>
          </a:lstStyle>
          <a:p>
            <a:pPr rtl="1" algn="r" indent="0" marL="0">
              <a:buNone/>
            </a:pPr>
            <a:r>
              <a:rPr lang="en-US" sz="1200" dirty="0">
                <a:solidFill>
                  <a:srgbClr val="334155"/>
                </a:solidFill>
                <a:latin typeface="Vazirmatn" pitchFamily="34" charset="0"/>
                <a:ea typeface="Vazirmatn" pitchFamily="34" charset="-122"/>
                <a:cs typeface="Vazirmatn" pitchFamily="34" charset="-120"/>
              </a:rPr>
              <a:t>مدل های پیچیده با دقت بالا معمولاً قابلیت تفسیر پایینی دارند. این تضاد باعث می شود که کاربران به دنبال روش هایی برای تفسیر پیش بینی ها باشند. این مقاله به بررسی این چالش می پردازد و یک رهیافت یکپارچه ارائه می دهد.</a:t>
            </a:r>
            <a:endParaRPr lang="en-US" sz="1200" dirty="0"/>
          </a:p>
        </p:txBody>
      </p:sp>
      <p:sp>
        <p:nvSpPr>
          <p:cNvPr id="5" name="Shape 3"/>
          <p:cNvSpPr/>
          <p:nvPr/>
        </p:nvSpPr>
        <p:spPr>
          <a:xfrm>
            <a:off x="2743200" y="3034145"/>
            <a:ext cx="5790895" cy="0"/>
          </a:xfrm>
          <a:prstGeom prst="roundRect">
            <a:avLst/>
          </a:prstGeom>
          <a:solidFill>
            <a:srgbClr val="F8FAFC"/>
          </a:solidFill>
          <a:ln w="12700">
            <a:solidFill>
              <a:srgbClr val="E2E8F0"/>
            </a:solidFill>
            <a:prstDash val="solid"/>
          </a:ln>
        </p:spPr>
      </p:sp>
      <p:sp>
        <p:nvSpPr>
          <p:cNvPr id="6" name="Text 4"/>
          <p:cNvSpPr/>
          <p:nvPr/>
        </p:nvSpPr>
        <p:spPr>
          <a:xfrm>
            <a:off x="2971800" y="3198737"/>
            <a:ext cx="5333695" cy="320040"/>
          </a:xfrm>
          <a:prstGeom prst="rect">
            <a:avLst/>
          </a:prstGeom>
          <a:noFill/>
          <a:ln/>
        </p:spPr>
        <p:txBody>
          <a:bodyPr wrap="square" lIns="0" tIns="0" rIns="0" bIns="0" rtlCol="0" anchor="ctr">
            <a:normAutofit/>
          </a:bodyPr>
          <a:lstStyle/>
          <a:p>
            <a:pPr rtl="1" algn="r" indent="0" marL="0">
              <a:buNone/>
            </a:pPr>
            <a:r>
              <a:rPr lang="en-US" sz="1700" b="1" dirty="0">
                <a:solidFill>
                  <a:srgbClr val="4F46E5"/>
                </a:solidFill>
                <a:latin typeface="Vazirmatn" pitchFamily="34" charset="0"/>
                <a:ea typeface="Vazirmatn" pitchFamily="34" charset="-122"/>
                <a:cs typeface="Vazirmatn" pitchFamily="34" charset="-120"/>
              </a:rPr>
              <a:t>insight box</a:t>
            </a:r>
            <a:endParaRPr lang="en-US" sz="1700" dirty="0"/>
          </a:p>
        </p:txBody>
      </p:sp>
      <p:sp>
        <p:nvSpPr>
          <p:cNvPr id="7" name="Text 5"/>
          <p:cNvSpPr/>
          <p:nvPr/>
        </p:nvSpPr>
        <p:spPr>
          <a:xfrm>
            <a:off x="2971800" y="3610217"/>
            <a:ext cx="5333695" cy="-713232"/>
          </a:xfrm>
          <a:prstGeom prst="rect">
            <a:avLst/>
          </a:prstGeom>
          <a:noFill/>
          <a:ln/>
        </p:spPr>
        <p:txBody>
          <a:bodyPr wrap="square" lIns="0" tIns="0" rIns="0" bIns="0" rtlCol="0" anchor="t">
            <a:normAutofit/>
          </a:bodyPr>
          <a:lstStyle/>
          <a:p>
            <a:pPr rtl="1" algn="r" indent="0" marL="0">
              <a:buNone/>
            </a:pPr>
            <a:r>
              <a:rPr lang="en-US" sz="1400" dirty="0">
                <a:solidFill>
                  <a:srgbClr val="334155"/>
                </a:solidFill>
                <a:latin typeface="Vazirmatn" pitchFamily="34" charset="0"/>
                <a:ea typeface="Vazirmatn" pitchFamily="34" charset="-122"/>
                <a:cs typeface="Vazirmatn" pitchFamily="34" charset="-120"/>
              </a:rPr>
              <a:t>نکته: روش های موجود ممکن است خصوصیات مطلوبی را نداشته باشند، بنابراین نیاز به یک چارچوب جامع وجود دارد.</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2743200" y="411480"/>
            <a:ext cx="5790895" cy="0"/>
          </a:xfrm>
          <a:prstGeom prst="rect">
            <a:avLst/>
          </a:prstGeom>
          <a:noFill/>
          <a:ln/>
        </p:spPr>
        <p:txBody>
          <a:bodyPr wrap="square" lIns="0" tIns="0" rIns="0" bIns="0" rtlCol="0" anchor="ctr">
            <a:normAutofit/>
          </a:bodyPr>
          <a:lstStyle>
            <a:lvl1pPr algn="l"/>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پیش زمینه و بنیان نظری</a:t>
            </a:r>
            <a:endParaRPr lang="en-US" sz="3200" dirty="0"/>
          </a:p>
        </p:txBody>
      </p:sp>
      <p:sp>
        <p:nvSpPr>
          <p:cNvPr id="3" name="Shape 1"/>
          <p:cNvSpPr/>
          <p:nvPr/>
        </p:nvSpPr>
        <p:spPr>
          <a:xfrm>
            <a:off x="2743200" y="1143000"/>
            <a:ext cx="5790895" cy="0"/>
          </a:xfrm>
          <a:prstGeom prst="line">
            <a:avLst/>
          </a:prstGeom>
          <a:noFill/>
          <a:ln w="12700">
            <a:solidFill>
              <a:srgbClr val="E2E8F0"/>
            </a:solidFill>
            <a:prstDash val="solid"/>
          </a:ln>
        </p:spPr>
      </p:sp>
      <p:sp>
        <p:nvSpPr>
          <p:cNvPr id="4" name="Text 2"/>
          <p:cNvSpPr/>
          <p:nvPr/>
        </p:nvSpPr>
        <p:spPr>
          <a:xfrm>
            <a:off x="2743200" y="1691640"/>
            <a:ext cx="5790895" cy="0"/>
          </a:xfrm>
          <a:prstGeom prst="rect">
            <a:avLst/>
          </a:prstGeom>
          <a:noFill/>
          <a:ln/>
        </p:spPr>
        <p:txBody>
          <a:bodyPr wrap="square" lIns="0" tIns="0" rIns="0" bIns="0" rtlCol="0" anchor="t">
            <a:normAutofit/>
          </a:bodyPr>
          <a:lstStyle>
            <a:lvl1pPr algn="l"/>
          </a:lstStyle>
          <a:p>
            <a:pPr rtl="1" algn="r" indent="0" marL="0">
              <a:buNone/>
            </a:pPr>
            <a:r>
              <a:rPr lang="en-US" sz="1400" dirty="0">
                <a:solidFill>
                  <a:srgbClr val="334155"/>
                </a:solidFill>
                <a:latin typeface="Vazirmatn" pitchFamily="34" charset="0"/>
                <a:ea typeface="Vazirmatn" pitchFamily="34" charset="-122"/>
                <a:cs typeface="Vazirmatn" pitchFamily="34" charset="-120"/>
              </a:rPr>
              <a:t>مدل های یادگیری ماشینی با داده های بزرگ به طور گسترده ای استفاده می شوند. با این حال، تفسیر این مدل ها چالش برانگیز است. بنیان نظری این مقاله بر اساس نظریه بازی ها و ارزیابی ویژگی ها است.</a:t>
            </a:r>
            <a:endParaRPr lang="en-US" sz="1400" dirty="0"/>
          </a:p>
        </p:txBody>
      </p:sp>
      <p:sp>
        <p:nvSpPr>
          <p:cNvPr id="5" name="Shape 3"/>
          <p:cNvSpPr/>
          <p:nvPr/>
        </p:nvSpPr>
        <p:spPr>
          <a:xfrm>
            <a:off x="2743200" y="2926080"/>
            <a:ext cx="5790895" cy="0"/>
          </a:xfrm>
          <a:prstGeom prst="roundRect">
            <a:avLst/>
          </a:prstGeom>
          <a:solidFill>
            <a:srgbClr val="F8FAFC"/>
          </a:solidFill>
          <a:ln w="12700">
            <a:solidFill>
              <a:srgbClr val="E2E8F0"/>
            </a:solidFill>
            <a:prstDash val="solid"/>
          </a:ln>
        </p:spPr>
      </p:sp>
      <p:sp>
        <p:nvSpPr>
          <p:cNvPr id="6" name="Text 4"/>
          <p:cNvSpPr/>
          <p:nvPr/>
        </p:nvSpPr>
        <p:spPr>
          <a:xfrm>
            <a:off x="2971800" y="3090672"/>
            <a:ext cx="5333695" cy="320040"/>
          </a:xfrm>
          <a:prstGeom prst="rect">
            <a:avLst/>
          </a:prstGeom>
          <a:noFill/>
          <a:ln/>
        </p:spPr>
        <p:txBody>
          <a:bodyPr wrap="square" lIns="0" tIns="0" rIns="0" bIns="0" rtlCol="0" anchor="ctr">
            <a:normAutofit/>
          </a:bodyPr>
          <a:lstStyle/>
          <a:p>
            <a:pPr rtl="1" algn="r" indent="0" marL="0">
              <a:buNone/>
            </a:pPr>
            <a:r>
              <a:rPr lang="en-US" sz="1700" b="1" dirty="0">
                <a:solidFill>
                  <a:srgbClr val="4F46E5"/>
                </a:solidFill>
                <a:latin typeface="Vazirmatn" pitchFamily="34" charset="0"/>
                <a:ea typeface="Vazirmatn" pitchFamily="34" charset="-122"/>
                <a:cs typeface="Vazirmatn" pitchFamily="34" charset="-120"/>
              </a:rPr>
              <a:t>concept card</a:t>
            </a:r>
            <a:endParaRPr lang="en-US" sz="1700" dirty="0"/>
          </a:p>
        </p:txBody>
      </p:sp>
      <p:sp>
        <p:nvSpPr>
          <p:cNvPr id="7" name="Text 5"/>
          <p:cNvSpPr/>
          <p:nvPr/>
        </p:nvSpPr>
        <p:spPr>
          <a:xfrm>
            <a:off x="2971800" y="3502152"/>
            <a:ext cx="5333695" cy="-713232"/>
          </a:xfrm>
          <a:prstGeom prst="rect">
            <a:avLst/>
          </a:prstGeom>
          <a:noFill/>
          <a:ln/>
        </p:spPr>
        <p:txBody>
          <a:bodyPr wrap="square" lIns="0" tIns="0" rIns="0" bIns="0" rtlCol="0" anchor="t">
            <a:normAutofit/>
          </a:bodyPr>
          <a:lstStyle/>
          <a:p>
            <a:pPr rtl="1" algn="r" indent="0" marL="0">
              <a:buNone/>
            </a:pPr>
            <a:r>
              <a:rPr lang="en-US" sz="1400" dirty="0">
                <a:solidFill>
                  <a:srgbClr val="334155"/>
                </a:solidFill>
                <a:latin typeface="Vazirmatn" pitchFamily="34" charset="0"/>
                <a:ea typeface="Vazirmatn" pitchFamily="34" charset="-122"/>
                <a:cs typeface="Vazirmatn" pitchFamily="34" charset="-120"/>
              </a:rPr>
              <a:t>نظریه بازی ها نظریه بازی ها به تحلیل تعادل و ارزش های مشارکت در بازی ها می پردازد. این نظریه در تعریف اهمیت ویژگی ها در مدل ها کاربرد دارد.</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2743200" y="411480"/>
            <a:ext cx="5790895" cy="0"/>
          </a:xfrm>
          <a:prstGeom prst="rect">
            <a:avLst/>
          </a:prstGeom>
          <a:noFill/>
          <a:ln/>
        </p:spPr>
        <p:txBody>
          <a:bodyPr wrap="square" lIns="0" tIns="0" rIns="0" bIns="0" rtlCol="0" anchor="ctr">
            <a:normAutofit/>
          </a:bodyPr>
          <a:lstStyle>
            <a:lvl1pPr algn="l"/>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مفهوم اصلی و نوآوری</a:t>
            </a:r>
            <a:endParaRPr lang="en-US" sz="3200" dirty="0"/>
          </a:p>
        </p:txBody>
      </p:sp>
      <p:sp>
        <p:nvSpPr>
          <p:cNvPr id="3" name="Shape 1"/>
          <p:cNvSpPr/>
          <p:nvPr/>
        </p:nvSpPr>
        <p:spPr>
          <a:xfrm>
            <a:off x="2743200" y="1143000"/>
            <a:ext cx="5790895" cy="0"/>
          </a:xfrm>
          <a:prstGeom prst="line">
            <a:avLst/>
          </a:prstGeom>
          <a:noFill/>
          <a:ln w="12700">
            <a:solidFill>
              <a:srgbClr val="E2E8F0"/>
            </a:solidFill>
            <a:prstDash val="solid"/>
          </a:ln>
        </p:spPr>
      </p:sp>
      <p:sp>
        <p:nvSpPr>
          <p:cNvPr id="4" name="Text 2"/>
          <p:cNvSpPr/>
          <p:nvPr/>
        </p:nvSpPr>
        <p:spPr>
          <a:xfrm>
            <a:off x="2743200" y="1691640"/>
            <a:ext cx="5790895" cy="0"/>
          </a:xfrm>
          <a:prstGeom prst="rect">
            <a:avLst/>
          </a:prstGeom>
          <a:noFill/>
          <a:ln/>
        </p:spPr>
        <p:txBody>
          <a:bodyPr wrap="square" lIns="0" tIns="0" rIns="0" bIns="0" rtlCol="0" anchor="t">
            <a:normAutofit/>
          </a:bodyPr>
          <a:lstStyle>
            <a:lvl1pPr algn="l"/>
          </a:lstStyle>
          <a:p>
            <a:pPr rtl="1" algn="r" indent="0" marL="0">
              <a:buNone/>
            </a:pPr>
            <a:r>
              <a:rPr lang="en-US" sz="1400" dirty="0">
                <a:solidFill>
                  <a:srgbClr val="334155"/>
                </a:solidFill>
                <a:latin typeface="Vazirmatn" pitchFamily="34" charset="0"/>
                <a:ea typeface="Vazirmatn" pitchFamily="34" charset="-122"/>
                <a:cs typeface="Vazirmatn" pitchFamily="34" charset="-120"/>
              </a:rPr>
              <a:t>مفهوم اصلی این مقاله، ارائه یک رهیافت یکپارچه برای تفسیر پیش بینی ها است. این رهیافت شامل شناسایی یک کلاس جدید از اندازه گیری های اهمیت ویژگی ها می باشد.</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2743200" y="411480"/>
            <a:ext cx="5790895" cy="0"/>
          </a:xfrm>
          <a:prstGeom prst="rect">
            <a:avLst/>
          </a:prstGeom>
          <a:noFill/>
          <a:ln/>
        </p:spPr>
        <p:txBody>
          <a:bodyPr wrap="square" lIns="0" tIns="0" rIns="0" bIns="0" rtlCol="0" anchor="ctr">
            <a:normAutofit/>
          </a:bodyPr>
          <a:lstStyle>
            <a:lvl1pPr algn="l"/>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روش شناسی و فرآیند کار</a:t>
            </a:r>
            <a:endParaRPr lang="en-US" sz="3200" dirty="0"/>
          </a:p>
        </p:txBody>
      </p:sp>
      <p:sp>
        <p:nvSpPr>
          <p:cNvPr id="3" name="Shape 1"/>
          <p:cNvSpPr/>
          <p:nvPr/>
        </p:nvSpPr>
        <p:spPr>
          <a:xfrm>
            <a:off x="2743200" y="1143000"/>
            <a:ext cx="5790895" cy="0"/>
          </a:xfrm>
          <a:prstGeom prst="line">
            <a:avLst/>
          </a:prstGeom>
          <a:noFill/>
          <a:ln w="12700">
            <a:solidFill>
              <a:srgbClr val="E2E8F0"/>
            </a:solidFill>
            <a:prstDash val="solid"/>
          </a:ln>
        </p:spPr>
      </p:sp>
      <p:sp>
        <p:nvSpPr>
          <p:cNvPr id="4" name="Text 2"/>
          <p:cNvSpPr/>
          <p:nvPr/>
        </p:nvSpPr>
        <p:spPr>
          <a:xfrm>
            <a:off x="2743200" y="1691640"/>
            <a:ext cx="5790895" cy="0"/>
          </a:xfrm>
          <a:prstGeom prst="rect">
            <a:avLst/>
          </a:prstGeom>
          <a:noFill/>
          <a:ln/>
        </p:spPr>
        <p:txBody>
          <a:bodyPr wrap="square" lIns="0" tIns="0" rIns="0" bIns="0" rtlCol="0" anchor="t">
            <a:normAutofit/>
          </a:bodyPr>
          <a:lstStyle>
            <a:lvl1pPr algn="l"/>
          </a:lstStyle>
          <a:p>
            <a:pPr rtl="1" algn="r" indent="0" marL="0">
              <a:buNone/>
            </a:pPr>
            <a:r>
              <a:rPr lang="en-US" sz="1400" dirty="0">
                <a:solidFill>
                  <a:srgbClr val="334155"/>
                </a:solidFill>
                <a:latin typeface="Vazirmatn" pitchFamily="34" charset="0"/>
                <a:ea typeface="Vazirmatn" pitchFamily="34" charset="-122"/>
                <a:cs typeface="Vazirmatn" pitchFamily="34" charset="-120"/>
              </a:rPr>
              <a:t>تعریف مدل تفسیری استفاده از نظریه بازی ها برای محاسبه اهمیت ویژگی ها ارائه روش های جدید برای بهبود عملکرد محاسباتی</a:t>
            </a:r>
            <a:endParaRPr lang="en-US" sz="1400" dirty="0"/>
          </a:p>
        </p:txBody>
      </p:sp>
      <p:sp>
        <p:nvSpPr>
          <p:cNvPr id="5" name="Shape 3"/>
          <p:cNvSpPr/>
          <p:nvPr/>
        </p:nvSpPr>
        <p:spPr>
          <a:xfrm>
            <a:off x="731520" y="3063240"/>
            <a:ext cx="5790895" cy="2743200"/>
          </a:xfrm>
          <a:prstGeom prst="roundRect">
            <a:avLst/>
          </a:prstGeom>
          <a:solidFill>
            <a:srgbClr val="EEF2FF"/>
          </a:solidFill>
          <a:ln w="12700">
            <a:solidFill>
              <a:srgbClr val="E2E8F0"/>
            </a:solidFill>
            <a:prstDash val="solid"/>
          </a:ln>
        </p:spPr>
      </p:sp>
      <p:sp>
        <p:nvSpPr>
          <p:cNvPr id="6" name="Text 4"/>
          <p:cNvSpPr/>
          <p:nvPr/>
        </p:nvSpPr>
        <p:spPr>
          <a:xfrm>
            <a:off x="914400" y="3291840"/>
            <a:ext cx="4206240" cy="320040"/>
          </a:xfrm>
          <a:prstGeom prst="rect">
            <a:avLst/>
          </a:prstGeom>
          <a:noFill/>
          <a:ln/>
        </p:spPr>
        <p:txBody>
          <a:bodyPr wrap="square" lIns="0" tIns="0" rIns="0" bIns="0" rtlCol="0" anchor="ctr"/>
          <a:lstStyle/>
          <a:p>
            <a:pPr rtl="1" algn="ctr" indent="0" marL="0">
              <a:buNone/>
            </a:pPr>
            <a:r>
              <a:rPr lang="en-US" sz="2000" b="1" dirty="0">
                <a:solidFill>
                  <a:srgbClr val="0F172A"/>
                </a:solidFill>
                <a:latin typeface="Vazirmatn" pitchFamily="34" charset="0"/>
                <a:ea typeface="Vazirmatn" pitchFamily="34" charset="-122"/>
                <a:cs typeface="Vazirmatn" pitchFamily="34" charset="-120"/>
              </a:rPr>
              <a:t>روش های قدیمی</a:t>
            </a:r>
            <a:endParaRPr lang="en-US" sz="2000" dirty="0"/>
          </a:p>
        </p:txBody>
      </p:sp>
      <p:sp>
        <p:nvSpPr>
          <p:cNvPr id="7" name="Shape 5"/>
          <p:cNvSpPr/>
          <p:nvPr/>
        </p:nvSpPr>
        <p:spPr>
          <a:xfrm>
            <a:off x="6400800" y="3063240"/>
            <a:ext cx="5790895" cy="2743200"/>
          </a:xfrm>
          <a:prstGeom prst="roundRect">
            <a:avLst/>
          </a:prstGeom>
          <a:solidFill>
            <a:srgbClr val="DCFCE7"/>
          </a:solidFill>
          <a:ln w="12700">
            <a:solidFill>
              <a:srgbClr val="E2E8F0"/>
            </a:solidFill>
            <a:prstDash val="solid"/>
          </a:ln>
        </p:spPr>
      </p:sp>
      <p:sp>
        <p:nvSpPr>
          <p:cNvPr id="8" name="Text 6"/>
          <p:cNvSpPr/>
          <p:nvPr/>
        </p:nvSpPr>
        <p:spPr>
          <a:xfrm>
            <a:off x="6583680" y="3291840"/>
            <a:ext cx="4206240" cy="320040"/>
          </a:xfrm>
          <a:prstGeom prst="rect">
            <a:avLst/>
          </a:prstGeom>
          <a:noFill/>
          <a:ln/>
        </p:spPr>
        <p:txBody>
          <a:bodyPr wrap="square" lIns="0" tIns="0" rIns="0" bIns="0" rtlCol="0" anchor="ctr"/>
          <a:lstStyle/>
          <a:p>
            <a:pPr rtl="1" algn="ctr" indent="0" marL="0">
              <a:buNone/>
            </a:pPr>
            <a:r>
              <a:rPr lang="en-US" sz="2000" b="1" dirty="0">
                <a:solidFill>
                  <a:srgbClr val="0F172A"/>
                </a:solidFill>
                <a:latin typeface="Vazirmatn" pitchFamily="34" charset="0"/>
                <a:ea typeface="Vazirmatn" pitchFamily="34" charset="-122"/>
                <a:cs typeface="Vazirmatn" pitchFamily="34" charset="-120"/>
              </a:rPr>
              <a:t>روش SHAP</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2743200" y="411480"/>
            <a:ext cx="5790895" cy="0"/>
          </a:xfrm>
          <a:prstGeom prst="rect">
            <a:avLst/>
          </a:prstGeom>
          <a:noFill/>
          <a:ln/>
        </p:spPr>
        <p:txBody>
          <a:bodyPr wrap="square" lIns="0" tIns="0" rIns="0" bIns="0" rtlCol="0" anchor="ctr">
            <a:normAutofit/>
          </a:bodyPr>
          <a:lstStyle>
            <a:lvl1pPr algn="l"/>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ساختار و طراحی سیستم</a:t>
            </a:r>
            <a:endParaRPr lang="en-US" sz="3200" dirty="0"/>
          </a:p>
        </p:txBody>
      </p:sp>
      <p:sp>
        <p:nvSpPr>
          <p:cNvPr id="3" name="Shape 1"/>
          <p:cNvSpPr/>
          <p:nvPr/>
        </p:nvSpPr>
        <p:spPr>
          <a:xfrm>
            <a:off x="2743200" y="1143000"/>
            <a:ext cx="5790895" cy="0"/>
          </a:xfrm>
          <a:prstGeom prst="line">
            <a:avLst/>
          </a:prstGeom>
          <a:noFill/>
          <a:ln w="12700">
            <a:solidFill>
              <a:srgbClr val="E2E8F0"/>
            </a:solidFill>
            <a:prstDash val="solid"/>
          </a:ln>
        </p:spPr>
      </p:sp>
      <p:sp>
        <p:nvSpPr>
          <p:cNvPr id="4" name="Text 2"/>
          <p:cNvSpPr/>
          <p:nvPr/>
        </p:nvSpPr>
        <p:spPr>
          <a:xfrm>
            <a:off x="2743200" y="1691640"/>
            <a:ext cx="5790895" cy="0"/>
          </a:xfrm>
          <a:prstGeom prst="rect">
            <a:avLst/>
          </a:prstGeom>
          <a:noFill/>
          <a:ln/>
        </p:spPr>
        <p:txBody>
          <a:bodyPr wrap="square" lIns="0" tIns="0" rIns="0" bIns="0" rtlCol="0" anchor="t">
            <a:normAutofit/>
          </a:bodyPr>
          <a:lstStyle>
            <a:lvl1pPr algn="l"/>
          </a:lstStyle>
          <a:p>
            <a:pPr rtl="1" algn="r" indent="0" marL="0">
              <a:buNone/>
            </a:pPr>
            <a:r>
              <a:rPr lang="en-US" sz="1400" dirty="0">
                <a:solidFill>
                  <a:srgbClr val="334155"/>
                </a:solidFill>
                <a:latin typeface="Vazirmatn" pitchFamily="34" charset="0"/>
                <a:ea typeface="Vazirmatn" pitchFamily="34" charset="-122"/>
                <a:cs typeface="Vazirmatn" pitchFamily="34" charset="-120"/>
              </a:rPr>
              <a:t>طراحی سیستم شامل سه مرحله اصلی است: ورودی داده، پردازش مدل و تولید تفسیر. این ساختار به بهبود قابلیت تفسیر مدل کمک می کند.</a:t>
            </a:r>
            <a:endParaRPr lang="en-US" sz="1400" dirty="0"/>
          </a:p>
        </p:txBody>
      </p:sp>
      <p:sp>
        <p:nvSpPr>
          <p:cNvPr id="5" name="Text 3"/>
          <p:cNvSpPr/>
          <p:nvPr/>
        </p:nvSpPr>
        <p:spPr>
          <a:xfrm>
            <a:off x="2743200" y="2788920"/>
            <a:ext cx="5790895" cy="0"/>
          </a:xfrm>
          <a:prstGeom prst="rect">
            <a:avLst/>
          </a:prstGeom>
          <a:noFill/>
          <a:ln/>
        </p:spPr>
        <p:txBody>
          <a:bodyPr wrap="square" lIns="0" tIns="0" rIns="0" bIns="0" rtlCol="0" anchor="t">
            <a:normAutofit/>
          </a:bodyPr>
          <a:lstStyle>
            <a:lvl1pPr algn="l"/>
          </a:lstStyle>
          <a:p>
            <a:pPr rtl="1" algn="r" indent="0" marL="0">
              <a:buNone/>
            </a:pPr>
            <a:r>
              <a:rPr lang="en-US" sz="1600" dirty="0">
                <a:solidFill>
                  <a:srgbClr val="334155"/>
                </a:solidFill>
                <a:latin typeface="Vazirmatn" pitchFamily="34" charset="0"/>
                <a:ea typeface="Vazirmatn" pitchFamily="34" charset="-122"/>
                <a:cs typeface="Vazirmatn" pitchFamily="34" charset="-120"/>
              </a:rPr>
              <a:t>ورودی داده پردازش مدل تولید تفسیر</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2743200" y="411480"/>
            <a:ext cx="5790895" cy="0"/>
          </a:xfrm>
          <a:prstGeom prst="rect">
            <a:avLst/>
          </a:prstGeom>
          <a:noFill/>
          <a:ln/>
        </p:spPr>
        <p:txBody>
          <a:bodyPr wrap="square" lIns="0" tIns="0" rIns="0" bIns="0" rtlCol="0" anchor="ctr">
            <a:normAutofit/>
          </a:bodyPr>
          <a:lstStyle>
            <a:lvl1pPr algn="l"/>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مکانیسم و جزئیات فنی</a:t>
            </a:r>
            <a:endParaRPr lang="en-US" sz="3200" dirty="0"/>
          </a:p>
        </p:txBody>
      </p:sp>
      <p:sp>
        <p:nvSpPr>
          <p:cNvPr id="3" name="Shape 1"/>
          <p:cNvSpPr/>
          <p:nvPr/>
        </p:nvSpPr>
        <p:spPr>
          <a:xfrm>
            <a:off x="2743200" y="1143000"/>
            <a:ext cx="5790895" cy="0"/>
          </a:xfrm>
          <a:prstGeom prst="line">
            <a:avLst/>
          </a:prstGeom>
          <a:noFill/>
          <a:ln w="12700">
            <a:solidFill>
              <a:srgbClr val="E2E8F0"/>
            </a:solidFill>
            <a:prstDash val="solid"/>
          </a:ln>
        </p:spPr>
      </p:sp>
      <p:sp>
        <p:nvSpPr>
          <p:cNvPr id="4" name="Text 2"/>
          <p:cNvSpPr/>
          <p:nvPr/>
        </p:nvSpPr>
        <p:spPr>
          <a:xfrm>
            <a:off x="2743200" y="1691640"/>
            <a:ext cx="5790895" cy="0"/>
          </a:xfrm>
          <a:prstGeom prst="rect">
            <a:avLst/>
          </a:prstGeom>
          <a:noFill/>
          <a:ln/>
        </p:spPr>
        <p:txBody>
          <a:bodyPr wrap="square" lIns="0" tIns="0" rIns="0" bIns="0" rtlCol="0" anchor="t">
            <a:normAutofit/>
          </a:bodyPr>
          <a:lstStyle>
            <a:lvl1pPr algn="l"/>
          </a:lstStyle>
          <a:p>
            <a:pPr rtl="1" algn="r" indent="0" marL="0">
              <a:buNone/>
            </a:pPr>
            <a:r>
              <a:rPr lang="en-US" sz="1400" dirty="0">
                <a:solidFill>
                  <a:srgbClr val="334155"/>
                </a:solidFill>
                <a:latin typeface="Vazirmatn" pitchFamily="34" charset="0"/>
                <a:ea typeface="Vazirmatn" pitchFamily="34" charset="-122"/>
                <a:cs typeface="Vazirmatn" pitchFamily="34" charset="-120"/>
              </a:rPr>
              <a:t>مکانیسم SHAP بر اساس محاسبه ارزش های شاپلی برای هر ویژگی است. این روش به طور خودکار ویژگی های مهم را شناسایی می کند و تفسیری قابل اعتماد ارائه می دهد.</a:t>
            </a:r>
            <a:endParaRPr lang="en-US" sz="1400" dirty="0"/>
          </a:p>
        </p:txBody>
      </p:sp>
      <p:sp>
        <p:nvSpPr>
          <p:cNvPr id="5" name="Shape 3"/>
          <p:cNvSpPr/>
          <p:nvPr/>
        </p:nvSpPr>
        <p:spPr>
          <a:xfrm>
            <a:off x="2743200" y="2788920"/>
            <a:ext cx="5790895" cy="0"/>
          </a:xfrm>
          <a:prstGeom prst="roundRect">
            <a:avLst/>
          </a:prstGeom>
          <a:solidFill>
            <a:srgbClr val="EEF2FF"/>
          </a:solidFill>
          <a:ln w="12700">
            <a:solidFill>
              <a:srgbClr val="10B981"/>
            </a:solidFill>
            <a:prstDash val="solid"/>
          </a:ln>
        </p:spPr>
      </p:sp>
      <p:sp>
        <p:nvSpPr>
          <p:cNvPr id="6" name="Text 4"/>
          <p:cNvSpPr/>
          <p:nvPr/>
        </p:nvSpPr>
        <p:spPr>
          <a:xfrm>
            <a:off x="3063240" y="2971800"/>
            <a:ext cx="5150815" cy="-365760"/>
          </a:xfrm>
          <a:prstGeom prst="rect">
            <a:avLst/>
          </a:prstGeom>
          <a:noFill/>
          <a:ln/>
        </p:spPr>
        <p:txBody>
          <a:bodyPr wrap="square" lIns="0" tIns="0" rIns="0" bIns="0" rtlCol="0" anchor="ctr">
            <a:normAutofit/>
          </a:bodyPr>
          <a:lstStyle/>
          <a:p>
            <a:pPr rtl="1" algn="r" indent="0" marL="0">
              <a:buNone/>
            </a:pPr>
            <a:r>
              <a:rPr lang="en-US" sz="1500" b="1" dirty="0">
                <a:solidFill>
                  <a:srgbClr val="10B981"/>
                </a:solidFill>
                <a:latin typeface="Vazirmatn" pitchFamily="34" charset="0"/>
                <a:ea typeface="Vazirmatn" pitchFamily="34" charset="-122"/>
                <a:cs typeface="Vazirmatn" pitchFamily="34" charset="-120"/>
              </a:rPr>
              <a:t>\text{SHAP}(i) = \sum_{j \in S} \phi_j</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2743200" y="411480"/>
            <a:ext cx="5790895" cy="0"/>
          </a:xfrm>
          <a:prstGeom prst="rect">
            <a:avLst/>
          </a:prstGeom>
          <a:noFill/>
          <a:ln/>
        </p:spPr>
        <p:txBody>
          <a:bodyPr wrap="square" lIns="0" tIns="0" rIns="0" bIns="0" rtlCol="0" anchor="ctr">
            <a:normAutofit/>
          </a:bodyPr>
          <a:lstStyle>
            <a:lvl1pPr algn="l"/>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ارزیابی، محدودیت ها، نتیجه گیری و تحقیقات آینده</a:t>
            </a:r>
            <a:endParaRPr lang="en-US" sz="3200" dirty="0"/>
          </a:p>
        </p:txBody>
      </p:sp>
      <p:sp>
        <p:nvSpPr>
          <p:cNvPr id="3" name="Shape 1"/>
          <p:cNvSpPr/>
          <p:nvPr/>
        </p:nvSpPr>
        <p:spPr>
          <a:xfrm>
            <a:off x="2743200" y="1143000"/>
            <a:ext cx="5790895" cy="0"/>
          </a:xfrm>
          <a:prstGeom prst="line">
            <a:avLst/>
          </a:prstGeom>
          <a:noFill/>
          <a:ln w="12700">
            <a:solidFill>
              <a:srgbClr val="E2E8F0"/>
            </a:solidFill>
            <a:prstDash val="solid"/>
          </a:ln>
        </p:spPr>
      </p:sp>
      <p:sp>
        <p:nvSpPr>
          <p:cNvPr id="4" name="Text 2"/>
          <p:cNvSpPr/>
          <p:nvPr/>
        </p:nvSpPr>
        <p:spPr>
          <a:xfrm>
            <a:off x="2743200" y="1691640"/>
            <a:ext cx="5790895" cy="0"/>
          </a:xfrm>
          <a:prstGeom prst="rect">
            <a:avLst/>
          </a:prstGeom>
          <a:noFill/>
          <a:ln/>
        </p:spPr>
        <p:txBody>
          <a:bodyPr wrap="square" lIns="0" tIns="0" rIns="0" bIns="0" rtlCol="0" anchor="t">
            <a:normAutofit/>
          </a:bodyPr>
          <a:lstStyle>
            <a:lvl1pPr algn="l"/>
          </a:lstStyle>
          <a:p>
            <a:pPr rtl="1" algn="r" indent="0" marL="0">
              <a:buNone/>
            </a:pPr>
            <a:r>
              <a:rPr lang="en-US" sz="1400" dirty="0">
                <a:solidFill>
                  <a:srgbClr val="334155"/>
                </a:solidFill>
                <a:latin typeface="Vazirmatn" pitchFamily="34" charset="0"/>
                <a:ea typeface="Vazirmatn" pitchFamily="34" charset="-122"/>
                <a:cs typeface="Vazirmatn" pitchFamily="34" charset="-120"/>
              </a:rPr>
              <a:t>این مقاله نشان می دهد که روش SHAP بهبود قابل توجهی در تطابق با دیدگاه انسانی و تفکیک کلاس های مدل ارائه می دهد. محدودیت هایی مانند پیچیدگی محاسباتی وجود دارد که نیاز به تحقیقات بیشتر دارد.</a:t>
            </a:r>
            <a:endParaRPr lang="en-US" sz="1400" dirty="0"/>
          </a:p>
        </p:txBody>
      </p:sp>
      <p:sp>
        <p:nvSpPr>
          <p:cNvPr id="5" name="Shape 3"/>
          <p:cNvSpPr/>
          <p:nvPr/>
        </p:nvSpPr>
        <p:spPr>
          <a:xfrm>
            <a:off x="2743200" y="2930236"/>
            <a:ext cx="5790895" cy="0"/>
          </a:xfrm>
          <a:prstGeom prst="roundRect">
            <a:avLst/>
          </a:prstGeom>
          <a:solidFill>
            <a:srgbClr val="F8FAFC"/>
          </a:solidFill>
          <a:ln w="12700">
            <a:solidFill>
              <a:srgbClr val="E2E8F0"/>
            </a:solidFill>
            <a:prstDash val="solid"/>
          </a:ln>
        </p:spPr>
      </p:sp>
      <p:sp>
        <p:nvSpPr>
          <p:cNvPr id="6" name="Text 4"/>
          <p:cNvSpPr/>
          <p:nvPr/>
        </p:nvSpPr>
        <p:spPr>
          <a:xfrm>
            <a:off x="2971800" y="3094828"/>
            <a:ext cx="5333695" cy="320040"/>
          </a:xfrm>
          <a:prstGeom prst="rect">
            <a:avLst/>
          </a:prstGeom>
          <a:noFill/>
          <a:ln/>
        </p:spPr>
        <p:txBody>
          <a:bodyPr wrap="square" lIns="0" tIns="0" rIns="0" bIns="0" rtlCol="0" anchor="ctr">
            <a:normAutofit/>
          </a:bodyPr>
          <a:lstStyle/>
          <a:p>
            <a:pPr rtl="1" algn="r" indent="0" marL="0">
              <a:buNone/>
            </a:pPr>
            <a:r>
              <a:rPr lang="en-US" sz="1700" b="1" dirty="0">
                <a:solidFill>
                  <a:srgbClr val="4F46E5"/>
                </a:solidFill>
                <a:latin typeface="Vazirmatn" pitchFamily="34" charset="0"/>
                <a:ea typeface="Vazirmatn" pitchFamily="34" charset="-122"/>
                <a:cs typeface="Vazirmatn" pitchFamily="34" charset="-120"/>
              </a:rPr>
              <a:t>insight box</a:t>
            </a:r>
            <a:endParaRPr lang="en-US" sz="1700" dirty="0"/>
          </a:p>
        </p:txBody>
      </p:sp>
      <p:sp>
        <p:nvSpPr>
          <p:cNvPr id="7" name="Text 5"/>
          <p:cNvSpPr/>
          <p:nvPr/>
        </p:nvSpPr>
        <p:spPr>
          <a:xfrm>
            <a:off x="2971800" y="3506308"/>
            <a:ext cx="5333695" cy="-713232"/>
          </a:xfrm>
          <a:prstGeom prst="rect">
            <a:avLst/>
          </a:prstGeom>
          <a:noFill/>
          <a:ln/>
        </p:spPr>
        <p:txBody>
          <a:bodyPr wrap="square" lIns="0" tIns="0" rIns="0" bIns="0" rtlCol="0" anchor="t">
            <a:normAutofit/>
          </a:bodyPr>
          <a:lstStyle/>
          <a:p>
            <a:pPr rtl="1" algn="r" indent="0" marL="0">
              <a:buNone/>
            </a:pPr>
            <a:r>
              <a:rPr lang="en-US" sz="1400" dirty="0">
                <a:solidFill>
                  <a:srgbClr val="334155"/>
                </a:solidFill>
                <a:latin typeface="Vazirmatn" pitchFamily="34" charset="0"/>
                <a:ea typeface="Vazirmatn" pitchFamily="34" charset="-122"/>
                <a:cs typeface="Vazirmatn" pitchFamily="34" charset="-120"/>
              </a:rPr>
              <a:t>نتیجه: روش SHAP یک چارچوب یکپارچه و قوی برای تفسیر مدل ها ارائه می دهد.</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2026-08-09T20:21:30Z</dcterms:created>
  <dcterms:modified xsi:type="dcterms:W3CDTF">2026-08-09T20:21:30Z</dcterms:modified>
</cp:coreProperties>
</file>