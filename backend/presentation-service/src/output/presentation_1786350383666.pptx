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1</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96012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تفسیر پیش بینی مدل ها در بسیاری از کاربردها به اندازه دقت پیش بینی خود مهم است. با این حال، مدل های پیچیده مانند مدل های یادگیری عمیق یا مجموعه ای، دشواری تفسیر را افزایش می دهند. این مقاله به یک چارچوب یکپارچه برای تفسیر پیش بینی ها می پردازد.</a:t>
            </a:r>
            <a:endParaRPr lang="en-US" sz="1500" dirty="0"/>
          </a:p>
        </p:txBody>
      </p:sp>
      <p:sp>
        <p:nvSpPr>
          <p:cNvPr id="5" name="Text 3"/>
          <p:cNvSpPr/>
          <p:nvPr/>
        </p:nvSpPr>
        <p:spPr>
          <a:xfrm>
            <a:off x="457200" y="2468880"/>
            <a:ext cx="8229600" cy="640080"/>
          </a:xfrm>
          <a:prstGeom prst="roundRect">
            <a:avLst/>
          </a:prstGeom>
          <a:solidFill>
            <a:srgbClr val="EDF2F7"/>
          </a:solidFill>
          <a:ln w="12700">
            <a:solidFill>
              <a:srgbClr val="CBD5E0"/>
            </a:solid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تفسیر پیش بینی: فرآیندی که به کاربران کمک می کند تا دلایل پیش بینی مدل را درک کنند.</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2</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مسئله اصلی این است که چگونه می توان مدل های پیچیده را تفسیر کرد. این مقاله به بررسی روش های موجود و ارائه یک چارچوب یکپارچه می پردازد.</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822960"/>
        </p:xfrm>
        <a:graphic>
          <a:graphicData uri="http://schemas.openxmlformats.org/drawingml/2006/table">
            <a:tbl>
              <a:tblPr/>
              <a:tblGrid>
                <a:gridCol w="4114800"/>
                <a:gridCol w="4114800"/>
              </a:tblGrid>
              <a:tr h="822960">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روش های جدید</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200" b="1" dirty="0">
                          <a:solidFill>
                            <a:srgbClr val="2C3E50"/>
                          </a:solidFill>
                          <a:latin typeface="Vazirmatn" pitchFamily="34" charset="0"/>
                          <a:ea typeface="Vazirmatn" pitchFamily="34" charset="-122"/>
                          <a:cs typeface="Vazirmatn" pitchFamily="34" charset="-120"/>
                        </a:rPr>
                        <a:t>روش های قدیمی</a:t>
                      </a:r>
                      <a:endParaRPr lang="en-US" sz="1200" dirty="0">
                        <a:latin typeface="Vazirmatn" charset="0"/>
                        <a:ea typeface="Vazirmatn" charset="0"/>
                        <a:cs typeface="Vazirmatn" charset="0"/>
                      </a:endParaRPr>
                    </a:p>
                  </a:txBody>
                  <a:tcPr marL="127000" marR="127000" marT="127000" marB="127000">
                    <a:lnL w="19050" cap="flat" cmpd="sng" algn="ctr">
                      <a:solidFill>
                        <a:srgbClr val="E2E8F0"/>
                      </a:solidFill>
                      <a:prstDash val="solid"/>
                      <a:round/>
                      <a:headEnd type="none" w="med" len="med"/>
                      <a:tailEnd type="none" w="med" len="med"/>
                    </a:lnL>
                    <a:lnR w="1905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3</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پس زمینه نظری شامل مفاهیمی مانند مدل های تفسیری و اهمیت ویژگی ها است. این مقاله به توضیح این مفاهیم می پردازد.</a:t>
            </a:r>
            <a:endParaRPr lang="en-US" sz="1500" dirty="0"/>
          </a:p>
        </p:txBody>
      </p:sp>
      <p:sp>
        <p:nvSpPr>
          <p:cNvPr id="5" name="Text 3"/>
          <p:cNvSpPr/>
          <p:nvPr/>
        </p:nvSpPr>
        <p:spPr>
          <a:xfrm>
            <a:off x="457200" y="2148840"/>
            <a:ext cx="8229600" cy="640080"/>
          </a:xfrm>
          <a:prstGeom prst="roundRect">
            <a:avLst/>
          </a:prstGeom>
          <a:solidFill>
            <a:srgbClr val="EBF4FF"/>
          </a:solidFill>
          <a:ln w="19050">
            <a:solidFill>
              <a:srgbClr val="A3BFFA"/>
            </a:solidFill>
          </a:ln>
        </p:spPr>
        <p:txBody>
          <a:bodyPr wrap="square" lIns="127000" tIns="190500" rIns="190500" bIns="127000" rtlCol="0" anchor="ctr"/>
          <a:lstStyle/>
          <a:p>
            <a:pPr rtl="1" algn="r" indent="0" marL="0">
              <a:buNone/>
            </a:pPr>
            <a:r>
              <a:rPr lang="en-US" sz="1500" b="1" dirty="0">
                <a:solidFill>
                  <a:srgbClr val="34495E"/>
                </a:solidFill>
                <a:latin typeface="Vazirmatn" pitchFamily="34" charset="0"/>
                <a:ea typeface="Vazirmatn" pitchFamily="34" charset="-122"/>
                <a:cs typeface="Vazirmatn" pitchFamily="34" charset="-120"/>
              </a:rPr>
              <a:t>اهمیت ویژگی مقداری که هر ویژگی به پیش بینی مدل کمک می کند.</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4</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oundRect">
            <a:avLst/>
          </a:prstGeom>
          <a:solidFill>
            <a:srgbClr val="EBF4FF"/>
          </a:solidFill>
          <a:ln w="19050">
            <a:solidFill>
              <a:srgbClr val="A3BFFA"/>
            </a:solidFill>
          </a:ln>
        </p:spPr>
        <p:txBody>
          <a:bodyPr wrap="square" lIns="127000" tIns="190500" rIns="190500" bIns="127000" rtlCol="0" anchor="ctr"/>
          <a:lstStyle/>
          <a:p>
            <a:pPr rtl="1" algn="r" indent="0" marL="0">
              <a:buNone/>
            </a:pPr>
            <a:r>
              <a:rPr lang="en-US" sz="1500" b="1" dirty="0">
                <a:solidFill>
                  <a:srgbClr val="34495E"/>
                </a:solidFill>
                <a:latin typeface="Vazirmatn" pitchFamily="34" charset="0"/>
                <a:ea typeface="Vazirmatn" pitchFamily="34" charset="-122"/>
                <a:cs typeface="Vazirmatn" pitchFamily="34" charset="-120"/>
              </a:rPr>
              <a:t>چارچوب SHAP یک چارچوب یکپارچه برای تفسیر پیش بینی ها که اهمیت ویژگی ها را تعیین می کند.</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5</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731520"/>
          </a:xfrm>
          <a:prstGeom prst="roundRect">
            <a:avLst/>
          </a:prstGeom>
          <a:solidFill>
            <a:srgbClr val="2980B9"/>
          </a:solidFill>
          <a:ln/>
        </p:spPr>
        <p:txBody>
          <a:bodyPr wrap="square" lIns="127000" tIns="190500" rIns="190500" bIns="127000" rtlCol="0" anchor="ctr"/>
          <a:lstStyle/>
          <a:p>
            <a:pPr rtl="1" algn="ctr" indent="0" marL="0">
              <a:buNone/>
            </a:pPr>
            <a:r>
              <a:rPr lang="en-US" sz="1500" b="1" dirty="0">
                <a:solidFill>
                  <a:srgbClr val="FFFFFF"/>
                </a:solidFill>
                <a:latin typeface="Vazirmatn" pitchFamily="34" charset="0"/>
                <a:ea typeface="Vazirmatn" pitchFamily="34" charset="-122"/>
                <a:cs typeface="Vazirmatn" pitchFamily="34" charset="-120"/>
              </a:rPr>
              <a:t>ورودی پردازش</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6</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2286000" y="1280160"/>
            <a:ext cx="4572000" cy="2560320"/>
          </a:xfrm>
          <a:prstGeom prst="roundRect">
            <a:avLst/>
          </a:prstGeom>
          <a:solidFill>
            <a:srgbClr val="F8F9FA"/>
          </a:solidFill>
          <a:ln w="12700">
            <a:solidFill>
              <a:srgbClr val="E2E8F0"/>
            </a:solidFill>
            <a:prstDash val="dash"/>
          </a:ln>
        </p:spPr>
        <p:txBody>
          <a:bodyPr wrap="square" rtlCol="0" anchor="ctr"/>
          <a:lstStyle/>
          <a:p>
            <a:pPr algn="ctr" indent="0" marL="0">
              <a:buNone/>
            </a:pPr>
            <a:r>
              <a:rPr lang="en-US" dirty="0">
                <a:solidFill>
                  <a:srgbClr val="A0AEC0"/>
                </a:solidFill>
                <a:latin typeface="Vazirmatn" pitchFamily="34" charset="0"/>
                <a:ea typeface="Vazirmatn" pitchFamily="34" charset="-122"/>
                <a:cs typeface="Vazirmatn" pitchFamily="34" charset="-120"/>
              </a:rPr>
              <a:t>ساختار چارچوب SHAP.</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7</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731520"/>
          </a:xfrm>
          <a:prstGeom prst="roundRect">
            <a:avLst/>
          </a:prstGeom>
          <a:solidFill>
            <a:srgbClr val="FDFEFE"/>
          </a:solidFill>
          <a:ln w="12700">
            <a:solidFill>
              <a:srgbClr val="E5E7E9"/>
            </a:solidFill>
          </a:ln>
        </p:spPr>
        <p:txBody>
          <a:bodyPr wrap="square" lIns="127000" tIns="190500" rIns="190500" bIns="127000" rtlCol="0" anchor="ctr"/>
          <a:lstStyle/>
          <a:p>
            <a:pPr rtl="1" algn="ctr" indent="0" marL="0">
              <a:buNone/>
            </a:pPr>
            <a:r>
              <a:rPr lang="en-US" sz="2000" b="1" i="1" dirty="0">
                <a:solidFill>
                  <a:srgbClr val="C0392B"/>
                </a:solidFill>
                <a:latin typeface="Cambria Math" pitchFamily="34" charset="0"/>
                <a:ea typeface="Cambria Math" pitchFamily="34" charset="-122"/>
                <a:cs typeface="Cambria Math" pitchFamily="34" charset="-120"/>
              </a:rPr>
              <a:t>SHAP = Σ (φ_i)</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rtl="1" algn="r" indent="0" marL="0">
              <a:buNone/>
            </a:pPr>
            <a:r>
              <a:rPr lang="en-US" sz="2800" b="1" dirty="0">
                <a:solidFill>
                  <a:srgbClr val="2C3E50"/>
                </a:solidFill>
                <a:latin typeface="Vazirmatn" pitchFamily="34" charset="0"/>
                <a:ea typeface="Vazirmatn" pitchFamily="34" charset="-122"/>
                <a:cs typeface="Vazirmatn" pitchFamily="34" charset="-120"/>
              </a:rPr>
              <a:t>صفحه 8</a:t>
            </a:r>
            <a:endParaRPr lang="en-US" sz="2800" dirty="0"/>
          </a:p>
        </p:txBody>
      </p:sp>
      <p:sp>
        <p:nvSpPr>
          <p:cNvPr id="3" name="Shape 1"/>
          <p:cNvSpPr/>
          <p:nvPr/>
        </p:nvSpPr>
        <p:spPr>
          <a:xfrm>
            <a:off x="457200" y="1051560"/>
            <a:ext cx="8229600" cy="0"/>
          </a:xfrm>
          <a:prstGeom prst="line">
            <a:avLst/>
          </a:prstGeom>
          <a:noFill/>
          <a:ln w="31750">
            <a:solidFill>
              <a:srgbClr val="3498DB"/>
            </a:solidFill>
            <a:prstDash val="solid"/>
          </a:ln>
        </p:spPr>
      </p:sp>
      <p:sp>
        <p:nvSpPr>
          <p:cNvPr id="4" name="Text 2"/>
          <p:cNvSpPr/>
          <p:nvPr/>
        </p:nvSpPr>
        <p:spPr>
          <a:xfrm>
            <a:off x="457200" y="1280160"/>
            <a:ext cx="8229600" cy="640080"/>
          </a:xfrm>
          <a:prstGeom prst="rect">
            <a:avLst/>
          </a:prstGeom>
          <a:no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ارزیابی چارچوب SHAP نشان می دهد که این روش بهتر از روش های قدیمی عمل می کند. محدودیت ها و پیشنهادات آینده نیز مورد بحث قرار می گیرد.</a:t>
            </a:r>
            <a:endParaRPr lang="en-US" sz="1500" dirty="0"/>
          </a:p>
        </p:txBody>
      </p:sp>
      <p:sp>
        <p:nvSpPr>
          <p:cNvPr id="5" name="Text 3"/>
          <p:cNvSpPr/>
          <p:nvPr/>
        </p:nvSpPr>
        <p:spPr>
          <a:xfrm>
            <a:off x="457200" y="2148840"/>
            <a:ext cx="8229600" cy="640080"/>
          </a:xfrm>
          <a:prstGeom prst="roundRect">
            <a:avLst/>
          </a:prstGeom>
          <a:solidFill>
            <a:srgbClr val="F0FFF4"/>
          </a:solidFill>
          <a:ln w="19050">
            <a:solidFill>
              <a:srgbClr val="9AE6B4"/>
            </a:solidFill>
          </a:ln>
        </p:spPr>
        <p:txBody>
          <a:bodyPr wrap="square" lIns="127000" tIns="190500" rIns="190500" bIns="127000" rtlCol="0" anchor="ctr"/>
          <a:lstStyle/>
          <a:p>
            <a:pPr rtl="1" algn="r" indent="0" marL="0">
              <a:buNone/>
            </a:pPr>
            <a:r>
              <a:rPr lang="en-US" sz="1500" dirty="0">
                <a:solidFill>
                  <a:srgbClr val="34495E"/>
                </a:solidFill>
                <a:latin typeface="Vazirmatn" pitchFamily="34" charset="0"/>
                <a:ea typeface="Vazirmatn" pitchFamily="34" charset="-122"/>
                <a:cs typeface="Vazirmatn" pitchFamily="34" charset="-120"/>
              </a:rPr>
              <a:t>تفسیر مدل ها با استفاده از SHAP می تواند به بهبود اعتماد کاربران کمک کند.</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2026-08-10T08:26:23Z</dcterms:created>
  <dcterms:modified xsi:type="dcterms:W3CDTF">2026-08-10T08:26:23Z</dcterms:modified>
</cp:coreProperties>
</file>