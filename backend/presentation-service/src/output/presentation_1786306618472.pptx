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14400" y="411480"/>
            <a:ext cx="10362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1</a:t>
            </a:r>
            <a:endParaRPr lang="en-US" sz="3200" dirty="0"/>
          </a:p>
        </p:txBody>
      </p:sp>
      <p:sp>
        <p:nvSpPr>
          <p:cNvPr id="3" name="Shape 1"/>
          <p:cNvSpPr/>
          <p:nvPr/>
        </p:nvSpPr>
        <p:spPr>
          <a:xfrm>
            <a:off x="914400" y="1143000"/>
            <a:ext cx="10362895" cy="0"/>
          </a:xfrm>
          <a:prstGeom prst="line">
            <a:avLst/>
          </a:prstGeom>
          <a:noFill/>
          <a:ln w="12700">
            <a:solidFill>
              <a:srgbClr val="E2E8F0"/>
            </a:solidFill>
            <a:prstDash val="solid"/>
          </a:ln>
        </p:spPr>
      </p:sp>
      <p:sp>
        <p:nvSpPr>
          <p:cNvPr id="4" name="Text 2"/>
          <p:cNvSpPr/>
          <p:nvPr/>
        </p:nvSpPr>
        <p:spPr>
          <a:xfrm>
            <a:off x="914400" y="1691640"/>
            <a:ext cx="10362895" cy="0"/>
          </a:xfrm>
          <a:prstGeom prst="rect">
            <a:avLst/>
          </a:prstGeom>
          <a:noFill/>
          <a:ln/>
        </p:spPr>
        <p:txBody>
          <a:bodyPr wrap="square" lIns="0" tIns="0" rIns="0" bIns="0" rtlCol="0" anchor="t">
            <a:normAutofit/>
          </a:bodyPr>
          <a:lstStyle>
            <a:lvl1pPr algn="l"/>
          </a:lstStyle>
          <a:p>
            <a:pPr rtl="1" algn="r" indent="0" marL="0">
              <a:buNone/>
            </a:pPr>
            <a:r>
              <a:rPr lang="en-US" sz="1200" dirty="0">
                <a:solidFill>
                  <a:srgbClr val="334155"/>
                </a:solidFill>
                <a:latin typeface="Vazirmatn" pitchFamily="34" charset="0"/>
                <a:ea typeface="Vazirmatn" pitchFamily="34" charset="-122"/>
                <a:cs typeface="Vazirmatn" pitchFamily="34" charset="-120"/>
              </a:rPr>
              <a:t>تفسیر پیش بینی مدل ها در بسیاری از کاربردها به اندازه دقت پیش بینی خود مهم است. با افزایش پیچیدگی مدل ها، نیاز به روش هایی که بتوانند این پیش بینی ها را تفسیر کنند، افزایش یافته است. این مقاله به معرفی یک چارچوب یکپارچه برای تفسیر پیش بینی ها می پردازد.</a:t>
            </a:r>
            <a:endParaRPr lang="en-US" sz="1200" dirty="0"/>
          </a:p>
        </p:txBody>
      </p:sp>
      <p:sp>
        <p:nvSpPr>
          <p:cNvPr id="5" name="Shape 3"/>
          <p:cNvSpPr/>
          <p:nvPr/>
        </p:nvSpPr>
        <p:spPr>
          <a:xfrm>
            <a:off x="914400" y="3200400"/>
            <a:ext cx="10362895" cy="0"/>
          </a:xfrm>
          <a:prstGeom prst="roundRect">
            <a:avLst/>
          </a:prstGeom>
          <a:solidFill>
            <a:srgbClr val="F8FAFC"/>
          </a:solidFill>
          <a:ln w="12700">
            <a:solidFill>
              <a:srgbClr val="E2E8F0"/>
            </a:solidFill>
            <a:prstDash val="solid"/>
          </a:ln>
        </p:spPr>
      </p:sp>
      <p:sp>
        <p:nvSpPr>
          <p:cNvPr id="6" name="Text 4"/>
          <p:cNvSpPr/>
          <p:nvPr/>
        </p:nvSpPr>
        <p:spPr>
          <a:xfrm>
            <a:off x="1143000" y="3364992"/>
            <a:ext cx="9905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definition box</a:t>
            </a:r>
            <a:endParaRPr lang="en-US" sz="1700" dirty="0"/>
          </a:p>
        </p:txBody>
      </p:sp>
      <p:sp>
        <p:nvSpPr>
          <p:cNvPr id="7" name="Text 5"/>
          <p:cNvSpPr/>
          <p:nvPr/>
        </p:nvSpPr>
        <p:spPr>
          <a:xfrm>
            <a:off x="1143000" y="3776472"/>
            <a:ext cx="9905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مدل تفسیری: مدلی که به تفسیر پیش بینی های یک مدل دیگر کمک می کند.</a:t>
            </a:r>
            <a:endParaRPr lang="en-US" sz="1400" dirty="0"/>
          </a:p>
        </p:txBody>
      </p:sp>
      <p:sp>
        <p:nvSpPr>
          <p:cNvPr id="8" name="Shape 6"/>
          <p:cNvSpPr/>
          <p:nvPr/>
        </p:nvSpPr>
        <p:spPr>
          <a:xfrm>
            <a:off x="914400" y="4754880"/>
            <a:ext cx="10362895" cy="0"/>
          </a:xfrm>
          <a:prstGeom prst="roundRect">
            <a:avLst/>
          </a:prstGeom>
          <a:solidFill>
            <a:srgbClr val="F8FAFC"/>
          </a:solidFill>
          <a:ln w="12700">
            <a:solidFill>
              <a:srgbClr val="E2E8F0"/>
            </a:solidFill>
            <a:prstDash val="solid"/>
          </a:ln>
        </p:spPr>
      </p:sp>
      <p:sp>
        <p:nvSpPr>
          <p:cNvPr id="9" name="Text 7"/>
          <p:cNvSpPr/>
          <p:nvPr/>
        </p:nvSpPr>
        <p:spPr>
          <a:xfrm>
            <a:off x="1143000" y="4919472"/>
            <a:ext cx="9905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concept card</a:t>
            </a:r>
            <a:endParaRPr lang="en-US" sz="1700" dirty="0"/>
          </a:p>
        </p:txBody>
      </p:sp>
      <p:sp>
        <p:nvSpPr>
          <p:cNvPr id="10" name="Text 8"/>
          <p:cNvSpPr/>
          <p:nvPr/>
        </p:nvSpPr>
        <p:spPr>
          <a:xfrm>
            <a:off x="1143000" y="5330952"/>
            <a:ext cx="9905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اهمیت تفسیر مدل تفسیر مدل به کاربران امکان می دهد تا بهتر با عملکرد مدل آشنا شوند و اعتماد لازم را به آن داشته باشند.</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14400" y="411480"/>
            <a:ext cx="10362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2</a:t>
            </a:r>
            <a:endParaRPr lang="en-US" sz="3200" dirty="0"/>
          </a:p>
        </p:txBody>
      </p:sp>
      <p:sp>
        <p:nvSpPr>
          <p:cNvPr id="3" name="Shape 1"/>
          <p:cNvSpPr/>
          <p:nvPr/>
        </p:nvSpPr>
        <p:spPr>
          <a:xfrm>
            <a:off x="914400" y="1143000"/>
            <a:ext cx="10362895" cy="0"/>
          </a:xfrm>
          <a:prstGeom prst="line">
            <a:avLst/>
          </a:prstGeom>
          <a:noFill/>
          <a:ln w="12700">
            <a:solidFill>
              <a:srgbClr val="E2E8F0"/>
            </a:solidFill>
            <a:prstDash val="solid"/>
          </a:ln>
        </p:spPr>
      </p:sp>
      <p:sp>
        <p:nvSpPr>
          <p:cNvPr id="4" name="Text 2"/>
          <p:cNvSpPr/>
          <p:nvPr/>
        </p:nvSpPr>
        <p:spPr>
          <a:xfrm>
            <a:off x="914400" y="1691640"/>
            <a:ext cx="10362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یکی از چالش های اصلی در تفسیر مدل ها، تضاد بین دقت و قابلیت تفسیر است. مدل های پیچیده ممکن است دقت بالایی داشته باشند اما تفسیر آن ها دشوار باشد. این مقاله به بررسی این چالش می پردازد.</a:t>
            </a:r>
            <a:endParaRPr lang="en-US" sz="1400" dirty="0"/>
          </a:p>
        </p:txBody>
      </p:sp>
      <p:sp>
        <p:nvSpPr>
          <p:cNvPr id="5" name="Shape 3"/>
          <p:cNvSpPr/>
          <p:nvPr/>
        </p:nvSpPr>
        <p:spPr>
          <a:xfrm>
            <a:off x="914400" y="2913611"/>
            <a:ext cx="10362895" cy="0"/>
          </a:xfrm>
          <a:prstGeom prst="roundRect">
            <a:avLst/>
          </a:prstGeom>
          <a:solidFill>
            <a:srgbClr val="F8FAFC"/>
          </a:solidFill>
          <a:ln w="12700">
            <a:solidFill>
              <a:srgbClr val="E2E8F0"/>
            </a:solidFill>
            <a:prstDash val="solid"/>
          </a:ln>
        </p:spPr>
      </p:sp>
      <p:sp>
        <p:nvSpPr>
          <p:cNvPr id="6" name="Text 4"/>
          <p:cNvSpPr/>
          <p:nvPr/>
        </p:nvSpPr>
        <p:spPr>
          <a:xfrm>
            <a:off x="1143000" y="3078203"/>
            <a:ext cx="9905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insight box</a:t>
            </a:r>
            <a:endParaRPr lang="en-US" sz="1700" dirty="0"/>
          </a:p>
        </p:txBody>
      </p:sp>
      <p:sp>
        <p:nvSpPr>
          <p:cNvPr id="7" name="Text 5"/>
          <p:cNvSpPr/>
          <p:nvPr/>
        </p:nvSpPr>
        <p:spPr>
          <a:xfrm>
            <a:off x="1143000" y="3489683"/>
            <a:ext cx="9905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تضاد بین دقت و قابلیت تفسیر مدل ها یک چالش اصلی در حوزه یادگیری ماشین است.</a:t>
            </a:r>
            <a:endParaRPr lang="en-US" sz="1400" dirty="0"/>
          </a:p>
        </p:txBody>
      </p:sp>
      <p:sp>
        <p:nvSpPr>
          <p:cNvPr id="8" name="Shape 6"/>
          <p:cNvSpPr/>
          <p:nvPr/>
        </p:nvSpPr>
        <p:spPr>
          <a:xfrm>
            <a:off x="731520" y="4468091"/>
            <a:ext cx="10362895" cy="2743200"/>
          </a:xfrm>
          <a:prstGeom prst="roundRect">
            <a:avLst/>
          </a:prstGeom>
          <a:solidFill>
            <a:srgbClr val="EEF2FF"/>
          </a:solidFill>
          <a:ln w="12700">
            <a:solidFill>
              <a:srgbClr val="E2E8F0"/>
            </a:solidFill>
            <a:prstDash val="solid"/>
          </a:ln>
        </p:spPr>
      </p:sp>
      <p:sp>
        <p:nvSpPr>
          <p:cNvPr id="9" name="Text 7"/>
          <p:cNvSpPr/>
          <p:nvPr/>
        </p:nvSpPr>
        <p:spPr>
          <a:xfrm>
            <a:off x="914400" y="4696691"/>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مدل های ساده</a:t>
            </a:r>
            <a:endParaRPr lang="en-US" sz="2000" dirty="0"/>
          </a:p>
        </p:txBody>
      </p:sp>
      <p:sp>
        <p:nvSpPr>
          <p:cNvPr id="10" name="Shape 8"/>
          <p:cNvSpPr/>
          <p:nvPr/>
        </p:nvSpPr>
        <p:spPr>
          <a:xfrm>
            <a:off x="6400800" y="4468091"/>
            <a:ext cx="10362895" cy="2743200"/>
          </a:xfrm>
          <a:prstGeom prst="roundRect">
            <a:avLst/>
          </a:prstGeom>
          <a:solidFill>
            <a:srgbClr val="DCFCE7"/>
          </a:solidFill>
          <a:ln w="12700">
            <a:solidFill>
              <a:srgbClr val="E2E8F0"/>
            </a:solidFill>
            <a:prstDash val="solid"/>
          </a:ln>
        </p:spPr>
      </p:sp>
      <p:sp>
        <p:nvSpPr>
          <p:cNvPr id="11" name="Text 9"/>
          <p:cNvSpPr/>
          <p:nvPr/>
        </p:nvSpPr>
        <p:spPr>
          <a:xfrm>
            <a:off x="6583680" y="4696691"/>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مدل های پیچیده</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14400" y="411480"/>
            <a:ext cx="10362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3</a:t>
            </a:r>
            <a:endParaRPr lang="en-US" sz="3200" dirty="0"/>
          </a:p>
        </p:txBody>
      </p:sp>
      <p:sp>
        <p:nvSpPr>
          <p:cNvPr id="3" name="Shape 1"/>
          <p:cNvSpPr/>
          <p:nvPr/>
        </p:nvSpPr>
        <p:spPr>
          <a:xfrm>
            <a:off x="914400" y="1143000"/>
            <a:ext cx="10362895" cy="0"/>
          </a:xfrm>
          <a:prstGeom prst="line">
            <a:avLst/>
          </a:prstGeom>
          <a:noFill/>
          <a:ln w="12700">
            <a:solidFill>
              <a:srgbClr val="E2E8F0"/>
            </a:solidFill>
            <a:prstDash val="solid"/>
          </a:ln>
        </p:spPr>
      </p:sp>
      <p:sp>
        <p:nvSpPr>
          <p:cNvPr id="4" name="Text 2"/>
          <p:cNvSpPr/>
          <p:nvPr/>
        </p:nvSpPr>
        <p:spPr>
          <a:xfrm>
            <a:off x="914400" y="1691640"/>
            <a:ext cx="10362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پس زمینه نظری این مقاله بر اساس نظریه بازی ها و ارزیابی اهمیت ویژگی ها است. مفهوم ارزیابی شاپلی به عنوان یک روش یکپارچه برای تفسیر مدل ها معرفی می شود.</a:t>
            </a:r>
            <a:endParaRPr lang="en-US" sz="1400" dirty="0"/>
          </a:p>
        </p:txBody>
      </p:sp>
      <p:sp>
        <p:nvSpPr>
          <p:cNvPr id="5" name="Shape 3"/>
          <p:cNvSpPr/>
          <p:nvPr/>
        </p:nvSpPr>
        <p:spPr>
          <a:xfrm>
            <a:off x="914400" y="2788920"/>
            <a:ext cx="10362895" cy="0"/>
          </a:xfrm>
          <a:prstGeom prst="roundRect">
            <a:avLst/>
          </a:prstGeom>
          <a:solidFill>
            <a:srgbClr val="F8FAFC"/>
          </a:solidFill>
          <a:ln w="12700">
            <a:solidFill>
              <a:srgbClr val="E2E8F0"/>
            </a:solidFill>
            <a:prstDash val="solid"/>
          </a:ln>
        </p:spPr>
      </p:sp>
      <p:sp>
        <p:nvSpPr>
          <p:cNvPr id="6" name="Text 4"/>
          <p:cNvSpPr/>
          <p:nvPr/>
        </p:nvSpPr>
        <p:spPr>
          <a:xfrm>
            <a:off x="1143000" y="2953512"/>
            <a:ext cx="9905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insight box</a:t>
            </a:r>
            <a:endParaRPr lang="en-US" sz="1700" dirty="0"/>
          </a:p>
        </p:txBody>
      </p:sp>
      <p:sp>
        <p:nvSpPr>
          <p:cNvPr id="7" name="Text 5"/>
          <p:cNvSpPr/>
          <p:nvPr/>
        </p:nvSpPr>
        <p:spPr>
          <a:xfrm>
            <a:off x="1143000" y="3364992"/>
            <a:ext cx="9905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نتایج نظریه بازی ها نشان می دهد که ارزیابی شاپلی یک راه حل منحصر به فرد برای اهمیت ویژگی ها است.</a:t>
            </a:r>
            <a:endParaRPr lang="en-US" sz="1400" dirty="0"/>
          </a:p>
        </p:txBody>
      </p:sp>
      <p:sp>
        <p:nvSpPr>
          <p:cNvPr id="8" name="Shape 6"/>
          <p:cNvSpPr/>
          <p:nvPr/>
        </p:nvSpPr>
        <p:spPr>
          <a:xfrm>
            <a:off x="914400" y="4343400"/>
            <a:ext cx="10362895" cy="0"/>
          </a:xfrm>
          <a:prstGeom prst="roundRect">
            <a:avLst/>
          </a:prstGeom>
          <a:solidFill>
            <a:srgbClr val="EEF2FF"/>
          </a:solidFill>
          <a:ln w="12700">
            <a:solidFill>
              <a:srgbClr val="10B981"/>
            </a:solidFill>
            <a:prstDash val="solid"/>
          </a:ln>
        </p:spPr>
      </p:sp>
      <p:sp>
        <p:nvSpPr>
          <p:cNvPr id="9" name="Text 7"/>
          <p:cNvSpPr/>
          <p:nvPr/>
        </p:nvSpPr>
        <p:spPr>
          <a:xfrm>
            <a:off x="1234440" y="4526280"/>
            <a:ext cx="9722815" cy="-365760"/>
          </a:xfrm>
          <a:prstGeom prst="rect">
            <a:avLst/>
          </a:prstGeom>
          <a:noFill/>
          <a:ln/>
        </p:spPr>
        <p:txBody>
          <a:bodyPr wrap="square" lIns="0" tIns="0" rIns="0" bIns="0" rtlCol="0" anchor="ctr">
            <a:normAutofit/>
          </a:bodyPr>
          <a:lstStyle/>
          <a:p>
            <a:pPr rtl="1" algn="r" indent="0" marL="0">
              <a:buNone/>
            </a:pPr>
            <a:r>
              <a:rPr lang="en-US" sz="1500" b="1" dirty="0">
                <a:solidFill>
                  <a:srgbClr val="10B981"/>
                </a:solidFill>
                <a:latin typeface="Vazirmatn" pitchFamily="34" charset="0"/>
                <a:ea typeface="Vazirmatn" pitchFamily="34" charset="-122"/>
                <a:cs typeface="Vazirmatn" pitchFamily="34" charset="-120"/>
              </a:rPr>
              <a:t>\phi_i = \frac{1}{n} \sum_{S \subseteq N \setminus \{i\}} \frac{|S|! (n - |S| - 1)!}{n!} (v(S \cup \{i\}) - v(S))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914400" y="411480"/>
            <a:ext cx="10362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4</a:t>
            </a:r>
            <a:endParaRPr lang="en-US" sz="3200" dirty="0"/>
          </a:p>
        </p:txBody>
      </p:sp>
      <p:sp>
        <p:nvSpPr>
          <p:cNvPr id="3" name="Shape 1"/>
          <p:cNvSpPr/>
          <p:nvPr/>
        </p:nvSpPr>
        <p:spPr>
          <a:xfrm>
            <a:off x="914400" y="1143000"/>
            <a:ext cx="10362895" cy="0"/>
          </a:xfrm>
          <a:prstGeom prst="line">
            <a:avLst/>
          </a:prstGeom>
          <a:noFill/>
          <a:ln w="12700">
            <a:solidFill>
              <a:srgbClr val="E2E8F0"/>
            </a:solidFill>
            <a:prstDash val="solid"/>
          </a:ln>
        </p:spPr>
      </p:sp>
      <p:sp>
        <p:nvSpPr>
          <p:cNvPr id="4" name="Text 2"/>
          <p:cNvSpPr/>
          <p:nvPr/>
        </p:nvSpPr>
        <p:spPr>
          <a:xfrm>
            <a:off x="914400" y="1691640"/>
            <a:ext cx="10362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این مقاله نشان می دهد که شاپلی می تواند به عنوان یک چارچوب یکپارچه برای تفسیر مدل ها عمل کند. این چارچوب شامل چندین روش موجود است.</a:t>
            </a:r>
            <a:endParaRPr lang="en-US" sz="1400" dirty="0"/>
          </a:p>
        </p:txBody>
      </p:sp>
      <p:sp>
        <p:nvSpPr>
          <p:cNvPr id="5" name="Shape 3"/>
          <p:cNvSpPr/>
          <p:nvPr/>
        </p:nvSpPr>
        <p:spPr>
          <a:xfrm>
            <a:off x="914400" y="2788920"/>
            <a:ext cx="10362895" cy="0"/>
          </a:xfrm>
          <a:prstGeom prst="roundRect">
            <a:avLst/>
          </a:prstGeom>
          <a:solidFill>
            <a:srgbClr val="F8FAFC"/>
          </a:solidFill>
          <a:ln w="12700">
            <a:solidFill>
              <a:srgbClr val="E2E8F0"/>
            </a:solidFill>
            <a:prstDash val="solid"/>
          </a:ln>
        </p:spPr>
      </p:sp>
      <p:sp>
        <p:nvSpPr>
          <p:cNvPr id="6" name="Text 4"/>
          <p:cNvSpPr/>
          <p:nvPr/>
        </p:nvSpPr>
        <p:spPr>
          <a:xfrm>
            <a:off x="1143000" y="2953512"/>
            <a:ext cx="9905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concept card</a:t>
            </a:r>
            <a:endParaRPr lang="en-US" sz="1700" dirty="0"/>
          </a:p>
        </p:txBody>
      </p:sp>
      <p:sp>
        <p:nvSpPr>
          <p:cNvPr id="7" name="Text 5"/>
          <p:cNvSpPr/>
          <p:nvPr/>
        </p:nvSpPr>
        <p:spPr>
          <a:xfrm>
            <a:off x="1143000" y="3364992"/>
            <a:ext cx="9905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شناخت مفهوم شاپلی شاپلی یک روش ریاضی برای توزیع ارزش بین بازیکنان در یک بازی است که در این مقاله به عنوان یک ابزار برای تفسیر مدل ها استفاده می شود.</a:t>
            </a:r>
            <a:endParaRPr lang="en-US" sz="1400" dirty="0"/>
          </a:p>
        </p:txBody>
      </p:sp>
      <p:sp>
        <p:nvSpPr>
          <p:cNvPr id="8" name="Text 6"/>
          <p:cNvSpPr/>
          <p:nvPr/>
        </p:nvSpPr>
        <p:spPr>
          <a:xfrm>
            <a:off x="914400" y="4343400"/>
            <a:ext cx="10362895" cy="0"/>
          </a:xfrm>
          <a:prstGeom prst="rect">
            <a:avLst/>
          </a:prstGeom>
          <a:noFill/>
          <a:ln/>
        </p:spPr>
        <p:txBody>
          <a:bodyPr wrap="square" lIns="0" tIns="0" rIns="0" bIns="0" rtlCol="0" anchor="t">
            <a:normAutofit/>
          </a:bodyPr>
          <a:lstStyle>
            <a:lvl1pPr algn="l"/>
          </a:lstStyle>
          <a:p>
            <a:pPr rtl="1" algn="r" indent="0" marL="0">
              <a:buNone/>
            </a:pPr>
            <a:r>
              <a:rPr lang="en-US" sz="1600" dirty="0">
                <a:solidFill>
                  <a:srgbClr val="334155"/>
                </a:solidFill>
                <a:latin typeface="Vazirmatn" pitchFamily="34" charset="0"/>
                <a:ea typeface="Vazirmatn" pitchFamily="34" charset="-122"/>
                <a:cs typeface="Vazirmatn" pitchFamily="34" charset="-120"/>
              </a:rPr>
              <a:t>تعریف مدل تفسیری محاسبه اهمیت ویژگی ها</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14400" y="411480"/>
            <a:ext cx="10362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5</a:t>
            </a:r>
            <a:endParaRPr lang="en-US" sz="3200" dirty="0"/>
          </a:p>
        </p:txBody>
      </p:sp>
      <p:sp>
        <p:nvSpPr>
          <p:cNvPr id="3" name="Shape 1"/>
          <p:cNvSpPr/>
          <p:nvPr/>
        </p:nvSpPr>
        <p:spPr>
          <a:xfrm>
            <a:off x="914400" y="1143000"/>
            <a:ext cx="10362895" cy="0"/>
          </a:xfrm>
          <a:prstGeom prst="line">
            <a:avLst/>
          </a:prstGeom>
          <a:noFill/>
          <a:ln w="12700">
            <a:solidFill>
              <a:srgbClr val="E2E8F0"/>
            </a:solidFill>
            <a:prstDash val="solid"/>
          </a:ln>
        </p:spPr>
      </p:sp>
      <p:sp>
        <p:nvSpPr>
          <p:cNvPr id="4" name="Text 2"/>
          <p:cNvSpPr/>
          <p:nvPr/>
        </p:nvSpPr>
        <p:spPr>
          <a:xfrm>
            <a:off x="914400" y="1691640"/>
            <a:ext cx="10362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روش ارائه شده در این مقاله شامل یک فرآیند چند مرحله ای است که ابتدا ورودی ها را پردازش کرده و سپس اهمیت ویژگی ها را محاسبه می کند.</a:t>
            </a:r>
            <a:endParaRPr lang="en-US" sz="1400" dirty="0"/>
          </a:p>
        </p:txBody>
      </p:sp>
      <p:sp>
        <p:nvSpPr>
          <p:cNvPr id="5" name="Text 3"/>
          <p:cNvSpPr/>
          <p:nvPr/>
        </p:nvSpPr>
        <p:spPr>
          <a:xfrm>
            <a:off x="914400" y="2788920"/>
            <a:ext cx="10362895" cy="0"/>
          </a:xfrm>
          <a:prstGeom prst="rect">
            <a:avLst/>
          </a:prstGeom>
          <a:noFill/>
          <a:ln/>
        </p:spPr>
        <p:txBody>
          <a:bodyPr wrap="square" lIns="0" tIns="0" rIns="0" bIns="0" rtlCol="0" anchor="t">
            <a:normAutofit/>
          </a:bodyPr>
          <a:lstStyle>
            <a:lvl1pPr algn="l"/>
          </a:lstStyle>
          <a:p>
            <a:pPr rtl="1" algn="r" indent="0" marL="0">
              <a:buNone/>
            </a:pPr>
            <a:r>
              <a:rPr lang="en-US" sz="1600" dirty="0">
                <a:solidFill>
                  <a:srgbClr val="334155"/>
                </a:solidFill>
                <a:latin typeface="Vazirmatn" pitchFamily="34" charset="0"/>
                <a:ea typeface="Vazirmatn" pitchFamily="34" charset="-122"/>
                <a:cs typeface="Vazirmatn" pitchFamily="34" charset="-120"/>
              </a:rPr>
              <a:t>ورودی پردازش خروجی</a:t>
            </a:r>
            <a:endParaRPr lang="en-US" sz="1600" dirty="0"/>
          </a:p>
        </p:txBody>
      </p:sp>
      <p:sp>
        <p:nvSpPr>
          <p:cNvPr id="6" name="Shape 4"/>
          <p:cNvSpPr/>
          <p:nvPr/>
        </p:nvSpPr>
        <p:spPr>
          <a:xfrm>
            <a:off x="731520" y="4160520"/>
            <a:ext cx="10362895" cy="2743200"/>
          </a:xfrm>
          <a:prstGeom prst="roundRect">
            <a:avLst/>
          </a:prstGeom>
          <a:solidFill>
            <a:srgbClr val="EEF2FF"/>
          </a:solidFill>
          <a:ln w="12700">
            <a:solidFill>
              <a:srgbClr val="E2E8F0"/>
            </a:solidFill>
            <a:prstDash val="solid"/>
          </a:ln>
        </p:spPr>
      </p:sp>
      <p:sp>
        <p:nvSpPr>
          <p:cNvPr id="7" name="Text 5"/>
          <p:cNvSpPr/>
          <p:nvPr/>
        </p:nvSpPr>
        <p:spPr>
          <a:xfrm>
            <a:off x="914400" y="4389120"/>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روش های قدیمی</a:t>
            </a:r>
            <a:endParaRPr lang="en-US" sz="2000" dirty="0"/>
          </a:p>
        </p:txBody>
      </p:sp>
      <p:sp>
        <p:nvSpPr>
          <p:cNvPr id="8" name="Shape 6"/>
          <p:cNvSpPr/>
          <p:nvPr/>
        </p:nvSpPr>
        <p:spPr>
          <a:xfrm>
            <a:off x="6400800" y="4160520"/>
            <a:ext cx="10362895" cy="2743200"/>
          </a:xfrm>
          <a:prstGeom prst="roundRect">
            <a:avLst/>
          </a:prstGeom>
          <a:solidFill>
            <a:srgbClr val="DCFCE7"/>
          </a:solidFill>
          <a:ln w="12700">
            <a:solidFill>
              <a:srgbClr val="E2E8F0"/>
            </a:solidFill>
            <a:prstDash val="solid"/>
          </a:ln>
        </p:spPr>
      </p:sp>
      <p:sp>
        <p:nvSpPr>
          <p:cNvPr id="9" name="Text 7"/>
          <p:cNvSpPr/>
          <p:nvPr/>
        </p:nvSpPr>
        <p:spPr>
          <a:xfrm>
            <a:off x="6583680" y="4389120"/>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روش شاپلی</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14400" y="411480"/>
            <a:ext cx="10362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6</a:t>
            </a:r>
            <a:endParaRPr lang="en-US" sz="3200" dirty="0"/>
          </a:p>
        </p:txBody>
      </p:sp>
      <p:sp>
        <p:nvSpPr>
          <p:cNvPr id="3" name="Shape 1"/>
          <p:cNvSpPr/>
          <p:nvPr/>
        </p:nvSpPr>
        <p:spPr>
          <a:xfrm>
            <a:off x="914400" y="1143000"/>
            <a:ext cx="10362895" cy="0"/>
          </a:xfrm>
          <a:prstGeom prst="line">
            <a:avLst/>
          </a:prstGeom>
          <a:noFill/>
          <a:ln w="12700">
            <a:solidFill>
              <a:srgbClr val="E2E8F0"/>
            </a:solidFill>
            <a:prstDash val="solid"/>
          </a:ln>
        </p:spPr>
      </p:sp>
      <p:sp>
        <p:nvSpPr>
          <p:cNvPr id="4" name="Text 2"/>
          <p:cNvSpPr/>
          <p:nvPr/>
        </p:nvSpPr>
        <p:spPr>
          <a:xfrm>
            <a:off x="914400" y="1691640"/>
            <a:ext cx="10362895" cy="0"/>
          </a:xfrm>
          <a:prstGeom prst="rect">
            <a:avLst/>
          </a:prstGeom>
          <a:noFill/>
          <a:ln/>
        </p:spPr>
        <p:txBody>
          <a:bodyPr wrap="square" lIns="0" tIns="0" rIns="0" bIns="0" rtlCol="0" anchor="t">
            <a:normAutofit/>
          </a:bodyPr>
          <a:lstStyle>
            <a:lvl1pPr algn="l"/>
          </a:lstStyle>
          <a:p>
            <a:pPr rtl="1" algn="r" indent="0" marL="0">
              <a:buNone/>
            </a:pPr>
            <a:r>
              <a:rPr lang="en-US" sz="1600" dirty="0">
                <a:solidFill>
                  <a:srgbClr val="334155"/>
                </a:solidFill>
                <a:latin typeface="Vazirmatn" pitchFamily="34" charset="0"/>
                <a:ea typeface="Vazirmatn" pitchFamily="34" charset="-122"/>
                <a:cs typeface="Vazirmatn" pitchFamily="34" charset="-120"/>
              </a:rPr>
              <a:t>معماری این چارچوب شامل لایه هایی برای پردازش ورودی، محاسبه اهمیت ویژگی ها و تولید تفسیر است.</a:t>
            </a:r>
            <a:endParaRPr lang="en-US" sz="1600" dirty="0"/>
          </a:p>
        </p:txBody>
      </p:sp>
      <p:sp>
        <p:nvSpPr>
          <p:cNvPr id="5" name="Shape 3"/>
          <p:cNvSpPr/>
          <p:nvPr/>
        </p:nvSpPr>
        <p:spPr>
          <a:xfrm>
            <a:off x="914400" y="2788920"/>
            <a:ext cx="10362895" cy="0"/>
          </a:xfrm>
          <a:prstGeom prst="roundRect">
            <a:avLst/>
          </a:prstGeom>
          <a:solidFill>
            <a:srgbClr val="F8FAFC"/>
          </a:solidFill>
          <a:ln w="12700">
            <a:solidFill>
              <a:srgbClr val="E2E8F0"/>
            </a:solidFill>
            <a:prstDash val="solid"/>
          </a:ln>
        </p:spPr>
      </p:sp>
      <p:sp>
        <p:nvSpPr>
          <p:cNvPr id="6" name="Text 4"/>
          <p:cNvSpPr/>
          <p:nvPr/>
        </p:nvSpPr>
        <p:spPr>
          <a:xfrm>
            <a:off x="1143000" y="2953512"/>
            <a:ext cx="9905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concept card</a:t>
            </a:r>
            <a:endParaRPr lang="en-US" sz="1700" dirty="0"/>
          </a:p>
        </p:txBody>
      </p:sp>
      <p:sp>
        <p:nvSpPr>
          <p:cNvPr id="7" name="Text 5"/>
          <p:cNvSpPr/>
          <p:nvPr/>
        </p:nvSpPr>
        <p:spPr>
          <a:xfrm>
            <a:off x="1143000" y="3364992"/>
            <a:ext cx="9905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لایه های معماری لایه ورودی، لایه پردازش و لایه خروجی به ترتیب وظایف مختلفی را انجام می دهند.</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14400" y="411480"/>
            <a:ext cx="10362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7</a:t>
            </a:r>
            <a:endParaRPr lang="en-US" sz="3200" dirty="0"/>
          </a:p>
        </p:txBody>
      </p:sp>
      <p:sp>
        <p:nvSpPr>
          <p:cNvPr id="3" name="Shape 1"/>
          <p:cNvSpPr/>
          <p:nvPr/>
        </p:nvSpPr>
        <p:spPr>
          <a:xfrm>
            <a:off x="914400" y="1143000"/>
            <a:ext cx="10362895" cy="0"/>
          </a:xfrm>
          <a:prstGeom prst="line">
            <a:avLst/>
          </a:prstGeom>
          <a:noFill/>
          <a:ln w="12700">
            <a:solidFill>
              <a:srgbClr val="E2E8F0"/>
            </a:solidFill>
            <a:prstDash val="solid"/>
          </a:ln>
        </p:spPr>
      </p:sp>
      <p:sp>
        <p:nvSpPr>
          <p:cNvPr id="4" name="Text 2"/>
          <p:cNvSpPr/>
          <p:nvPr/>
        </p:nvSpPr>
        <p:spPr>
          <a:xfrm>
            <a:off x="914400" y="1691640"/>
            <a:ext cx="10362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مکانیسم این چارچوب بر اساس محاسبه ارزیابی شاپلی است که به عنوان یک روش ریاضی برای تفسیر مدل ها استفاده می شود. این روش به طور کلی بهبودی در سازگاری با دیدگاه انسانی ارائه می دهد.</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14400" y="411480"/>
            <a:ext cx="10362895" cy="0"/>
          </a:xfrm>
          <a:prstGeom prst="rect">
            <a:avLst/>
          </a:prstGeom>
          <a:noFill/>
          <a:ln/>
        </p:spPr>
        <p:txBody>
          <a:bodyPr wrap="square" lIns="0" tIns="0" rIns="0" bIns="0" rtlCol="0" anchor="ctr">
            <a:normAutofit/>
          </a:bodyPr>
          <a:lstStyle>
            <a:lvl1pPr algn="l"/>
          </a:lstStyle>
          <a:p>
            <a:pPr rtl="1" algn="r" indent="0" marL="0">
              <a:buNone/>
            </a:pPr>
            <a:r>
              <a:rPr lang="en-US" sz="3200" b="1" dirty="0">
                <a:solidFill>
                  <a:srgbClr val="0EA5E9"/>
                </a:solidFill>
                <a:latin typeface="Vazirmatn" pitchFamily="34" charset="0"/>
                <a:ea typeface="Vazirmatn" pitchFamily="34" charset="-122"/>
                <a:cs typeface="Vazirmatn" pitchFamily="34" charset="-120"/>
              </a:rPr>
              <a:t>صفحه 8</a:t>
            </a:r>
            <a:endParaRPr lang="en-US" sz="3200" dirty="0"/>
          </a:p>
        </p:txBody>
      </p:sp>
      <p:sp>
        <p:nvSpPr>
          <p:cNvPr id="3" name="Shape 1"/>
          <p:cNvSpPr/>
          <p:nvPr/>
        </p:nvSpPr>
        <p:spPr>
          <a:xfrm>
            <a:off x="914400" y="1143000"/>
            <a:ext cx="10362895" cy="0"/>
          </a:xfrm>
          <a:prstGeom prst="line">
            <a:avLst/>
          </a:prstGeom>
          <a:noFill/>
          <a:ln w="12700">
            <a:solidFill>
              <a:srgbClr val="E2E8F0"/>
            </a:solidFill>
            <a:prstDash val="solid"/>
          </a:ln>
        </p:spPr>
      </p:sp>
      <p:sp>
        <p:nvSpPr>
          <p:cNvPr id="4" name="Text 2"/>
          <p:cNvSpPr/>
          <p:nvPr/>
        </p:nvSpPr>
        <p:spPr>
          <a:xfrm>
            <a:off x="914400" y="1691640"/>
            <a:ext cx="10362895" cy="0"/>
          </a:xfrm>
          <a:prstGeom prst="rect">
            <a:avLst/>
          </a:prstGeom>
          <a:noFill/>
          <a:ln/>
        </p:spPr>
        <p:txBody>
          <a:bodyPr wrap="square" lIns="0" tIns="0" rIns="0" bIns="0" rtlCol="0" anchor="t">
            <a:normAutofit/>
          </a:bodyPr>
          <a:lstStyle>
            <a:lvl1pPr algn="l"/>
          </a:lstStyle>
          <a:p>
            <a:pPr rtl="1" algn="r" indent="0" marL="0">
              <a:buNone/>
            </a:pPr>
            <a:r>
              <a:rPr lang="en-US" sz="1400" dirty="0">
                <a:solidFill>
                  <a:srgbClr val="334155"/>
                </a:solidFill>
                <a:latin typeface="Vazirmatn" pitchFamily="34" charset="0"/>
                <a:ea typeface="Vazirmatn" pitchFamily="34" charset="-122"/>
                <a:cs typeface="Vazirmatn" pitchFamily="34" charset="-120"/>
              </a:rPr>
              <a:t>ارزیابی این چارچوب نشان می دهد که این روش بهتر از روش های موجود در سازگاری با دیدگاه انسانی و تفکیک کلاس های مدل عمل می کند. محدودیت های این روش نیز مورد بررسی قرار می گیرد.</a:t>
            </a:r>
            <a:endParaRPr lang="en-US" sz="1400" dirty="0"/>
          </a:p>
        </p:txBody>
      </p:sp>
      <p:sp>
        <p:nvSpPr>
          <p:cNvPr id="5" name="Shape 3"/>
          <p:cNvSpPr/>
          <p:nvPr/>
        </p:nvSpPr>
        <p:spPr>
          <a:xfrm>
            <a:off x="914400" y="2867891"/>
            <a:ext cx="10362895" cy="0"/>
          </a:xfrm>
          <a:prstGeom prst="roundRect">
            <a:avLst/>
          </a:prstGeom>
          <a:solidFill>
            <a:srgbClr val="F8FAFC"/>
          </a:solidFill>
          <a:ln w="12700">
            <a:solidFill>
              <a:srgbClr val="E2E8F0"/>
            </a:solidFill>
            <a:prstDash val="solid"/>
          </a:ln>
        </p:spPr>
      </p:sp>
      <p:sp>
        <p:nvSpPr>
          <p:cNvPr id="6" name="Text 4"/>
          <p:cNvSpPr/>
          <p:nvPr/>
        </p:nvSpPr>
        <p:spPr>
          <a:xfrm>
            <a:off x="1143000" y="3032483"/>
            <a:ext cx="9905695" cy="320040"/>
          </a:xfrm>
          <a:prstGeom prst="rect">
            <a:avLst/>
          </a:prstGeom>
          <a:noFill/>
          <a:ln/>
        </p:spPr>
        <p:txBody>
          <a:bodyPr wrap="square" lIns="0" tIns="0" rIns="0" bIns="0" rtlCol="0" anchor="ctr">
            <a:normAutofit/>
          </a:bodyPr>
          <a:lstStyle/>
          <a:p>
            <a:pPr rtl="1" algn="r" indent="0" marL="0">
              <a:buNone/>
            </a:pPr>
            <a:r>
              <a:rPr lang="en-US" sz="1700" b="1" dirty="0">
                <a:solidFill>
                  <a:srgbClr val="4F46E5"/>
                </a:solidFill>
                <a:latin typeface="Vazirmatn" pitchFamily="34" charset="0"/>
                <a:ea typeface="Vazirmatn" pitchFamily="34" charset="-122"/>
                <a:cs typeface="Vazirmatn" pitchFamily="34" charset="-120"/>
              </a:rPr>
              <a:t>definition box</a:t>
            </a:r>
            <a:endParaRPr lang="en-US" sz="1700" dirty="0"/>
          </a:p>
        </p:txBody>
      </p:sp>
      <p:sp>
        <p:nvSpPr>
          <p:cNvPr id="7" name="Text 5"/>
          <p:cNvSpPr/>
          <p:nvPr/>
        </p:nvSpPr>
        <p:spPr>
          <a:xfrm>
            <a:off x="1143000" y="3443963"/>
            <a:ext cx="9905695" cy="-713232"/>
          </a:xfrm>
          <a:prstGeom prst="rect">
            <a:avLst/>
          </a:prstGeom>
          <a:noFill/>
          <a:ln/>
        </p:spPr>
        <p:txBody>
          <a:bodyPr wrap="square" lIns="0" tIns="0" rIns="0" bIns="0" rtlCol="0" anchor="t">
            <a:normAutofit/>
          </a:bodyPr>
          <a:lstStyle/>
          <a:p>
            <a:pPr rtl="1" algn="r" indent="0" marL="0">
              <a:buNone/>
            </a:pPr>
            <a:r>
              <a:rPr lang="en-US" sz="1400" dirty="0">
                <a:solidFill>
                  <a:srgbClr val="334155"/>
                </a:solidFill>
                <a:latin typeface="Vazirmatn" pitchFamily="34" charset="0"/>
                <a:ea typeface="Vazirmatn" pitchFamily="34" charset="-122"/>
                <a:cs typeface="Vazirmatn" pitchFamily="34" charset="-120"/>
              </a:rPr>
              <a:t>محدودیت ها: محاسبه ارزیابی شاپلی ممکن است برای مدل های بزرگ زمان ببر باشد.</a:t>
            </a:r>
            <a:endParaRPr lang="en-US" sz="1400" dirty="0"/>
          </a:p>
        </p:txBody>
      </p:sp>
      <p:sp>
        <p:nvSpPr>
          <p:cNvPr id="8" name="Shape 6"/>
          <p:cNvSpPr/>
          <p:nvPr/>
        </p:nvSpPr>
        <p:spPr>
          <a:xfrm>
            <a:off x="731520" y="4422371"/>
            <a:ext cx="10362895" cy="2743200"/>
          </a:xfrm>
          <a:prstGeom prst="roundRect">
            <a:avLst/>
          </a:prstGeom>
          <a:solidFill>
            <a:srgbClr val="EEF2FF"/>
          </a:solidFill>
          <a:ln w="12700">
            <a:solidFill>
              <a:srgbClr val="E2E8F0"/>
            </a:solidFill>
            <a:prstDash val="solid"/>
          </a:ln>
        </p:spPr>
      </p:sp>
      <p:sp>
        <p:nvSpPr>
          <p:cNvPr id="9" name="Text 7"/>
          <p:cNvSpPr/>
          <p:nvPr/>
        </p:nvSpPr>
        <p:spPr>
          <a:xfrm>
            <a:off x="914400" y="4650971"/>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شاپلی</a:t>
            </a:r>
            <a:endParaRPr lang="en-US" sz="2000" dirty="0"/>
          </a:p>
        </p:txBody>
      </p:sp>
      <p:sp>
        <p:nvSpPr>
          <p:cNvPr id="10" name="Shape 8"/>
          <p:cNvSpPr/>
          <p:nvPr/>
        </p:nvSpPr>
        <p:spPr>
          <a:xfrm>
            <a:off x="6400800" y="4422371"/>
            <a:ext cx="10362895" cy="2743200"/>
          </a:xfrm>
          <a:prstGeom prst="roundRect">
            <a:avLst/>
          </a:prstGeom>
          <a:solidFill>
            <a:srgbClr val="DCFCE7"/>
          </a:solidFill>
          <a:ln w="12700">
            <a:solidFill>
              <a:srgbClr val="E2E8F0"/>
            </a:solidFill>
            <a:prstDash val="solid"/>
          </a:ln>
        </p:spPr>
      </p:sp>
      <p:sp>
        <p:nvSpPr>
          <p:cNvPr id="11" name="Text 9"/>
          <p:cNvSpPr/>
          <p:nvPr/>
        </p:nvSpPr>
        <p:spPr>
          <a:xfrm>
            <a:off x="6583680" y="4650971"/>
            <a:ext cx="4206240" cy="320040"/>
          </a:xfrm>
          <a:prstGeom prst="rect">
            <a:avLst/>
          </a:prstGeom>
          <a:noFill/>
          <a:ln/>
        </p:spPr>
        <p:txBody>
          <a:bodyPr wrap="square" lIns="0" tIns="0" rIns="0" bIns="0" rtlCol="0" anchor="ctr"/>
          <a:lstStyle/>
          <a:p>
            <a:pPr rtl="1" algn="ctr" indent="0" marL="0">
              <a:buNone/>
            </a:pPr>
            <a:r>
              <a:rPr lang="en-US" sz="2000" b="1" dirty="0">
                <a:solidFill>
                  <a:srgbClr val="0F172A"/>
                </a:solidFill>
                <a:latin typeface="Vazirmatn" pitchFamily="34" charset="0"/>
                <a:ea typeface="Vazirmatn" pitchFamily="34" charset="-122"/>
                <a:cs typeface="Vazirmatn" pitchFamily="34" charset="-120"/>
              </a:rPr>
              <a:t>روش های دیگر</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2026-08-09T20:16:58Z</dcterms:created>
  <dcterms:modified xsi:type="dcterms:W3CDTF">2026-08-09T20:16:58Z</dcterms:modified>
</cp:coreProperties>
</file>