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مقدمه، تعریف و اهمیت</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توانایی تفسیر صحیح خروجی یک مدل پیش بینی امر بسیار مهمی است. این توانایی باعث ایجاد اعتماد مناسب کاربر، ارائه دیدگاهی در مورد نحوه بهبود مدل، و حمایت از درک فرآیند مدل شده می شود. در برخی کاربردها، مدل های ساده (مثلاً مدل های خطی) اغلب به دلیل سادگی تفسیر، انتخاب می شوند، حتی اگر ممکن است دقت کمتری نسبت به مدل های پیچیده داشته باشند.</a:t>
            </a:r>
            <a:endParaRPr lang="en-US" sz="1200" dirty="0"/>
          </a:p>
        </p:txBody>
      </p:sp>
      <p:sp>
        <p:nvSpPr>
          <p:cNvPr id="5" name="Shape 3"/>
          <p:cNvSpPr/>
          <p:nvPr/>
        </p:nvSpPr>
        <p:spPr>
          <a:xfrm>
            <a:off x="2743200" y="3541222"/>
            <a:ext cx="4876495" cy="0"/>
          </a:xfrm>
          <a:prstGeom prst="roundRect">
            <a:avLst/>
          </a:prstGeom>
          <a:solidFill>
            <a:srgbClr val="F8FAFC"/>
          </a:solidFill>
          <a:ln w="12700">
            <a:solidFill>
              <a:srgbClr val="E2E8F0"/>
            </a:solidFill>
            <a:prstDash val="solid"/>
          </a:ln>
        </p:spPr>
      </p:sp>
      <p:sp>
        <p:nvSpPr>
          <p:cNvPr id="6" name="Text 4"/>
          <p:cNvSpPr/>
          <p:nvPr/>
        </p:nvSpPr>
        <p:spPr>
          <a:xfrm>
            <a:off x="2971800" y="3705814"/>
            <a:ext cx="44192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4117294"/>
            <a:ext cx="44192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مدل پیش بینی: مدلی که برای پیش بینی نتایج بر اساس ورودی های داده شده طراحی شده است.</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بیان مسئله و انگیزه</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افزایش دسترسی به داده های بزرگ باعث افزایش مزایای استفاده از مدل های پیچیده شده است، که باعث ایجاد تعارض بین دقت و قابلیت تفسیر خروجی مدل می شود. روش های مختلفی برای حل این مشکل ارائه شده اند، اما درک ارتباط بین این روش ها و تعیین روش بهتر در هر شرایط هنوز کامل نیست.</a:t>
            </a:r>
            <a:endParaRPr lang="en-US" sz="1200" dirty="0"/>
          </a:p>
        </p:txBody>
      </p:sp>
      <p:sp>
        <p:nvSpPr>
          <p:cNvPr id="5" name="Shape 3"/>
          <p:cNvSpPr/>
          <p:nvPr/>
        </p:nvSpPr>
        <p:spPr>
          <a:xfrm>
            <a:off x="2743200" y="3258589"/>
            <a:ext cx="4876495" cy="0"/>
          </a:xfrm>
          <a:prstGeom prst="roundRect">
            <a:avLst/>
          </a:prstGeom>
          <a:solidFill>
            <a:srgbClr val="F8FAFC"/>
          </a:solidFill>
          <a:ln w="12700">
            <a:solidFill>
              <a:srgbClr val="E2E8F0"/>
            </a:solidFill>
            <a:prstDash val="solid"/>
          </a:ln>
        </p:spPr>
      </p:sp>
      <p:sp>
        <p:nvSpPr>
          <p:cNvPr id="6" name="Text 4"/>
          <p:cNvSpPr/>
          <p:nvPr/>
        </p:nvSpPr>
        <p:spPr>
          <a:xfrm>
            <a:off x="2971800" y="3423181"/>
            <a:ext cx="44192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2971800" y="3834661"/>
            <a:ext cx="44192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تعارض بین دقت و قابلیت تفسیر مدل ها یک چالش اصلی در حوزه ی یادگیری ماشین است.</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پیش زمینه و بنیان نظری</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روش های مختلفی برای تفسیر پیش بینی مدل ها ارائه شده اند، اما این روش ها معمولاً به صورت جداگانه مورد مطالعه قرار می گیرند. این مطالعه به دنبال یک چارچوب واحد برای تفسیر پیش بینی ها است که می تواند روش های موجود را تلفیق کند.</a:t>
            </a:r>
            <a:endParaRPr lang="en-US" sz="1200" dirty="0"/>
          </a:p>
        </p:txBody>
      </p:sp>
      <p:sp>
        <p:nvSpPr>
          <p:cNvPr id="5" name="Shape 3"/>
          <p:cNvSpPr/>
          <p:nvPr/>
        </p:nvSpPr>
        <p:spPr>
          <a:xfrm>
            <a:off x="2743200" y="3079865"/>
            <a:ext cx="4876495" cy="0"/>
          </a:xfrm>
          <a:prstGeom prst="roundRect">
            <a:avLst/>
          </a:prstGeom>
          <a:solidFill>
            <a:srgbClr val="F8FAFC"/>
          </a:solidFill>
          <a:ln w="12700">
            <a:solidFill>
              <a:srgbClr val="E2E8F0"/>
            </a:solidFill>
            <a:prstDash val="solid"/>
          </a:ln>
        </p:spPr>
      </p:sp>
      <p:sp>
        <p:nvSpPr>
          <p:cNvPr id="6" name="Text 4"/>
          <p:cNvSpPr/>
          <p:nvPr/>
        </p:nvSpPr>
        <p:spPr>
          <a:xfrm>
            <a:off x="2971800" y="3244457"/>
            <a:ext cx="44192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2971800" y="3655937"/>
            <a:ext cx="44192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روش های تفسیری روش هایی مانند SHAP، LIME، و مدل های خطی برای تفسیر پیش بینی ها استفاده می شوند.</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مفهوم اصلی و نوآوری</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مفهوم جدید ارائه شده، تفسیر پیش بینی ها به عنوان مدلی مستقل است. این رویکرد به تعریف رده ای جدید از روش های تخصیص ویژگی اضافی منجر می شود که شش روش موجود را تلفیق می کند.</a:t>
            </a:r>
            <a:endParaRPr lang="en-US" sz="1400" dirty="0"/>
          </a:p>
        </p:txBody>
      </p:sp>
      <p:sp>
        <p:nvSpPr>
          <p:cNvPr id="5" name="Shape 3"/>
          <p:cNvSpPr/>
          <p:nvPr/>
        </p:nvSpPr>
        <p:spPr>
          <a:xfrm>
            <a:off x="2743200" y="2855422"/>
            <a:ext cx="4876495" cy="0"/>
          </a:xfrm>
          <a:prstGeom prst="roundRect">
            <a:avLst/>
          </a:prstGeom>
          <a:solidFill>
            <a:srgbClr val="F8FAFC"/>
          </a:solidFill>
          <a:ln w="12700">
            <a:solidFill>
              <a:srgbClr val="E2E8F0"/>
            </a:solidFill>
            <a:prstDash val="solid"/>
          </a:ln>
        </p:spPr>
      </p:sp>
      <p:sp>
        <p:nvSpPr>
          <p:cNvPr id="6" name="Text 4"/>
          <p:cNvSpPr/>
          <p:nvPr/>
        </p:nvSpPr>
        <p:spPr>
          <a:xfrm>
            <a:off x="2971800" y="3020014"/>
            <a:ext cx="44192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2971800" y="3431494"/>
            <a:ext cx="44192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تلفیق روش های موجود در یک چارچوب واحد می تواند به بهبود قابلیت تفسیر و دقت مدل کمک کند.</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روش شناسی و فرآیند کار</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فرآیند کار شامل ایجاد مدل تفسیری، محاسبه اهمیت ویژگی ها، و ارزیابی نتایج است. این روش به کاربران اجازه می دهد تا بهتر با مدل ها تعامل کنند.</a:t>
            </a:r>
            <a:endParaRPr lang="en-US" sz="1400" dirty="0"/>
          </a:p>
        </p:txBody>
      </p:sp>
      <p:sp>
        <p:nvSpPr>
          <p:cNvPr id="5" name="Text 3"/>
          <p:cNvSpPr/>
          <p:nvPr/>
        </p:nvSpPr>
        <p:spPr>
          <a:xfrm>
            <a:off x="2743200" y="2788920"/>
            <a:ext cx="48764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ایجاد مدل تفسیری محاسبه اهمیت ویژگی ها</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ساختار و طراحی معماری</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معماری این چارچوب شامل بخش هایی برای پردازش ورودی، محاسبه اهمیت ویژگی ها، و ارائه نتایج است. این طراحی به افزایش کارایی و قابلیت اطمینان کمک می کند.</a:t>
            </a:r>
            <a:endParaRPr lang="en-US" sz="1400" dirty="0"/>
          </a:p>
        </p:txBody>
      </p:sp>
      <p:sp>
        <p:nvSpPr>
          <p:cNvPr id="5" name="Text 3"/>
          <p:cNvSpPr/>
          <p:nvPr/>
        </p:nvSpPr>
        <p:spPr>
          <a:xfrm>
            <a:off x="2743200" y="2788920"/>
            <a:ext cx="48764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ورودی پردازش نتیجه</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مکانیسم و جزئیات فنی</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مکانیسم اصلی این چارچوب بر اساس نظریه بازی ها و محاسبه ارزش های SHAP است. این روش به طور خودکار ویژگی های مهم را شناسایی می کند و نتایج را به صورت قابل فهم ارائه می دهد.</a:t>
            </a:r>
            <a:endParaRPr lang="en-US" sz="1400" dirty="0"/>
          </a:p>
        </p:txBody>
      </p:sp>
      <p:sp>
        <p:nvSpPr>
          <p:cNvPr id="5" name="Shape 3"/>
          <p:cNvSpPr/>
          <p:nvPr/>
        </p:nvSpPr>
        <p:spPr>
          <a:xfrm>
            <a:off x="2743200" y="2851265"/>
            <a:ext cx="4876495" cy="0"/>
          </a:xfrm>
          <a:prstGeom prst="roundRect">
            <a:avLst/>
          </a:prstGeom>
          <a:solidFill>
            <a:srgbClr val="EEF2FF"/>
          </a:solidFill>
          <a:ln w="12700">
            <a:solidFill>
              <a:srgbClr val="10B981"/>
            </a:solidFill>
            <a:prstDash val="solid"/>
          </a:ln>
        </p:spPr>
      </p:sp>
      <p:sp>
        <p:nvSpPr>
          <p:cNvPr id="6" name="Text 4"/>
          <p:cNvSpPr/>
          <p:nvPr/>
        </p:nvSpPr>
        <p:spPr>
          <a:xfrm>
            <a:off x="3063240" y="3034145"/>
            <a:ext cx="4236415" cy="-365760"/>
          </a:xfrm>
          <a:prstGeom prst="rect">
            <a:avLst/>
          </a:prstGeom>
          <a:noFill/>
          <a:ln/>
        </p:spPr>
        <p:txBody>
          <a:bodyPr wrap="square" lIns="0" tIns="0" rIns="0" bIns="0" rtlCol="0" anchor="ctr">
            <a:normAutofit/>
          </a:bodyPr>
          <a:lstStyle/>
          <a:p>
            <a:pPr rtl="1" algn="r" indent="0" marL="0">
              <a:buNone/>
            </a:pPr>
            <a:r>
              <a:rPr lang="en-US" sz="1500" b="1" dirty="0">
                <a:solidFill>
                  <a:srgbClr val="10B981"/>
                </a:solidFill>
                <a:latin typeface="Vazirmatn" pitchFamily="34" charset="0"/>
                <a:ea typeface="Vazirmatn" pitchFamily="34" charset="-122"/>
                <a:cs typeface="Vazirmatn" pitchFamily="34" charset="-120"/>
              </a:rPr>
              <a:t>\text{SHAP} = \sum_{i=1}^{n} \phi_i</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743200" y="411480"/>
            <a:ext cx="48764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ارزیابی، محدودیت ها، نتیجه گیری و تحقیقات آینده</a:t>
            </a:r>
            <a:endParaRPr lang="en-US" sz="3200" dirty="0"/>
          </a:p>
        </p:txBody>
      </p:sp>
      <p:sp>
        <p:nvSpPr>
          <p:cNvPr id="3" name="Shape 1"/>
          <p:cNvSpPr/>
          <p:nvPr/>
        </p:nvSpPr>
        <p:spPr>
          <a:xfrm>
            <a:off x="2743200" y="1143000"/>
            <a:ext cx="4876495" cy="0"/>
          </a:xfrm>
          <a:prstGeom prst="line">
            <a:avLst/>
          </a:prstGeom>
          <a:noFill/>
          <a:ln w="12700">
            <a:solidFill>
              <a:srgbClr val="E2E8F0"/>
            </a:solidFill>
            <a:prstDash val="solid"/>
          </a:ln>
        </p:spPr>
      </p:sp>
      <p:sp>
        <p:nvSpPr>
          <p:cNvPr id="4" name="Text 2"/>
          <p:cNvSpPr/>
          <p:nvPr/>
        </p:nvSpPr>
        <p:spPr>
          <a:xfrm>
            <a:off x="2743200" y="1691640"/>
            <a:ext cx="48764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این چارچوب با استفاده از مطالعات کاربری و مقایسه با روش های موجود ارزیابی شده است. محدودیت هایی مانند پیچیدگی محاسباتی وجود دارد، اما این روش به طور کلی بهبود قابل توجهی در قابلیت تفسیر ارائه می دهد.</a:t>
            </a:r>
            <a:endParaRPr lang="en-US" sz="1400" dirty="0"/>
          </a:p>
        </p:txBody>
      </p:sp>
      <p:sp>
        <p:nvSpPr>
          <p:cNvPr id="5" name="Shape 3"/>
          <p:cNvSpPr/>
          <p:nvPr/>
        </p:nvSpPr>
        <p:spPr>
          <a:xfrm>
            <a:off x="731520" y="2975956"/>
            <a:ext cx="4876495" cy="2743200"/>
          </a:xfrm>
          <a:prstGeom prst="roundRect">
            <a:avLst/>
          </a:prstGeom>
          <a:solidFill>
            <a:srgbClr val="EEF2FF"/>
          </a:solidFill>
          <a:ln w="12700">
            <a:solidFill>
              <a:srgbClr val="E2E8F0"/>
            </a:solidFill>
            <a:prstDash val="solid"/>
          </a:ln>
        </p:spPr>
      </p:sp>
      <p:sp>
        <p:nvSpPr>
          <p:cNvPr id="6" name="Text 4"/>
          <p:cNvSpPr/>
          <p:nvPr/>
        </p:nvSpPr>
        <p:spPr>
          <a:xfrm>
            <a:off x="914400" y="3204556"/>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SHAP</a:t>
            </a:r>
            <a:endParaRPr lang="en-US" sz="2000" dirty="0"/>
          </a:p>
        </p:txBody>
      </p:sp>
      <p:sp>
        <p:nvSpPr>
          <p:cNvPr id="7" name="Shape 5"/>
          <p:cNvSpPr/>
          <p:nvPr/>
        </p:nvSpPr>
        <p:spPr>
          <a:xfrm>
            <a:off x="6400800" y="2975956"/>
            <a:ext cx="4876495" cy="2743200"/>
          </a:xfrm>
          <a:prstGeom prst="roundRect">
            <a:avLst/>
          </a:prstGeom>
          <a:solidFill>
            <a:srgbClr val="DCFCE7"/>
          </a:solidFill>
          <a:ln w="12700">
            <a:solidFill>
              <a:srgbClr val="E2E8F0"/>
            </a:solidFill>
            <a:prstDash val="solid"/>
          </a:ln>
        </p:spPr>
      </p:sp>
      <p:sp>
        <p:nvSpPr>
          <p:cNvPr id="8" name="Text 6"/>
          <p:cNvSpPr/>
          <p:nvPr/>
        </p:nvSpPr>
        <p:spPr>
          <a:xfrm>
            <a:off x="6583680" y="3204556"/>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های قدیمی</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2026-08-09T20:20:15Z</dcterms:created>
  <dcterms:modified xsi:type="dcterms:W3CDTF">2026-08-09T20:20:15Z</dcterms:modified>
</cp:coreProperties>
</file>