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رویکرد یکپارچه برای تفسیر پیش‌بینی‌های مدل</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1097280"/>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تفسیر پیش‌بینی‌های مدل‌های پیچیده مانند یادگیری عمیق و مدل‌های انتگرالی، یکی از چالش‌های اصلی در حوزه یادگیری ماشین است. با افزایش داده‌های بزرگ، مدل‌های پیچیده به دلیل دقت بالا مورد توجه قرار می‌گیرند، اما این افزایش دقت با کاهش قابلیت تفسیر همراه است. این مطالعه به ارائه یک چارچوب یکپارچه به نام SHAP (SHapley Additive exPlanations) می‌پردازد که به تحلیل اهمیت ویژگی‌ها در پیش‌بینی‌های مدل کمک می‌کند.</a:t>
            </a:r>
            <a:endParaRPr lang="en-US" sz="1150" dirty="0"/>
          </a:p>
        </p:txBody>
      </p:sp>
      <p:sp>
        <p:nvSpPr>
          <p:cNvPr id="5" name="Text 3"/>
          <p:cNvSpPr/>
          <p:nvPr/>
        </p:nvSpPr>
        <p:spPr>
          <a:xfrm>
            <a:off x="548640" y="2130552"/>
            <a:ext cx="8046720" cy="768096"/>
          </a:xfrm>
          <a:prstGeom prst="roundRect">
            <a:avLst/>
          </a:prstGeom>
          <a:solidFill>
            <a:srgbClr val="F8FAFC"/>
          </a:solidFill>
          <a:ln w="12700">
            <a:solidFill>
              <a:srgbClr val="CBD5E1"/>
            </a:solid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تعریف تخصصی:</a:t>
            </a:r>
            <a:endParaRPr lang="en-US" sz="1150" dirty="0"/>
          </a:p>
          <a:p>
            <a:pPr rtl="1" algn="r" indent="0" marL="0">
              <a:buNone/>
            </a:pPr>
            <a:r>
              <a:rPr lang="en-US" sz="1150" dirty="0">
                <a:solidFill>
                  <a:srgbClr val="334155"/>
                </a:solidFill>
                <a:latin typeface="Vazirmatn" pitchFamily="34" charset="0"/>
                <a:ea typeface="Vazirmatn" pitchFamily="34" charset="-122"/>
                <a:cs typeface="Vazirmatn" pitchFamily="34" charset="-120"/>
              </a:rPr>
              <a:t>SHAP (SHapley Additive exPlanations) یک چارچوب یکپارچه برای تفسیر پیش‌بینی‌های مدل‌های یادگیری ماشین است که بر اساس نظریه بازی‌ها و ارزش‌های شاپلی ایجاد شده است. این چارچوب به تخصیص اهمیت ویژگی‌ها در پیش‌بینی‌های مدل کمک می‌کند.</a:t>
            </a:r>
            <a:endParaRPr lang="en-US" sz="1150" dirty="0"/>
          </a:p>
        </p:txBody>
      </p:sp>
      <p:sp>
        <p:nvSpPr>
          <p:cNvPr id="6" name="Text 4"/>
          <p:cNvSpPr/>
          <p:nvPr/>
        </p:nvSpPr>
        <p:spPr>
          <a:xfrm>
            <a:off x="548640" y="2971800"/>
            <a:ext cx="8046720" cy="548640"/>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یکپارچه‌سازی روش‌های مختلف تفسیر مدل‌ها با استفاده از نظریه بازی‌ها، به بهبود قابلیت تفسیر و اعتماد کاربران در مدل‌های پیچیده منجر می‌شود.</a:t>
            </a:r>
            <a:endParaRPr lang="en-US" sz="1150" dirty="0"/>
          </a:p>
        </p:txBody>
      </p:sp>
      <p:sp>
        <p:nvSpPr>
          <p:cNvPr id="7" name="Text 5"/>
          <p:cNvSpPr/>
          <p:nvPr/>
        </p:nvSpPr>
        <p:spPr>
          <a:xfrm>
            <a:off x="548640" y="3593592"/>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توضیحات تخصصی در مورد تفسیر مدل‌ها و اهمیت آن</a:t>
            </a:r>
            <a:endParaRPr lang="en-US" sz="1150" dirty="0"/>
          </a:p>
          <a:p>
            <a:pPr rtl="1" algn="r" indent="0" marL="0">
              <a:buNone/>
            </a:pPr>
            <a:r>
              <a:rPr lang="en-US" sz="1150" dirty="0">
                <a:solidFill>
                  <a:srgbClr val="334155"/>
                </a:solidFill>
                <a:latin typeface="Vazirmatn" pitchFamily="34" charset="0"/>
                <a:ea typeface="Vazirmatn" pitchFamily="34" charset="-122"/>
                <a:cs typeface="Vazirmatn" pitchFamily="34" charset="-120"/>
              </a:rPr>
              <a:t>این مطالعه به بررسی چالش‌های تفسیر مدل‌های پیچیده و ارائه یک چارچوب یکپارچه برای تحلیل پیش‌بینی‌ها می‌پردازد. این رویکرد به بهبود اعتماد کاربران، بهبود مدل‌ها و درک فرآیندهای مدل‌سازی کمک می‌کند.</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مقدمه تخصصی و ضرورت</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در حوزه‌هایی مانند تشخیص بیماری‌ها یا پیش‌بینی بازار، اعتماد کاربران به مدل‌ها به دلیل قابلیت تفسیر آن‌ها است. مدل‌های پیچیده با دقت بالا، اما با قابلیت تفسیر پایین، ممکن است به دلیل عدم شفافیت، مورد پذیرش قرار نگیرند. این مطالعه به ارائه یک چارچوب یکپارچه برای تفسیر این مدل‌ها می‌پردازد.</a:t>
            </a:r>
            <a:endParaRPr lang="en-US" sz="1150" dirty="0"/>
          </a:p>
        </p:txBody>
      </p:sp>
      <p:sp>
        <p:nvSpPr>
          <p:cNvPr id="5" name="Text 3"/>
          <p:cNvSpPr/>
          <p:nvPr/>
        </p:nvSpPr>
        <p:spPr>
          <a:xfrm>
            <a:off x="548640" y="1691640"/>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ضرورت تفسیر مدل‌ها در کاربردهای واقعی</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در کاربردهایی مانند پزشکی، مالی و حمل و نقل، تفسیر مدل‌ها برای تصمیم‌گیری‌های انسانی ضروری است. مدل‌های پیچیده مانند شبکه‌های عصبی عمیق، به دلیل عدم قابلیت تفسیر، محدودیت‌هایی در کاربردهای واقعی دارند.</a:t>
            </a:r>
            <a:endParaRPr lang="en-US" sz="1150" dirty="0"/>
          </a:p>
        </p:txBody>
      </p:sp>
      <p:sp>
        <p:nvSpPr>
          <p:cNvPr id="6" name="Text 4"/>
          <p:cNvSpPr/>
          <p:nvPr/>
        </p:nvSpPr>
        <p:spPr>
          <a:xfrm>
            <a:off x="548640" y="2423160"/>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تسریع فرآیند بهبود مدل‌ها با شناسایی ویژگی‌های کلیدی</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افزایش اعتماد کاربران به نتایج مدل‌ها</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کاهش خطرات ناشی از تصمیم‌گیری‌های نادرست به دلیل عدم تفسیر</a:t>
            </a:r>
            <a:endParaRPr lang="en-US" sz="1150" dirty="0"/>
          </a:p>
        </p:txBody>
      </p:sp>
      <p:sp>
        <p:nvSpPr>
          <p:cNvPr id="7" name="Text 5"/>
          <p:cNvSpPr/>
          <p:nvPr/>
        </p:nvSpPr>
        <p:spPr>
          <a:xfrm>
            <a:off x="548640" y="2935224"/>
            <a:ext cx="8046720" cy="548640"/>
          </a:xfrm>
          <a:prstGeom prst="roundRect">
            <a:avLst/>
          </a:prstGeom>
          <a:solidFill>
            <a:srgbClr val="F8FAFC"/>
          </a:solidFill>
          <a:ln w="12700">
            <a:solidFill>
              <a:srgbClr val="CBD5E1"/>
            </a:solidFill>
          </a:ln>
        </p:spPr>
        <p:txBody>
          <a:bodyPr wrap="square" lIns="50800" tIns="101600" rIns="101600" bIns="50800" rtlCol="0" anchor="ctr"/>
          <a:lstStyle/>
          <a:p>
            <a:pPr rtl="1" algn="ctr" indent="0" marL="0">
              <a:buNone/>
            </a:pPr>
            <a:r>
              <a:rPr lang="en-US" sz="1150" dirty="0">
                <a:solidFill>
                  <a:srgbClr val="334155"/>
                </a:solidFill>
                <a:latin typeface="Vazirmatn" pitchFamily="34" charset="0"/>
                <a:ea typeface="Vazirmatn" pitchFamily="34" charset="-122"/>
                <a:cs typeface="Vazirmatn" pitchFamily="34" charset="-120"/>
              </a:rPr>
              <a:t>روند اجرای فرآیند:</a:t>
            </a:r>
            <a:endParaRPr lang="en-US" sz="1150" dirty="0"/>
          </a:p>
          <a:p>
            <a:pPr rtl="1" algn="ctr" indent="0" marL="0">
              <a:buNone/>
            </a:pPr>
            <a:r>
              <a:rPr lang="en-US" sz="1150" dirty="0">
                <a:solidFill>
                  <a:srgbClr val="334155"/>
                </a:solidFill>
                <a:latin typeface="Vazirmatn" pitchFamily="34" charset="0"/>
                <a:ea typeface="Vazirmatn" pitchFamily="34" charset="-122"/>
                <a:cs typeface="Vazirmatn" pitchFamily="34" charset="-120"/>
              </a:rPr>
              <a:t>مرحله 1: شناسایی ویژگی‌های مهم در پیش‌بینی</a:t>
            </a:r>
            <a:endParaRPr lang="en-US" sz="1150" dirty="0"/>
          </a:p>
          <a:p>
            <a:pPr rtl="1" algn="ctr" indent="0" marL="0">
              <a:buNone/>
            </a:pPr>
            <a:r>
              <a:rPr lang="en-US" sz="1150" dirty="0">
                <a:solidFill>
                  <a:srgbClr val="334155"/>
                </a:solidFill>
                <a:latin typeface="Vazirmatn" pitchFamily="34" charset="0"/>
                <a:ea typeface="Vazirmatn" pitchFamily="34" charset="-122"/>
                <a:cs typeface="Vazirmatn" pitchFamily="34" charset="-120"/>
              </a:rPr>
              <a:t>⬇</a:t>
            </a:r>
            <a:endParaRPr lang="en-US" sz="1150" dirty="0"/>
          </a:p>
          <a:p>
            <a:pPr rtl="1" algn="ctr" indent="0" marL="0">
              <a:buNone/>
            </a:pPr>
            <a:r>
              <a:rPr lang="en-US" sz="1150" dirty="0">
                <a:solidFill>
                  <a:srgbClr val="334155"/>
                </a:solidFill>
                <a:latin typeface="Vazirmatn" pitchFamily="34" charset="0"/>
                <a:ea typeface="Vazirmatn" pitchFamily="34" charset="-122"/>
                <a:cs typeface="Vazirmatn" pitchFamily="34" charset="-120"/>
              </a:rPr>
              <a:t>مرحله 2: محاسبه اهمیت ویژگی‌ها با استفاده از نظریه بازی‌ها</a:t>
            </a:r>
            <a:endParaRPr lang="en-US" sz="1150" dirty="0"/>
          </a:p>
          <a:p>
            <a:pPr rtl="1" algn="ctr" indent="0" marL="0">
              <a:buNone/>
            </a:pPr>
            <a:r>
              <a:rPr lang="en-US" sz="1150" dirty="0">
                <a:solidFill>
                  <a:srgbClr val="334155"/>
                </a:solidFill>
                <a:latin typeface="Vazirmatn" pitchFamily="34" charset="0"/>
                <a:ea typeface="Vazirmatn" pitchFamily="34" charset="-122"/>
                <a:cs typeface="Vazirmatn" pitchFamily="34" charset="-120"/>
              </a:rPr>
              <a:t>⬇</a:t>
            </a:r>
            <a:endParaRPr lang="en-US" sz="1150" dirty="0"/>
          </a:p>
          <a:p>
            <a:pPr rtl="1" algn="ctr" indent="0" marL="0">
              <a:buNone/>
            </a:pPr>
            <a:r>
              <a:rPr lang="en-US" sz="1150" dirty="0">
                <a:solidFill>
                  <a:srgbClr val="334155"/>
                </a:solidFill>
                <a:latin typeface="Vazirmatn" pitchFamily="34" charset="0"/>
                <a:ea typeface="Vazirmatn" pitchFamily="34" charset="-122"/>
                <a:cs typeface="Vazirmatn" pitchFamily="34" charset="-120"/>
              </a:rPr>
              <a:t>مرحله 3: ارائه تفسیر قابل فهم برای کاربران</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تعریف مسئله و چالش‌های موجود</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یکی از چالش‌های اصلی در تفسیر مدل‌های پیچیده، عدم وجود یک چارچوب یکپارچه برای مقایسه روش‌های مختلف است. روش‌های مختلفی مانند LIME و SHAP، هر کدام دارای مزایا و معایبی هستند، اما هیچ یک به طور کامل نمی‌توانند تمام جنبه‌های تفسیر را پوشش دهند.</a:t>
            </a:r>
            <a:endParaRPr lang="en-US" sz="1150" dirty="0"/>
          </a:p>
        </p:txBody>
      </p:sp>
      <p:sp>
        <p:nvSpPr>
          <p:cNvPr id="5" name="Text 3"/>
          <p:cNvSpPr/>
          <p:nvPr/>
        </p:nvSpPr>
        <p:spPr>
          <a:xfrm>
            <a:off x="548640" y="1691640"/>
            <a:ext cx="8046720" cy="548640"/>
          </a:xfrm>
          <a:prstGeom prst="roundRect">
            <a:avLst/>
          </a:prstGeom>
          <a:solidFill>
            <a:srgbClr val="F8FAFC"/>
          </a:solidFill>
          <a:ln w="12700">
            <a:solidFill>
              <a:srgbClr val="CBD5E1"/>
            </a:solid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تعریف تخصصی:</a:t>
            </a:r>
            <a:endParaRPr lang="en-US" sz="1150" dirty="0"/>
          </a:p>
          <a:p>
            <a:pPr rtl="1" algn="r" indent="0" marL="0">
              <a:buNone/>
            </a:pPr>
            <a:r>
              <a:rPr lang="en-US" sz="1150" dirty="0">
                <a:solidFill>
                  <a:srgbClr val="334155"/>
                </a:solidFill>
                <a:latin typeface="Vazirmatn" pitchFamily="34" charset="0"/>
                <a:ea typeface="Vazirmatn" pitchFamily="34" charset="-122"/>
                <a:cs typeface="Vazirmatn" pitchFamily="34" charset="-120"/>
              </a:rPr>
              <a:t>مدل‌های پیچیده: مدل‌هایی با ساختارهای پیچیده و تعداد زیادی پارامتر که معمولاً دقت بالایی دارند اما قابلیت تفسیر پایینی دارند.</a:t>
            </a:r>
            <a:endParaRPr lang="en-US" sz="1150" dirty="0"/>
          </a:p>
        </p:txBody>
      </p:sp>
      <p:sp>
        <p:nvSpPr>
          <p:cNvPr id="6" name="Text 4"/>
          <p:cNvSpPr/>
          <p:nvPr/>
        </p:nvSpPr>
        <p:spPr>
          <a:xfrm>
            <a:off x="548640" y="2313432"/>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چالش‌های تفسیر مدل‌های پیچیده</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مدل‌های پیچیده مانند شبکه‌های عصبی عمیق، به دلیل تعداد زیادی لایه و پارامترها، قابلیت تفسیر پایینی دارند. این چالش باعث می‌شود که کاربران نتوانند به طور کامل به نتایج مدل اعتماد کنند.</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044952"/>
          <a:ext cx="8046720" cy="640080"/>
        </p:xfrm>
        <a:graphic>
          <a:graphicData uri="http://schemas.openxmlformats.org/drawingml/2006/table">
            <a:tbl>
              <a:tblPr/>
              <a:tblGrid>
                <a:gridCol w="4023360"/>
                <a:gridCol w="4023360"/>
              </a:tblGrid>
              <a:tr h="320040">
                <a:tc>
                  <a:txBody>
                    <a:bodyPr/>
                    <a:lstStyle/>
                    <a:p>
                      <a:pPr algn="ctr" indent="0" marL="0">
                        <a:buNone/>
                      </a:pPr>
                      <a:r>
                        <a:rPr lang="en-US" sz="1050" b="1" dirty="0">
                          <a:solidFill>
                            <a:srgbClr val="FFFFFF"/>
                          </a:solidFill>
                          <a:latin typeface="Vazirmatn" pitchFamily="34" charset="0"/>
                          <a:ea typeface="Vazirmatn" pitchFamily="34" charset="-122"/>
                          <a:cs typeface="Vazirmatn" pitchFamily="34" charset="-120"/>
                        </a:rPr>
                        <a:t>رویکرد پیشنهادی</a:t>
                      </a:r>
                      <a:endParaRPr lang="en-US" sz="105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50" b="1" dirty="0">
                          <a:solidFill>
                            <a:srgbClr val="FFFFFF"/>
                          </a:solidFill>
                          <a:latin typeface="Vazirmatn" pitchFamily="34" charset="0"/>
                          <a:ea typeface="Vazirmatn" pitchFamily="34" charset="-122"/>
                          <a:cs typeface="Vazirmatn" pitchFamily="34" charset="-120"/>
                        </a:rPr>
                        <a:t>رویکرد پایه / موجود</a:t>
                      </a:r>
                      <a:endParaRPr lang="en-US" sz="105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75569"/>
                    </a:solidFill>
                  </a:tcPr>
                </a:tc>
              </a:tr>
              <a:tr h="320040">
                <a:tc>
                  <a:txBody>
                    <a:bodyPr/>
                    <a:lstStyle/>
                    <a:p>
                      <a:pPr algn="ctr" indent="0" marL="0">
                        <a:buNone/>
                      </a:pPr>
                      <a:r>
                        <a:rPr lang="en-US" sz="1000" dirty="0">
                          <a:solidFill>
                            <a:srgbClr val="334155"/>
                          </a:solidFill>
                          <a:latin typeface="Vazirmatn" pitchFamily="34" charset="0"/>
                          <a:ea typeface="Vazirmatn" pitchFamily="34" charset="-122"/>
                          <a:cs typeface="Vazirmatn" pitchFamily="34" charset="-120"/>
                        </a:rPr>
                        <a:t>روش پیشنهادی SHAP ارائه یک چارچوب یکپارچه برای تفسیر استفاده از نظریه بازی‌ها برای محاسبه اهمیت ویژگی‌ها بهبود قابلیت تفسیر و اعتماد کاربران</a:t>
                      </a:r>
                      <a:endParaRPr lang="en-US" sz="100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334155"/>
                          </a:solidFill>
                          <a:latin typeface="Vazirmatn" pitchFamily="34" charset="0"/>
                          <a:ea typeface="Vazirmatn" pitchFamily="34" charset="-122"/>
                          <a:cs typeface="Vazirmatn" pitchFamily="34" charset="-120"/>
                        </a:rPr>
                        <a:t>روش‌های موجود عدم قابلیت مقایسه مستقیم بین روش‌ها محدودیت‌هایی در تفسیر مدل‌های پیچیده عدم وجود یک چارچوب یکپارچه</a:t>
                      </a:r>
                      <a:endParaRPr lang="en-US" sz="100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پیش‌زمینه نظری و مفاهیم پایه</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ارزش شاپلی، یک مفهوم اصلی در نظریه بازی‌ها است که به توزیع مشارکت بازیکنان در سود کل می‌پردازد. در مدل‌های یادگیری ماشین، این ا��ه به تخصیص اهمیت ویژگی‌ها در پیش‌بینی‌ها کمک می‌کند. این رویکرد به دلیل خاصیت‌های ریاضی قوی، به عنوان پایه‌ای برای SHAP استفاده می‌شود.</a:t>
            </a:r>
            <a:endParaRPr lang="en-US" sz="1150" dirty="0"/>
          </a:p>
        </p:txBody>
      </p:sp>
      <p:sp>
        <p:nvSpPr>
          <p:cNvPr id="5" name="Text 3"/>
          <p:cNvSpPr/>
          <p:nvPr/>
        </p:nvSpPr>
        <p:spPr>
          <a:xfrm>
            <a:off x="1371600" y="1691640"/>
            <a:ext cx="6400800" cy="457200"/>
          </a:xfrm>
          <a:prstGeom prst="roundRect">
            <a:avLst/>
          </a:prstGeom>
          <a:solidFill>
            <a:srgbClr val="F8FAFC"/>
          </a:solidFill>
          <a:ln w="12700">
            <a:solidFill>
              <a:srgbClr val="CBD5E1"/>
            </a:solidFill>
          </a:ln>
        </p:spPr>
        <p:txBody>
          <a:bodyPr wrap="square" lIns="38100" tIns="76200" rIns="76200" bIns="38100" rtlCol="0" anchor="ctr"/>
          <a:lstStyle/>
          <a:p>
            <a:pPr algn="ctr" indent="0" marL="0">
              <a:buNone/>
            </a:pPr>
            <a:r>
              <a:rPr lang="en-US" sz="1200" b="1" dirty="0">
                <a:solidFill>
                  <a:srgbClr val="1E3A8A"/>
                </a:solidFill>
                <a:latin typeface="Consolas" pitchFamily="34" charset="0"/>
                <a:ea typeface="Consolas" pitchFamily="34" charset="-122"/>
                <a:cs typeface="Consolas" pitchFamily="34" charset="-120"/>
              </a:rPr>
              <a:t>v(S) = ∑_{i∈S} φ_i</a:t>
            </a:r>
            <a:endParaRPr lang="en-US" sz="1200" dirty="0"/>
          </a:p>
        </p:txBody>
      </p:sp>
      <p:sp>
        <p:nvSpPr>
          <p:cNvPr id="6" name="Text 4"/>
          <p:cNvSpPr/>
          <p:nvPr/>
        </p:nvSpPr>
        <p:spPr>
          <a:xfrm>
            <a:off x="548640" y="2221992"/>
            <a:ext cx="8046720" cy="438912"/>
          </a:xfrm>
          <a:prstGeom prst="rect">
            <a:avLst/>
          </a:prstGeom>
          <a:noFill/>
          <a:ln/>
        </p:spPr>
        <p:txBody>
          <a:bodyPr wrap="square" lIns="50800" tIns="101600" rIns="101600" bIns="50800" rtlCol="0" anchor="ctr"/>
          <a:lstStyle/>
          <a:p>
            <a:pPr rtl="1" algn="r" indent="0" marL="0">
              <a:buNone/>
            </a:pPr>
            <a:r>
              <a:rPr lang="en-US" sz="1100" i="1" dirty="0">
                <a:solidFill>
                  <a:srgbClr val="64748B"/>
                </a:solidFill>
                <a:latin typeface="Vazirmatn" pitchFamily="34" charset="0"/>
                <a:ea typeface="Vazirmatn" pitchFamily="34" charset="-122"/>
                <a:cs typeface="Vazirmatn" pitchFamily="34" charset="-120"/>
              </a:rPr>
              <a:t>تحلیل پارامترها و روابط: در این فرمول، v(S) نشان‌دهنده ارزش مجموعه S از ویژگی‌ها است و φ_i نشان‌دهنده اهمیت ویژگی i است. این فرمول نشان می‌دهد که ارزش کل مجموعه S از مجموع اهمیت ویژگی‌های تشکیل‌دهنده آن به دست می‌آید.</a:t>
            </a:r>
            <a:endParaRPr lang="en-US" sz="1100" dirty="0"/>
          </a:p>
        </p:txBody>
      </p:sp>
      <p:sp>
        <p:nvSpPr>
          <p:cNvPr id="7" name="Text 5"/>
          <p:cNvSpPr/>
          <p:nvPr/>
        </p:nvSpPr>
        <p:spPr>
          <a:xfrm>
            <a:off x="548640" y="2734056"/>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نظریه بازی‌ها و اهمیت ویژگی‌ها</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نظریه بازی‌ها یک ابزار قدرتمند برای تحلیل رفتار بازیکنان در محیط‌های رقابتی است. در حوزه یادگیری ماشین، این نظریه برای محاسبه اهمیت ویژگی‌ها در پیش‌بینی‌ها استفاده می‌شود.</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نوآوری اصلی و مفهوم مرکزی</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نوآوری اصلی SHAP در این است که یک چارچوب یکپارچه برای تفسیر مدل‌ها ارائه می‌دهد که به طور کامل می‌تواند روش‌های مختلف را در بر گیرد. این چارچوب با استفاده از ارزش شاپلی، اهمیت ویژگی‌ها را به طور قابل اعتمادی محاسبه می‌کند.</a:t>
            </a:r>
            <a:endParaRPr lang="en-US" sz="1150" dirty="0"/>
          </a:p>
        </p:txBody>
      </p:sp>
      <p:sp>
        <p:nvSpPr>
          <p:cNvPr id="5" name="Text 3"/>
          <p:cNvSpPr/>
          <p:nvPr/>
        </p:nvSpPr>
        <p:spPr>
          <a:xfrm>
            <a:off x="548640" y="1691640"/>
            <a:ext cx="8046720" cy="548640"/>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استفاده از نظریه بازی‌ها در تفسیر مدل‌ها، به ایجاد یک چارچوب یکپارچه و قابل اعتماد منجر می‌شود که می‌تواند تمام روش‌های مختلف را در بر گیرد.</a:t>
            </a:r>
            <a:endParaRPr lang="en-US" sz="1150" dirty="0"/>
          </a:p>
        </p:txBody>
      </p:sp>
      <p:sp>
        <p:nvSpPr>
          <p:cNvPr id="6" name="Text 4"/>
          <p:cNvSpPr/>
          <p:nvPr/>
        </p:nvSpPr>
        <p:spPr>
          <a:xfrm>
            <a:off x="548640" y="2313432"/>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نوآوری SHAP در تفسیر مدل‌ها</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SHAP به عنوان یک چارچوب یکپارچه، اهمیت ویژگی‌ها را با استفاده از نظریه بازی‌ها محاسبه می‌کند. این رویکرد به دلیل خاصیت‌های ریاضی قوی، به عنوان یک راه حل یکپارچه برای تفسیر مدل‌ها محسوب می‌شود.</a:t>
            </a:r>
            <a:endParaRPr lang="en-US" sz="1150" dirty="0"/>
          </a:p>
        </p:txBody>
      </p:sp>
      <p:sp>
        <p:nvSpPr>
          <p:cNvPr id="7" name="Text 5"/>
          <p:cNvSpPr/>
          <p:nvPr/>
        </p:nvSpPr>
        <p:spPr>
          <a:xfrm>
            <a:off x="548640" y="3044952"/>
            <a:ext cx="8046720" cy="411480"/>
          </a:xfrm>
          <a:prstGeom prst="roundRect">
            <a:avLst/>
          </a:prstGeom>
          <a:solidFill>
            <a:srgbClr val="0F172A"/>
          </a:solidFill>
          <a:ln/>
        </p:spPr>
        <p:txBody>
          <a:bodyPr wrap="square" lIns="50800" tIns="101600" rIns="101600" bIns="50800" rtlCol="0" anchor="ctr"/>
          <a:lstStyle/>
          <a:p>
            <a:pPr rtl="1" algn="ctr" indent="0" marL="0">
              <a:buNone/>
            </a:pPr>
            <a:r>
              <a:rPr lang="en-US" sz="1150" b="1" dirty="0">
                <a:solidFill>
                  <a:srgbClr val="FFFFFF"/>
                </a:solidFill>
                <a:latin typeface="Vazirmatn" pitchFamily="34" charset="0"/>
                <a:ea typeface="Vazirmatn" pitchFamily="34" charset="-122"/>
                <a:cs typeface="Vazirmatn" pitchFamily="34" charset="-120"/>
              </a:rPr>
              <a:t>معماری پایپ‌لاین: ورودی: داده‌های مدل ➔ پردازش: محاسبه اهمیت ویژگی‌ها با استفاده از SHAP ➔ خروجی: تفسیر قابل فهم برای کاربران</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روش‌شناسی فنی و فرآیند اجرا</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فرآیند اجرا SHAP شامل چند مرحله است. ابتدا، مدل اصلی آموزش داده می‌شود. سپس، برای هر پیش‌بینی، اهمیت ویژگی‌ها با استفاده از نظریه بازی‌ها محاسبه می‌شود. در نهایت، نتایج به صورت تفسیر قابل فهم به کاربران ارائه می‌شود.</a:t>
            </a:r>
            <a:endParaRPr lang="en-US" sz="1150" dirty="0"/>
          </a:p>
        </p:txBody>
      </p:sp>
      <p:sp>
        <p:nvSpPr>
          <p:cNvPr id="5" name="Text 3"/>
          <p:cNvSpPr/>
          <p:nvPr/>
        </p:nvSpPr>
        <p:spPr>
          <a:xfrm>
            <a:off x="548640" y="1719072"/>
            <a:ext cx="8046720" cy="438912"/>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روش‌های محاسبه اهمیت ویژگی‌ها</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SHAP از روش‌های مختلفی برای محاسبه اهمیت ویژگی‌ها استفاده می‌کند، از جمله روش‌های مبتنی بر نظریه بازی‌ها و روش‌های تقریبی برای مدل‌های پیچیده.</a:t>
            </a:r>
            <a:endParaRPr lang="en-US" sz="1150" dirty="0"/>
          </a:p>
        </p:txBody>
      </p:sp>
      <p:sp>
        <p:nvSpPr>
          <p:cNvPr id="6" name="Text 4"/>
          <p:cNvSpPr/>
          <p:nvPr/>
        </p:nvSpPr>
        <p:spPr>
          <a:xfrm>
            <a:off x="548640" y="2258568"/>
            <a:ext cx="8046720" cy="438912"/>
          </a:xfrm>
          <a:prstGeom prst="rect">
            <a:avLst/>
          </a:prstGeom>
          <a:noFill/>
          <a:ln/>
        </p:spPr>
        <p:txBody>
          <a:bodyPr wrap="square" lIns="50800" tIns="101600" rIns="101600" bIns="50800" rtlCol="0" anchor="ctr"/>
          <a:lstStyle/>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استفاده از روش‌های تقریبی برای مدل‌های پیچیده</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تخصیص اهمیت ویژگی‌ها به صورت یکپارچه</a:t>
            </a:r>
            <a:endParaRPr lang="en-US" sz="1150" dirty="0"/>
          </a:p>
          <a:p>
            <a:pPr rtl="1" algn="r" indent="0" marL="0">
              <a:lnSpc>
                <a:spcPts val="1400"/>
              </a:lnSpc>
              <a:buNone/>
            </a:pPr>
            <a:r>
              <a:rPr lang="en-US" sz="1150" dirty="0">
                <a:solidFill>
                  <a:srgbClr val="334155"/>
                </a:solidFill>
                <a:latin typeface="Vazirmatn" pitchFamily="34" charset="0"/>
                <a:ea typeface="Vazirmatn" pitchFamily="34" charset="-122"/>
                <a:cs typeface="Vazirmatn" pitchFamily="34" charset="-120"/>
              </a:rPr>
              <a:t>• افزایش قابلیت تفسیر و اعتماد کاربران</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جزئیات فنی و فرمول‌ها</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فرمول اصلی SHAP به صورت زیر است: φ_i = ∑_{S⊆F\{i}} (|S|! (|F| - |S| - 1)! ) / (|F|! )) (v(S ∪ {i}) - v(S))، که در آن F مجموعه ویژگی‌ها و S زیرمجموعه‌ای از F است. این فرمول به محاسبه اهمیت ویژگی i بر اساس مشارکت آن در مجموعه‌های مختلف کمک می‌کند.</a:t>
            </a:r>
            <a:endParaRPr lang="en-US" sz="1150" dirty="0"/>
          </a:p>
        </p:txBody>
      </p:sp>
      <p:sp>
        <p:nvSpPr>
          <p:cNvPr id="5" name="Text 3"/>
          <p:cNvSpPr/>
          <p:nvPr/>
        </p:nvSpPr>
        <p:spPr>
          <a:xfrm>
            <a:off x="1371600" y="1691640"/>
            <a:ext cx="6400800" cy="457200"/>
          </a:xfrm>
          <a:prstGeom prst="roundRect">
            <a:avLst/>
          </a:prstGeom>
          <a:solidFill>
            <a:srgbClr val="F8FAFC"/>
          </a:solidFill>
          <a:ln w="12700">
            <a:solidFill>
              <a:srgbClr val="CBD5E1"/>
            </a:solidFill>
          </a:ln>
        </p:spPr>
        <p:txBody>
          <a:bodyPr wrap="square" lIns="38100" tIns="76200" rIns="76200" bIns="38100" rtlCol="0" anchor="ctr"/>
          <a:lstStyle/>
          <a:p>
            <a:pPr algn="ctr" indent="0" marL="0">
              <a:buNone/>
            </a:pPr>
            <a:r>
              <a:rPr lang="en-US" sz="1200" b="1" dirty="0">
                <a:solidFill>
                  <a:srgbClr val="1E3A8A"/>
                </a:solidFill>
                <a:latin typeface="Consolas" pitchFamily="34" charset="0"/>
                <a:ea typeface="Consolas" pitchFamily="34" charset="-122"/>
                <a:cs typeface="Consolas" pitchFamily="34" charset="-120"/>
              </a:rPr>
              <a:t>φ_i = ∑_{S⊆F\{i}} \frac{|S|! (|F| - |S| - 1)!}{|F|!} (v(S ∪ {i}) - v(S))</a:t>
            </a:r>
            <a:endParaRPr lang="en-US" sz="1200" dirty="0"/>
          </a:p>
        </p:txBody>
      </p:sp>
      <p:sp>
        <p:nvSpPr>
          <p:cNvPr id="6" name="Text 4"/>
          <p:cNvSpPr/>
          <p:nvPr/>
        </p:nvSpPr>
        <p:spPr>
          <a:xfrm>
            <a:off x="548640" y="2221992"/>
            <a:ext cx="8046720" cy="658368"/>
          </a:xfrm>
          <a:prstGeom prst="rect">
            <a:avLst/>
          </a:prstGeom>
          <a:noFill/>
          <a:ln/>
        </p:spPr>
        <p:txBody>
          <a:bodyPr wrap="square" lIns="50800" tIns="101600" rIns="101600" bIns="50800" rtlCol="0" anchor="ctr"/>
          <a:lstStyle/>
          <a:p>
            <a:pPr rtl="1" algn="r" indent="0" marL="0">
              <a:buNone/>
            </a:pPr>
            <a:r>
              <a:rPr lang="en-US" sz="1100" i="1" dirty="0">
                <a:solidFill>
                  <a:srgbClr val="64748B"/>
                </a:solidFill>
                <a:latin typeface="Vazirmatn" pitchFamily="34" charset="0"/>
                <a:ea typeface="Vazirmatn" pitchFamily="34" charset="-122"/>
                <a:cs typeface="Vazirmatn" pitchFamily="34" charset="-120"/>
              </a:rPr>
              <a:t>تحلیل پارامترها و روابط: در این فرمول، φ_i اهمیت ویژگی i است. S زیرمجموعه‌ای از مجموعه ویژگی‌های F است که شامل i نیست. v(S ∪ {i}) - v(S) نشان‌دهنده مشارکت ویژگی i در مجموعه S است. این فرمول به طور کامل می‌تواند اهمیت ویژگی‌ها را در مدل‌های پیچیده محاسبه کند.</a:t>
            </a:r>
            <a:endParaRPr lang="en-US" sz="1100" dirty="0"/>
          </a:p>
        </p:txBody>
      </p:sp>
      <p:sp>
        <p:nvSpPr>
          <p:cNvPr id="7" name="Text 5"/>
          <p:cNvSpPr/>
          <p:nvPr/>
        </p:nvSpPr>
        <p:spPr>
          <a:xfrm>
            <a:off x="548640" y="2953512"/>
            <a:ext cx="8046720" cy="438912"/>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فرمول‌های محاسبه اهمیت ویژگی‌ها</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SHAP از فرمول‌های ریاضی پیچیده‌ای برای محاسبه اهمیت ویژگی‌ها استفاده می‌کند که بر اساس نظریه بازی‌ها و ارزش شاپلی ایجاد شده‌اند.</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مکانیسم‌های عملی و نحوه کارکرد</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در مدل‌های واقعی، SHAP به کاربران امکان می‌دهد تا به طور دقیق به دلایل پیش‌بینی‌ها دسترسی داشته باشند. این ابزار با استفاده از ارزش شاپلی، اهمیت ویژگی‌ها را در هر پیش‌بینی به طور قابل اعتمادی محاسبه می‌کند. این رویکرد به بهبود قابلیت تفسیر و اعتماد کاربران کمک می‌کند.</a:t>
            </a:r>
            <a:endParaRPr lang="en-US" sz="1150" dirty="0"/>
          </a:p>
        </p:txBody>
      </p:sp>
      <p:sp>
        <p:nvSpPr>
          <p:cNvPr id="5" name="Text 3"/>
          <p:cNvSpPr/>
          <p:nvPr/>
        </p:nvSpPr>
        <p:spPr>
          <a:xfrm>
            <a:off x="548640" y="1719072"/>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کارکرد SHAP در مدل‌های واقعی</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SHAP به عنوان یک ابزار تفسیر، در مدل‌های واقعی مانند شبکه‌های عصبی عمیق و مدل‌های انتگرالی کاربرد دارد. این ابزار به کاربران امکان می‌دهد تا به طور دقیق به دلایل پیش‌بینی‌ها دسترسی داشته باشند.</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مقایسه عمیق روش با سایر روش‌ها</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658368"/>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SHAP با روش‌های دیگر مانند LIME و Grad-CAM به دلیل خاصیت‌های ریاضی قوی و قابلیت تفسیر یکپارچه، متمایز است. این روش‌ها به طور معمول در مدل‌های پیچیده کارایی پایین‌تری دارند، در حالی که SHAP با استفاده از نظریه بازی‌ها، به طور قابل اعتمادی اهمیت ویژگی‌ها را محاسبه می‌کند.</a:t>
            </a:r>
            <a:endParaRPr lang="en-US" sz="1150" dirty="0"/>
          </a:p>
        </p:txBody>
      </p:sp>
      <p:sp>
        <p:nvSpPr>
          <p:cNvPr id="5" name="Text 3"/>
          <p:cNvSpPr/>
          <p:nvPr/>
        </p:nvSpPr>
        <p:spPr>
          <a:xfrm>
            <a:off x="548640" y="1719072"/>
            <a:ext cx="8046720" cy="658368"/>
          </a:xfrm>
          <a:prstGeom prst="roundRect">
            <a:avLst/>
          </a:prstGeom>
          <a:solidFill>
            <a:srgbClr val="F1F5F9"/>
          </a:solidFill>
          <a:ln w="12700">
            <a:solidFill>
              <a:srgbClr val="94A3B8"/>
            </a:solidFill>
          </a:ln>
        </p:spPr>
        <p:txBody>
          <a:bodyPr wrap="square" lIns="50800" tIns="101600" rIns="101600" bIns="50800" rtlCol="0" anchor="ctr"/>
          <a:lstStyle/>
          <a:p>
            <a:pPr rtl="1" algn="r" indent="0" marL="0">
              <a:buNone/>
            </a:pPr>
            <a:r>
              <a:rPr lang="en-US" sz="1150" b="1" dirty="0">
                <a:solidFill>
                  <a:srgbClr val="334155"/>
                </a:solidFill>
                <a:latin typeface="Vazirmatn" pitchFamily="34" charset="0"/>
                <a:ea typeface="Vazirmatn" pitchFamily="34" charset="-122"/>
                <a:cs typeface="Vazirmatn" pitchFamily="34" charset="-120"/>
              </a:rPr>
              <a:t>مقایسه SHAP با روش‌های دیگر</a:t>
            </a:r>
            <a:endParaRPr lang="en-US" sz="1150" dirty="0"/>
          </a:p>
          <a:p>
            <a:pPr rtl="1" algn="r" indent="0" marL="0">
              <a:buNone/>
            </a:pPr>
            <a:r>
              <a:rPr lang="en-US" sz="1150" b="1" dirty="0">
                <a:solidFill>
                  <a:srgbClr val="334155"/>
                </a:solidFill>
                <a:latin typeface="Vazirmatn" pitchFamily="34" charset="0"/>
                <a:ea typeface="Vazirmatn" pitchFamily="34" charset="-122"/>
                <a:cs typeface="Vazirmatn" pitchFamily="34" charset="-120"/>
              </a:rPr>
              <a:t>SHAP با روش‌های دیگری مانند LIME و Grad-CAM به دلیل خاصیت‌های ریاضی قوی و قابلیت تفسیر یکپارچه، متمایز است. این مقایسه نشان می‌دهد که SHAP چگونه به بهبود تفسیر مدل‌ها کمک می‌کند.</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478024"/>
          <a:ext cx="8046720" cy="640080"/>
        </p:xfrm>
        <a:graphic>
          <a:graphicData uri="http://schemas.openxmlformats.org/drawingml/2006/table">
            <a:tbl>
              <a:tblPr/>
              <a:tblGrid>
                <a:gridCol w="4023360"/>
                <a:gridCol w="4023360"/>
              </a:tblGrid>
              <a:tr h="320040">
                <a:tc>
                  <a:txBody>
                    <a:bodyPr/>
                    <a:lstStyle/>
                    <a:p>
                      <a:pPr algn="ctr" indent="0" marL="0">
                        <a:buNone/>
                      </a:pPr>
                      <a:r>
                        <a:rPr lang="en-US" sz="1050" b="1" dirty="0">
                          <a:solidFill>
                            <a:srgbClr val="FFFFFF"/>
                          </a:solidFill>
                          <a:latin typeface="Vazirmatn" pitchFamily="34" charset="0"/>
                          <a:ea typeface="Vazirmatn" pitchFamily="34" charset="-122"/>
                          <a:cs typeface="Vazirmatn" pitchFamily="34" charset="-120"/>
                        </a:rPr>
                        <a:t>رویکرد پیشنهادی</a:t>
                      </a:r>
                      <a:endParaRPr lang="en-US" sz="105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50" b="1" dirty="0">
                          <a:solidFill>
                            <a:srgbClr val="FFFFFF"/>
                          </a:solidFill>
                          <a:latin typeface="Vazirmatn" pitchFamily="34" charset="0"/>
                          <a:ea typeface="Vazirmatn" pitchFamily="34" charset="-122"/>
                          <a:cs typeface="Vazirmatn" pitchFamily="34" charset="-120"/>
                        </a:rPr>
                        <a:t>رویکرد پایه / موجود</a:t>
                      </a:r>
                      <a:endParaRPr lang="en-US" sz="105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75569"/>
                    </a:solidFill>
                  </a:tcPr>
                </a:tc>
              </a:tr>
              <a:tr h="320040">
                <a:tc>
                  <a:txBody>
                    <a:bodyPr/>
                    <a:lstStyle/>
                    <a:p>
                      <a:pPr algn="ctr" indent="0" marL="0">
                        <a:buNone/>
                      </a:pPr>
                      <a:r>
                        <a:rPr lang="en-US" sz="1000" dirty="0">
                          <a:solidFill>
                            <a:srgbClr val="334155"/>
                          </a:solidFill>
                          <a:latin typeface="Vazirmatn" pitchFamily="34" charset="0"/>
                          <a:ea typeface="Vazirmatn" pitchFamily="34" charset="-122"/>
                          <a:cs typeface="Vazirmatn" pitchFamily="34" charset="-120"/>
                        </a:rPr>
                        <a:t>روش SHAP استفاده از نظریه بازی‌ها برای تفسیر ارائه یک چارچوب یکپارچه افزایش قابلیت تفسیر و اعتماد کاربران</a:t>
                      </a:r>
                      <a:endParaRPr lang="en-US" sz="100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334155"/>
                          </a:solidFill>
                          <a:latin typeface="Vazirmatn" pitchFamily="34" charset="0"/>
                          <a:ea typeface="Vazirmatn" pitchFamily="34" charset="-122"/>
                          <a:cs typeface="Vazirmatn" pitchFamily="34" charset="-120"/>
                        </a:rPr>
                        <a:t>روش LIME استفاده از تقریب‌های محلی برای تفسیر عدم وجود یک چارچوب یکپارچه محدودیت‌هایی در مدل‌های پیچیده</a:t>
                      </a:r>
                      <a:endParaRPr lang="en-US" sz="1000" dirty="0">
                        <a:latin typeface="Vazirmatn" charset="0"/>
                        <a:ea typeface="Vazirmatn" charset="0"/>
                        <a:cs typeface="Vazirmatn" charset="0"/>
                      </a:endParaRPr>
                    </a:p>
                  </a:txBody>
                  <a:tcPr marL="50800" marR="508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457200"/>
          </a:xfrm>
          <a:prstGeom prst="rect">
            <a:avLst/>
          </a:prstGeom>
          <a:noFill/>
          <a:ln/>
        </p:spPr>
        <p:txBody>
          <a:bodyPr wrap="square" rtlCol="0" anchor="ctr"/>
          <a:lstStyle/>
          <a:p>
            <a:pPr rtl="1" algn="r" indent="0" marL="0">
              <a:buNone/>
            </a:pPr>
            <a:r>
              <a:rPr lang="en-US" sz="2000" b="1" dirty="0">
                <a:solidFill>
                  <a:srgbClr val="0F172A"/>
                </a:solidFill>
                <a:latin typeface="Vazirmatn" pitchFamily="34" charset="0"/>
                <a:ea typeface="Vazirmatn" pitchFamily="34" charset="-122"/>
                <a:cs typeface="Vazirmatn" pitchFamily="34" charset="-120"/>
              </a:rPr>
              <a:t>نتیجه‌گیری کلی و جمع‌بندی</a:t>
            </a:r>
            <a:endParaRPr lang="en-US" sz="2000" dirty="0"/>
          </a:p>
        </p:txBody>
      </p:sp>
      <p:sp>
        <p:nvSpPr>
          <p:cNvPr id="3" name="Shape 1"/>
          <p:cNvSpPr/>
          <p:nvPr/>
        </p:nvSpPr>
        <p:spPr>
          <a:xfrm>
            <a:off x="548640" y="777240"/>
            <a:ext cx="8046720" cy="0"/>
          </a:xfrm>
          <a:prstGeom prst="line">
            <a:avLst/>
          </a:prstGeom>
          <a:noFill/>
          <a:ln w="25400">
            <a:solidFill>
              <a:srgbClr val="1E40AF"/>
            </a:solidFill>
            <a:prstDash val="solid"/>
          </a:ln>
        </p:spPr>
      </p:sp>
      <p:sp>
        <p:nvSpPr>
          <p:cNvPr id="4" name="Text 2"/>
          <p:cNvSpPr/>
          <p:nvPr/>
        </p:nvSpPr>
        <p:spPr>
          <a:xfrm>
            <a:off x="548640" y="960120"/>
            <a:ext cx="8046720" cy="365760"/>
          </a:xfrm>
          <a:prstGeom prst="rect">
            <a:avLst/>
          </a:prstGeom>
          <a:noFill/>
          <a:ln/>
        </p:spPr>
        <p:txBody>
          <a:bodyPr wrap="square" lIns="50800" tIns="101600" rIns="101600" bIns="50800" rtlCol="0" anchor="ctr"/>
          <a:lstStyle/>
          <a:p>
            <a:pPr rtl="1" algn="r" indent="0" marL="0">
              <a:buNone/>
            </a:pPr>
            <a:r>
              <a:rPr lang="en-US" sz="1150" dirty="0">
                <a:solidFill>
                  <a:srgbClr val="334155"/>
                </a:solidFill>
                <a:latin typeface="Vazirmatn" pitchFamily="34" charset="0"/>
                <a:ea typeface="Vazirmatn" pitchFamily="34" charset="-122"/>
                <a:cs typeface="Vazirmatn" pitchFamily="34" charset="-120"/>
              </a:rPr>
              <a:t>پایان ارائه - با سپاس از توجه شما</a:t>
            </a:r>
            <a:endParaRPr lang="en-US" sz="1150" dirty="0"/>
          </a:p>
        </p:txBody>
      </p:sp>
      <p:sp>
        <p:nvSpPr>
          <p:cNvPr id="5" name="Text 3"/>
          <p:cNvSpPr/>
          <p:nvPr/>
        </p:nvSpPr>
        <p:spPr>
          <a:xfrm>
            <a:off x="548640" y="1426464"/>
            <a:ext cx="8046720" cy="768096"/>
          </a:xfrm>
          <a:prstGeom prst="roundRect">
            <a:avLst/>
          </a:prstGeom>
          <a:solidFill>
            <a:srgbClr val="F8FAFC"/>
          </a:solidFill>
          <a:ln w="19050">
            <a:solidFill>
              <a:srgbClr val="64748B"/>
            </a:solidFill>
          </a:ln>
        </p:spPr>
        <p:txBody>
          <a:bodyPr wrap="square" lIns="50800" tIns="101600" rIns="101600" bIns="50800" rtlCol="0" anchor="ctr"/>
          <a:lstStyle/>
          <a:p>
            <a:pPr rtl="1" algn="r" indent="0" marL="0">
              <a:buNone/>
            </a:pPr>
            <a:r>
              <a:rPr lang="en-US" sz="1150" b="1" dirty="0">
                <a:solidFill>
                  <a:srgbClr val="0F172A"/>
                </a:solidFill>
                <a:latin typeface="Vazirmatn" pitchFamily="34" charset="0"/>
                <a:ea typeface="Vazirmatn" pitchFamily="34" charset="-122"/>
                <a:cs typeface="Vazirmatn" pitchFamily="34" charset="-120"/>
              </a:rPr>
              <a:t>یافته و نتیجه‌گیری کلیدی:</a:t>
            </a:r>
            <a:endParaRPr lang="en-US" sz="1150" dirty="0"/>
          </a:p>
          <a:p>
            <a:pPr rtl="1" algn="r" indent="0" marL="0">
              <a:buNone/>
            </a:pPr>
            <a:r>
              <a:rPr lang="en-US" sz="1150" b="1" dirty="0">
                <a:solidFill>
                  <a:srgbClr val="0F172A"/>
                </a:solidFill>
                <a:latin typeface="Vazirmatn" pitchFamily="34" charset="0"/>
                <a:ea typeface="Vazirmatn" pitchFamily="34" charset="-122"/>
                <a:cs typeface="Vazirmatn" pitchFamily="34" charset="-120"/>
              </a:rPr>
              <a:t>SHAP به عنوان یک چارچوب یکپارچه، به بهبود قابلیت تفسیر مدل‌های پیچیده کمک می‌کند. این رویکرد با استفاده از نظریه بازی‌ها، اهمیت ویژگی‌ها را به طور قابل اعتمادی محاسبه می‌کند و به افزایش اعتماد کاربران در مدل‌ها کمک می‌کند.</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2026-08-10T10:08:08Z</dcterms:created>
  <dcterms:modified xsi:type="dcterms:W3CDTF">2026-08-10T10:08:08Z</dcterms:modified>
</cp:coreProperties>
</file>