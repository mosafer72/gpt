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2011680"/>
            <a:ext cx="7315200" cy="1097280"/>
          </a:xfrm>
          <a:prstGeom prst="rect">
            <a:avLst/>
          </a:prstGeom>
          <a:noFill/>
          <a:ln/>
        </p:spPr>
        <p:txBody>
          <a:bodyPr wrap="square" rtlCol="0" anchor="ctr"/>
          <a:lstStyle/>
          <a:p>
            <a:pPr rtl="1" algn="ctr" indent="0" marL="0">
              <a:buNone/>
            </a:pPr>
            <a:r>
              <a:rPr lang="en-US" sz="2600" b="1" dirty="0">
                <a:solidFill>
                  <a:srgbClr val="0F172A"/>
                </a:solidFill>
                <a:latin typeface="Vazirmatn" pitchFamily="34" charset="0"/>
                <a:ea typeface="Vazirmatn" pitchFamily="34" charset="-122"/>
                <a:cs typeface="Vazirmatn" pitchFamily="34" charset="-120"/>
              </a:rPr>
              <a:t>رویکرد یکپارچه برای تفسیر پیش بینی های مدل</a:t>
            </a:r>
            <a:endParaRPr lang="en-US" sz="2600" dirty="0"/>
          </a:p>
        </p:txBody>
      </p:sp>
      <p:sp>
        <p:nvSpPr>
          <p:cNvPr id="3" name="Shape 1"/>
          <p:cNvSpPr/>
          <p:nvPr/>
        </p:nvSpPr>
        <p:spPr>
          <a:xfrm>
            <a:off x="3200400" y="3200400"/>
            <a:ext cx="2743200" cy="0"/>
          </a:xfrm>
          <a:prstGeom prst="line">
            <a:avLst/>
          </a:prstGeom>
          <a:noFill/>
          <a:ln w="25400">
            <a:solidFill>
              <a:srgbClr val="1E40AF"/>
            </a:solidFill>
            <a:prstDash val="solid"/>
          </a:ln>
        </p:spPr>
      </p:sp>
      <p:sp>
        <p:nvSpPr>
          <p:cNvPr id="4" name="Text 2"/>
          <p:cNvSpPr/>
          <p:nvPr/>
        </p:nvSpPr>
        <p:spPr>
          <a:xfrm>
            <a:off x="914400" y="3474720"/>
            <a:ext cx="7315200" cy="731520"/>
          </a:xfrm>
          <a:prstGeom prst="rect">
            <a:avLst/>
          </a:prstGeom>
          <a:noFill/>
          <a:ln/>
        </p:spPr>
        <p:txBody>
          <a:bodyPr wrap="square" rtlCol="0" anchor="ctr"/>
          <a:lstStyle/>
          <a:p>
            <a:pPr rtl="1" algn="ctr" indent="0" marL="0">
              <a:buNone/>
            </a:pPr>
            <a:r>
              <a:rPr lang="en-US" sz="1300" dirty="0">
                <a:solidFill>
                  <a:srgbClr val="64748B"/>
                </a:solidFill>
                <a:latin typeface="Vazirmatn" pitchFamily="34" charset="0"/>
                <a:ea typeface="Vazirmatn" pitchFamily="34" charset="-122"/>
                <a:cs typeface="Vazirmatn" pitchFamily="34" charset="-120"/>
              </a:rPr>
              <a:t>در دنیای امروز، مدل های یادگیری ماشین به دلیل دقت بالا در پردازش داده های بزرگ، به طور گسترده ای مورد استفاده قرار می گیرند. با این حال، این مدل ها به دلیل پیچیدگی، اغلب غیرقابل تفسیر هستند. این موضوع باعث ایجاد تنش بین دقت و قابلیت تفسیر می شود. این مطالعه به ارائه یک رویکرد یکپارچه برای تفسیر پیش بینی های مدل ها می پردازد که با استفاده از مفاهیم نظری بازی ها، به بهبود قابلیت تفسیر مدل های پیچیده کمک می کند.</a:t>
            </a:r>
            <a:endParaRPr lang="en-US" sz="1300" dirty="0"/>
          </a:p>
        </p:txBody>
      </p:sp>
      <p:sp>
        <p:nvSpPr>
          <p:cNvPr id="5" name="Text 3"/>
          <p:cNvSpPr/>
          <p:nvPr/>
        </p:nvSpPr>
        <p:spPr>
          <a:xfrm>
            <a:off x="914400" y="4206240"/>
            <a:ext cx="7315200" cy="731520"/>
          </a:xfrm>
          <a:prstGeom prst="rect">
            <a:avLst/>
          </a:prstGeom>
          <a:noFill/>
          <a:ln/>
        </p:spPr>
        <p:txBody>
          <a:bodyPr wrap="square" rtlCol="0" anchor="ctr"/>
          <a:lstStyle/>
          <a:p>
            <a:pPr rtl="1" algn="ctr" indent="0" marL="0">
              <a:buNone/>
            </a:pPr>
            <a:r>
              <a:rPr lang="en-US" sz="1300" dirty="0">
                <a:solidFill>
                  <a:srgbClr val="64748B"/>
                </a:solidFill>
                <a:latin typeface="Vazirmatn" pitchFamily="34" charset="0"/>
                <a:ea typeface="Vazirmatn" pitchFamily="34" charset="-122"/>
                <a:cs typeface="Vazirmatn" pitchFamily="34" charset="-120"/>
              </a:rPr>
              <a:t>رویکرد یکپارچه برای تفسیر پیش بینی های مدل: روشی که با استفاده از مفاهیم نظری بازی ها و اهمیت ویژگی ها، به تفسیر پیش بینی های مدل های یادگیری ماشین می پردازد.</a:t>
            </a:r>
            <a:endParaRPr lang="en-US" sz="1300" dirty="0"/>
          </a:p>
        </p:txBody>
      </p:sp>
      <p:sp>
        <p:nvSpPr>
          <p:cNvPr id="6" name="Text 4"/>
          <p:cNvSpPr/>
          <p:nvPr/>
        </p:nvSpPr>
        <p:spPr>
          <a:xfrm>
            <a:off x="914400" y="4937760"/>
            <a:ext cx="7315200" cy="731520"/>
          </a:xfrm>
          <a:prstGeom prst="rect">
            <a:avLst/>
          </a:prstGeom>
          <a:noFill/>
          <a:ln/>
        </p:spPr>
        <p:txBody>
          <a:bodyPr wrap="square" rtlCol="0" anchor="ctr"/>
          <a:lstStyle/>
          <a:p>
            <a:pPr rtl="1" algn="ctr" indent="0" marL="0">
              <a:buNone/>
            </a:pPr>
            <a:r>
              <a:rPr lang="en-US" sz="1300" dirty="0">
                <a:solidFill>
                  <a:srgbClr val="64748B"/>
                </a:solidFill>
                <a:latin typeface="Vazirmatn" pitchFamily="34" charset="0"/>
                <a:ea typeface="Vazirmatn" pitchFamily="34" charset="-122"/>
                <a:cs typeface="Vazirmatn" pitchFamily="34" charset="-120"/>
              </a:rPr>
              <a:t>زیرعنوان تخصصی یا حوزه پژوهش</a:t>
            </a:r>
            <a:endParaRPr lang="en-US" sz="1300" dirty="0"/>
          </a:p>
          <a:p>
            <a:pPr rtl="1" algn="ctr" indent="0" marL="0">
              <a:buNone/>
            </a:pPr>
            <a:r>
              <a:rPr lang="en-US" sz="1300" dirty="0">
                <a:solidFill>
                  <a:srgbClr val="64748B"/>
                </a:solidFill>
                <a:latin typeface="Vazirmatn" pitchFamily="34" charset="0"/>
                <a:ea typeface="Vazirmatn" pitchFamily="34" charset="-122"/>
                <a:cs typeface="Vazirmatn" pitchFamily="34" charset="-120"/>
              </a:rPr>
              <a:t>این مطالعه به بررسی روشی یکپارچه برای تفسیر پیش بینی های مدل های یادگیری ماشین می پردازد که با استفاده از مفاهیم نظری بازی ها و اهمیت ویژگی ها، به بهبود قابلیت تفسیر مدل های پیچیده کمک می کند.</a:t>
            </a:r>
            <a:endParaRPr lang="en-US" sz="1300" dirty="0"/>
          </a:p>
        </p:txBody>
      </p:sp>
      <p:sp>
        <p:nvSpPr>
          <p:cNvPr id="7" name="Text 5"/>
          <p:cNvSpPr/>
          <p:nvPr/>
        </p:nvSpPr>
        <p:spPr>
          <a:xfrm>
            <a:off x="914400" y="5669280"/>
            <a:ext cx="7315200" cy="731520"/>
          </a:xfrm>
          <a:prstGeom prst="rect">
            <a:avLst/>
          </a:prstGeom>
          <a:noFill/>
          <a:ln/>
        </p:spPr>
        <p:txBody>
          <a:bodyPr wrap="square" rtlCol="0" anchor="ctr"/>
          <a:lstStyle/>
          <a:p>
            <a:pPr rtl="1" algn="ctr" indent="0" marL="0">
              <a:buNone/>
            </a:pPr>
            <a:r>
              <a:rPr lang="en-US" sz="1300" dirty="0">
                <a:solidFill>
                  <a:srgbClr val="64748B"/>
                </a:solidFill>
                <a:latin typeface="Vazirmatn" pitchFamily="34" charset="0"/>
                <a:ea typeface="Vazirmatn" pitchFamily="34" charset="-122"/>
                <a:cs typeface="Vazirmatn" pitchFamily="34" charset="-120"/>
              </a:rPr>
              <a:t>• ارائه یک چارچوب یکپارچه برای تفسیر پیش بینی های مدل ها</a:t>
            </a:r>
            <a:endParaRPr lang="en-US" sz="1300" dirty="0"/>
          </a:p>
          <a:p>
            <a:pPr rtl="1" algn="ctr" indent="0" marL="0">
              <a:buNone/>
            </a:pPr>
            <a:r>
              <a:rPr lang="en-US" sz="1300" dirty="0">
                <a:solidFill>
                  <a:srgbClr val="64748B"/>
                </a:solidFill>
                <a:latin typeface="Vazirmatn" pitchFamily="34" charset="0"/>
                <a:ea typeface="Vazirmatn" pitchFamily="34" charset="-122"/>
                <a:cs typeface="Vazirmatn" pitchFamily="34" charset="-120"/>
              </a:rPr>
              <a:t>• استفاده از مفاهیم نظری بازی ها برای تعیین اهمیت ویژگی ها</a:t>
            </a:r>
            <a:endParaRPr lang="en-US" sz="1300" dirty="0"/>
          </a:p>
          <a:p>
            <a:pPr rtl="1" algn="ctr" indent="0" marL="0">
              <a:buNone/>
            </a:pPr>
            <a:r>
              <a:rPr lang="en-US" sz="1300" dirty="0">
                <a:solidFill>
                  <a:srgbClr val="64748B"/>
                </a:solidFill>
                <a:latin typeface="Vazirmatn" pitchFamily="34" charset="0"/>
                <a:ea typeface="Vazirmatn" pitchFamily="34" charset="-122"/>
                <a:cs typeface="Vazirmatn" pitchFamily="34" charset="-120"/>
              </a:rPr>
              <a:t>• بهبود قابلیت تفسیر مدل های پیچیده با استفاده از روش های جدید</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0F172A"/>
                </a:solidFill>
                <a:latin typeface="Vazirmatn" pitchFamily="34" charset="0"/>
                <a:ea typeface="Vazirmatn" pitchFamily="34" charset="-122"/>
                <a:cs typeface="Vazirmatn" pitchFamily="34" charset="-120"/>
              </a:rPr>
              <a:t>مقدمه تخصصی و ضرورت</a:t>
            </a:r>
            <a:endParaRPr lang="en-US" sz="2200" dirty="0"/>
          </a:p>
        </p:txBody>
      </p:sp>
      <p:sp>
        <p:nvSpPr>
          <p:cNvPr id="3" name="Shape 1"/>
          <p:cNvSpPr/>
          <p:nvPr/>
        </p:nvSpPr>
        <p:spPr>
          <a:xfrm>
            <a:off x="457200" y="822960"/>
            <a:ext cx="8229600" cy="0"/>
          </a:xfrm>
          <a:prstGeom prst="line">
            <a:avLst/>
          </a:prstGeom>
          <a:noFill/>
          <a:ln w="19050">
            <a:solidFill>
              <a:srgbClr val="1E40AF"/>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در صنایع مختلفی مانند پزشکی و مالی، تفسیر پیش بینی های مدل ها ضروری است. به عنوان مثال، در تشخیص بیماری ها، پزشکان نیاز به درک دلیل پیش بینی مدل دارند تا بتوانند تصمیم گیری های صحیحی اتخاذ کنند. این موضوع باعث شده است که تحقیقاتی برای ایجاد روش هایی برای تفسیر مدل ها انجام شود.</a:t>
            </a:r>
            <a:endParaRPr lang="en-US" sz="1300" dirty="0"/>
          </a:p>
        </p:txBody>
      </p:sp>
      <p:sp>
        <p:nvSpPr>
          <p:cNvPr id="5" name="Text 3"/>
          <p:cNvSpPr/>
          <p:nvPr/>
        </p:nvSpPr>
        <p:spPr>
          <a:xfrm>
            <a:off x="457200" y="2386584"/>
            <a:ext cx="8229600" cy="676656"/>
          </a:xfrm>
          <a:prstGeom prst="roundRect">
            <a:avLst/>
          </a:prstGeom>
          <a:solidFill>
            <a:srgbClr val="F8FAFC"/>
          </a:solidFill>
          <a:ln w="19050">
            <a:solidFill>
              <a:srgbClr val="64748B"/>
            </a:solidFill>
          </a:ln>
        </p:spPr>
        <p:txBody>
          <a:bodyPr wrap="square" lIns="101600" tIns="152400" rIns="152400" bIns="101600" rtlCol="0" anchor="ctr"/>
          <a:lstStyle/>
          <a:p>
            <a:pPr rtl="1" algn="r" indent="0" marL="0">
              <a:buNone/>
            </a:pPr>
            <a:r>
              <a:rPr lang="en-US" sz="1300" b="1" dirty="0">
                <a:solidFill>
                  <a:srgbClr val="0F172A"/>
                </a:solidFill>
                <a:latin typeface="Vazirmatn" pitchFamily="34" charset="0"/>
                <a:ea typeface="Vazirmatn" pitchFamily="34" charset="-122"/>
                <a:cs typeface="Vazirmatn" pitchFamily="34" charset="-120"/>
              </a:rPr>
              <a:t>یافته و نتیجه‌گیری کلیدی:</a:t>
            </a:r>
            <a:endParaRPr lang="en-US" sz="1300" dirty="0"/>
          </a:p>
          <a:p>
            <a:pPr rtl="1" algn="r" indent="0" marL="0">
              <a:buNone/>
            </a:pPr>
            <a:r>
              <a:rPr lang="en-US" sz="1300" b="1" dirty="0">
                <a:solidFill>
                  <a:srgbClr val="0F172A"/>
                </a:solidFill>
                <a:latin typeface="Vazirmatn" pitchFamily="34" charset="0"/>
                <a:ea typeface="Vazirmatn" pitchFamily="34" charset="-122"/>
                <a:cs typeface="Vazirmatn" pitchFamily="34" charset="-120"/>
              </a:rPr>
              <a:t>تکنیک های تفسیر مدل ها به بهبود اعتماد کاربران و افزایش قابلیت اطمینان مدل ها کمک می کنند.</a:t>
            </a:r>
            <a:endParaRPr lang="en-US" sz="1300" dirty="0"/>
          </a:p>
        </p:txBody>
      </p:sp>
      <p:sp>
        <p:nvSpPr>
          <p:cNvPr id="6" name="Text 4"/>
          <p:cNvSpPr/>
          <p:nvPr/>
        </p:nvSpPr>
        <p:spPr>
          <a:xfrm>
            <a:off x="457200" y="3227832"/>
            <a:ext cx="8229600" cy="877824"/>
          </a:xfrm>
          <a:prstGeom prst="roundRect">
            <a:avLst/>
          </a:prstGeom>
          <a:solidFill>
            <a:srgbClr val="F1F5F9"/>
          </a:solidFill>
          <a:ln w="12700">
            <a:solidFill>
              <a:srgbClr val="94A3B8"/>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ضرورت تفسیر پیش بینی های مدل</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در بسیاری از کاربردهای واقعی، درک دلیل پیش بینی های مدل به اندازه دقت آن مهم است. مدل های پیچیده مانند شبکه های عصبی عمیق و مدل های انتگرالی، به دلیل غیرقابل تفسیر بودن، محدودیت هایی در کاربردهای پزشکی، مالی و سیاسی دارند.</a:t>
            </a:r>
            <a:endParaRPr lang="en-US" sz="1300" dirty="0"/>
          </a:p>
        </p:txBody>
      </p:sp>
      <p:sp>
        <p:nvSpPr>
          <p:cNvPr id="7" name="Text 5"/>
          <p:cNvSpPr/>
          <p:nvPr/>
        </p:nvSpPr>
        <p:spPr>
          <a:xfrm>
            <a:off x="457200" y="4270248"/>
            <a:ext cx="8229600" cy="768096"/>
          </a:xfrm>
          <a:prstGeom prst="roundRect">
            <a:avLst/>
          </a:prstGeom>
          <a:solidFill>
            <a:srgbClr val="F8FAFC"/>
          </a:solidFill>
          <a:ln w="12700">
            <a:solidFill>
              <a:srgbClr val="CBD5E1"/>
            </a:solidFill>
          </a:ln>
        </p:spPr>
        <p:txBody>
          <a:bodyPr wrap="square" lIns="101600" tIns="152400" rIns="152400" bIns="101600" rtlCol="0" anchor="ctr"/>
          <a:lstStyle/>
          <a:p>
            <a:pPr rtl="1" algn="ctr" indent="0" marL="0">
              <a:buNone/>
            </a:pPr>
            <a:r>
              <a:rPr lang="en-US" sz="1300" dirty="0">
                <a:solidFill>
                  <a:srgbClr val="334155"/>
                </a:solidFill>
                <a:latin typeface="Vazirmatn" pitchFamily="34" charset="0"/>
                <a:ea typeface="Vazirmatn" pitchFamily="34" charset="-122"/>
                <a:cs typeface="Vazirmatn" pitchFamily="34" charset="-120"/>
              </a:rPr>
              <a:t>روند اجرای فرآیند:</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مرحله 1: تحلیل نیازهای کاربران در حوزه های مختلف</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مرحله 2: ایجاد چارچوب یکپارچه برای تفسیر پیش بینی ها</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a:t>
            </a:r>
            <a:endParaRPr lang="en-US" sz="1300" dirty="0"/>
          </a:p>
          <a:p>
            <a:pPr rtl="1" algn="ctr" indent="0" marL="0">
              <a:buNone/>
            </a:pPr>
            <a:r>
              <a:rPr lang="en-US" sz="1300" dirty="0">
                <a:solidFill>
                  <a:srgbClr val="334155"/>
                </a:solidFill>
                <a:latin typeface="Vazirmatn" pitchFamily="34" charset="0"/>
                <a:ea typeface="Vazirmatn" pitchFamily="34" charset="-122"/>
                <a:cs typeface="Vazirmatn" pitchFamily="34" charset="-120"/>
              </a:rPr>
              <a:t>مرحله 3: ارزیابی قابلیت تفسیر مدل ها با استفاده از روش های مختلف</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0F172A"/>
                </a:solidFill>
                <a:latin typeface="Vazirmatn" pitchFamily="34" charset="0"/>
                <a:ea typeface="Vazirmatn" pitchFamily="34" charset="-122"/>
                <a:cs typeface="Vazirmatn" pitchFamily="34" charset="-120"/>
              </a:rPr>
              <a:t>تعریف مسئله و چالش های موجود</a:t>
            </a:r>
            <a:endParaRPr lang="en-US" sz="2200" dirty="0"/>
          </a:p>
        </p:txBody>
      </p:sp>
      <p:sp>
        <p:nvSpPr>
          <p:cNvPr id="3" name="Shape 1"/>
          <p:cNvSpPr/>
          <p:nvPr/>
        </p:nvSpPr>
        <p:spPr>
          <a:xfrm>
            <a:off x="457200" y="822960"/>
            <a:ext cx="8229600" cy="0"/>
          </a:xfrm>
          <a:prstGeom prst="line">
            <a:avLst/>
          </a:prstGeom>
          <a:noFill/>
          <a:ln w="19050">
            <a:solidFill>
              <a:srgbClr val="1E40AF"/>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یکی از چالش های اصلی در تفسیر مدل ها، عدم وجود یک چارچوب یکپارچه برای ارزیابی اهمیت ویژگی ها است. روش های مختلفی مانند SHAP، LIME و مدل های خطی، به تفسیر پیش بینی ها کمک می کنند، اما هر کدام محدودیت هایی دارند. این موضوع باعث شده است که نیاز به یک رویکرد یکپارچه برای تفسیر مدل ها افزایش یابد.</a:t>
            </a:r>
            <a:endParaRPr lang="en-US" sz="1300" dirty="0"/>
          </a:p>
        </p:txBody>
      </p:sp>
      <p:sp>
        <p:nvSpPr>
          <p:cNvPr id="5" name="Text 3"/>
          <p:cNvSpPr/>
          <p:nvPr/>
        </p:nvSpPr>
        <p:spPr>
          <a:xfrm>
            <a:off x="457200" y="2386584"/>
            <a:ext cx="8229600" cy="768096"/>
          </a:xfrm>
          <a:prstGeom prst="roundRect">
            <a:avLst/>
          </a:prstGeom>
          <a:solidFill>
            <a:srgbClr val="F8FAFC"/>
          </a:solidFill>
          <a:ln w="12700">
            <a:solidFill>
              <a:srgbClr val="CBD5E1"/>
            </a:solid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تعریف تخصصی:</a:t>
            </a:r>
            <a:endParaRPr lang="en-US" sz="1300" dirty="0"/>
          </a:p>
          <a:p>
            <a:pPr rtl="1" algn="r" indent="0" marL="0">
              <a:buNone/>
            </a:pPr>
            <a:r>
              <a:rPr lang="en-US" sz="1300" dirty="0">
                <a:solidFill>
                  <a:srgbClr val="334155"/>
                </a:solidFill>
                <a:latin typeface="Vazirmatn" pitchFamily="34" charset="0"/>
                <a:ea typeface="Vazirmatn" pitchFamily="34" charset="-122"/>
                <a:cs typeface="Vazirmatn" pitchFamily="34" charset="-120"/>
              </a:rPr>
              <a:t>چالش های تفسیر مدل: محدودیت هایی که در درک دلیل پیش بینی های مدل ها وجود دارد، از جمله عدم قابلیت تفسیر و عدم اطمینان کاربران.</a:t>
            </a:r>
            <a:endParaRPr lang="en-US" sz="1300" dirty="0"/>
          </a:p>
        </p:txBody>
      </p:sp>
      <p:sp>
        <p:nvSpPr>
          <p:cNvPr id="6" name="Text 4"/>
          <p:cNvSpPr/>
          <p:nvPr/>
        </p:nvSpPr>
        <p:spPr>
          <a:xfrm>
            <a:off x="457200" y="3319272"/>
            <a:ext cx="8229600" cy="877824"/>
          </a:xfrm>
          <a:prstGeom prst="roundRect">
            <a:avLst/>
          </a:prstGeom>
          <a:solidFill>
            <a:srgbClr val="F1F5F9"/>
          </a:solidFill>
          <a:ln w="12700">
            <a:solidFill>
              <a:srgbClr val="94A3B8"/>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چالش های تفسیر مدل ها</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مدل های پیچیده مانند شبکه های عصبی عمیق و مدل های انتگرالی، به دلیل غیرقابل تفسیر بودن، محدودیت هایی در کاربردهای واقعی دارند. این چالش ها شامل عدم قابلیت تفسیر، عدم اطمینان کاربران و امکان اشتباهات در پیش بینی ها می باشد.</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4361688"/>
          <a:ext cx="8229600" cy="822960"/>
        </p:xfrm>
        <a:graphic>
          <a:graphicData uri="http://schemas.openxmlformats.org/drawingml/2006/table">
            <a:tbl>
              <a:tblPr/>
              <a:tblGrid>
                <a:gridCol w="4114800"/>
                <a:gridCol w="4114800"/>
              </a:tblGrid>
              <a:tr h="411480">
                <a:tc>
                  <a:txBody>
                    <a:bodyPr/>
                    <a:lstStyle/>
                    <a:p>
                      <a:pPr algn="ctr" indent="0" marL="0">
                        <a:buNone/>
                      </a:pPr>
                      <a:r>
                        <a:rPr lang="en-US" sz="1200" b="1" dirty="0">
                          <a:solidFill>
                            <a:srgbClr val="FFFFFF"/>
                          </a:solidFill>
                          <a:latin typeface="Vazirmatn" pitchFamily="34" charset="0"/>
                          <a:ea typeface="Vazirmatn" pitchFamily="34" charset="-122"/>
                          <a:cs typeface="Vazirmatn" pitchFamily="34" charset="-120"/>
                        </a:rPr>
                        <a:t>رویکرد پیشنهادی</a:t>
                      </a:r>
                      <a:endParaRPr lang="en-US" sz="1200" dirty="0">
                        <a:latin typeface="Vazirmatn" charset="0"/>
                        <a:ea typeface="Vazirmatn" charset="0"/>
                        <a:cs typeface="Vazirmatn" charset="0"/>
                      </a:endParaRPr>
                    </a:p>
                  </a:txBody>
                  <a:tcPr marL="101600" marR="101600" marT="101600" marB="1016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Vazirmatn" pitchFamily="34" charset="0"/>
                          <a:ea typeface="Vazirmatn" pitchFamily="34" charset="-122"/>
                          <a:cs typeface="Vazirmatn" pitchFamily="34" charset="-120"/>
                        </a:rPr>
                        <a:t>رویکرد پایه / موجود</a:t>
                      </a:r>
                      <a:endParaRPr lang="en-US" sz="1200" dirty="0">
                        <a:latin typeface="Vazirmatn" charset="0"/>
                        <a:ea typeface="Vazirmatn" charset="0"/>
                        <a:cs typeface="Vazirmatn" charset="0"/>
                      </a:endParaRPr>
                    </a:p>
                  </a:txBody>
                  <a:tcPr marL="101600" marR="101600" marT="101600" marB="1016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475569"/>
                    </a:solidFill>
                  </a:tcPr>
                </a:tc>
              </a:tr>
              <a:tr h="411480">
                <a:tc>
                  <a:txBody>
                    <a:bodyPr/>
                    <a:lstStyle/>
                    <a:p>
                      <a:pPr algn="ctr" indent="0" marL="0">
                        <a:buNone/>
                      </a:pPr>
                      <a:r>
                        <a:rPr lang="en-US" sz="1200" dirty="0">
                          <a:solidFill>
                            <a:srgbClr val="334155"/>
                          </a:solidFill>
                          <a:latin typeface="Vazirmatn" pitchFamily="34" charset="0"/>
                          <a:ea typeface="Vazirmatn" pitchFamily="34" charset="-122"/>
                          <a:cs typeface="Vazirmatn" pitchFamily="34" charset="-120"/>
                        </a:rPr>
                        <a:t>ویژگی: دقت، روش موجود: بالا، روش پیشنهادی: بالا</a:t>
                      </a:r>
                      <a:endParaRPr lang="en-US" sz="1200" dirty="0">
                        <a:latin typeface="Vazirmatn" charset="0"/>
                        <a:ea typeface="Vazirmatn" charset="0"/>
                        <a:cs typeface="Vazirmatn" charset="0"/>
                      </a:endParaRPr>
                    </a:p>
                  </a:txBody>
                  <a:tcPr marL="101600" marR="101600" marT="101600" marB="1016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334155"/>
                          </a:solidFill>
                          <a:latin typeface="Vazirmatn" pitchFamily="34" charset="0"/>
                          <a:ea typeface="Vazirmatn" pitchFamily="34" charset="-122"/>
                          <a:cs typeface="Vazirmatn" pitchFamily="34" charset="-120"/>
                        </a:rPr>
                        <a:t>ویژگی: قابلیت تفسیر، روش موجود: محدود، روش پیشنهادی: بالا</a:t>
                      </a:r>
                      <a:endParaRPr lang="en-US" sz="1200" dirty="0">
                        <a:latin typeface="Vazirmatn" charset="0"/>
                        <a:ea typeface="Vazirmatn" charset="0"/>
                        <a:cs typeface="Vazirmatn" charset="0"/>
                      </a:endParaRPr>
                    </a:p>
                  </a:txBody>
                  <a:tcPr marL="101600" marR="101600" marT="101600" marB="1016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0F172A"/>
                </a:solidFill>
                <a:latin typeface="Vazirmatn" pitchFamily="34" charset="0"/>
                <a:ea typeface="Vazirmatn" pitchFamily="34" charset="-122"/>
                <a:cs typeface="Vazirmatn" pitchFamily="34" charset="-120"/>
              </a:rPr>
              <a:t>پیش زمینه نظری و مفاهیم پایه</a:t>
            </a:r>
            <a:endParaRPr lang="en-US" sz="2200" dirty="0"/>
          </a:p>
        </p:txBody>
      </p:sp>
      <p:sp>
        <p:nvSpPr>
          <p:cNvPr id="3" name="Shape 1"/>
          <p:cNvSpPr/>
          <p:nvPr/>
        </p:nvSpPr>
        <p:spPr>
          <a:xfrm>
            <a:off x="457200" y="822960"/>
            <a:ext cx="8229600" cy="0"/>
          </a:xfrm>
          <a:prstGeom prst="line">
            <a:avLst/>
          </a:prstGeom>
          <a:noFill/>
          <a:ln w="19050">
            <a:solidFill>
              <a:srgbClr val="1E40AF"/>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نظریه بازی ها با استفاده از مفاهیمی مانند شاخص شاپلی، به تحلیل اهمیت ویژگی ها در پیش بینی ها کمک می کند. این مفاهیم به ایجاد یک چارچوب یکپارچه برای تفسیر مدل ها کمک می کنند. به عنوان مثال، شاخص شاپلی به عنوان یک روش برای توزیع امتیازات بین بازیکنان در یک بازی استفاده می شود.</a:t>
            </a:r>
            <a:endParaRPr lang="en-US" sz="1300" dirty="0"/>
          </a:p>
        </p:txBody>
      </p:sp>
      <p:sp>
        <p:nvSpPr>
          <p:cNvPr id="5" name="Text 3"/>
          <p:cNvSpPr/>
          <p:nvPr/>
        </p:nvSpPr>
        <p:spPr>
          <a:xfrm>
            <a:off x="457200" y="2386584"/>
            <a:ext cx="8229600" cy="676656"/>
          </a:xfrm>
          <a:prstGeom prst="roundRect">
            <a:avLst/>
          </a:prstGeom>
          <a:solidFill>
            <a:srgbClr val="F8FAFC"/>
          </a:solidFill>
          <a:ln w="19050">
            <a:solidFill>
              <a:srgbClr val="64748B"/>
            </a:solidFill>
          </a:ln>
        </p:spPr>
        <p:txBody>
          <a:bodyPr wrap="square" lIns="101600" tIns="152400" rIns="152400" bIns="101600" rtlCol="0" anchor="ctr"/>
          <a:lstStyle/>
          <a:p>
            <a:pPr rtl="1" algn="r" indent="0" marL="0">
              <a:buNone/>
            </a:pPr>
            <a:r>
              <a:rPr lang="en-US" sz="1300" b="1" dirty="0">
                <a:solidFill>
                  <a:srgbClr val="0F172A"/>
                </a:solidFill>
                <a:latin typeface="Vazirmatn" pitchFamily="34" charset="0"/>
                <a:ea typeface="Vazirmatn" pitchFamily="34" charset="-122"/>
                <a:cs typeface="Vazirmatn" pitchFamily="34" charset="-120"/>
              </a:rPr>
              <a:t>یافته و نتیجه‌گیری کلیدی:</a:t>
            </a:r>
            <a:endParaRPr lang="en-US" sz="1300" dirty="0"/>
          </a:p>
          <a:p>
            <a:pPr rtl="1" algn="r" indent="0" marL="0">
              <a:buNone/>
            </a:pPr>
            <a:r>
              <a:rPr lang="en-US" sz="1300" b="1" dirty="0">
                <a:solidFill>
                  <a:srgbClr val="0F172A"/>
                </a:solidFill>
                <a:latin typeface="Vazirmatn" pitchFamily="34" charset="0"/>
                <a:ea typeface="Vazirmatn" pitchFamily="34" charset="-122"/>
                <a:cs typeface="Vazirmatn" pitchFamily="34" charset="-120"/>
              </a:rPr>
              <a:t>استفاده از نظریه بازی ها در تفسیر مدل ها به ایجاد یک چارچوب یکپارچه برای ارزیابی اهمیت ویژگی ها کمک می کند.</a:t>
            </a:r>
            <a:endParaRPr lang="en-US" sz="1300" dirty="0"/>
          </a:p>
        </p:txBody>
      </p:sp>
      <p:sp>
        <p:nvSpPr>
          <p:cNvPr id="6" name="Text 4"/>
          <p:cNvSpPr/>
          <p:nvPr/>
        </p:nvSpPr>
        <p:spPr>
          <a:xfrm>
            <a:off x="1371600" y="3227832"/>
            <a:ext cx="6400800" cy="640080"/>
          </a:xfrm>
          <a:prstGeom prst="roundRect">
            <a:avLst/>
          </a:prstGeom>
          <a:solidFill>
            <a:srgbClr val="F8FAFC"/>
          </a:solidFill>
          <a:ln w="12700">
            <a:solidFill>
              <a:srgbClr val="CBD5E1"/>
            </a:solidFill>
          </a:ln>
        </p:spPr>
        <p:txBody>
          <a:bodyPr wrap="square" lIns="76200" tIns="127000" rIns="127000" bIns="76200" rtlCol="0" anchor="ctr"/>
          <a:lstStyle/>
          <a:p>
            <a:pPr algn="ctr" indent="0" marL="0">
              <a:buNone/>
            </a:pPr>
            <a:r>
              <a:rPr lang="en-US" sz="1400" b="1" dirty="0">
                <a:solidFill>
                  <a:srgbClr val="1E3A8A"/>
                </a:solidFill>
                <a:latin typeface="Consolas" pitchFamily="34" charset="0"/>
                <a:ea typeface="Consolas" pitchFamily="34" charset="-122"/>
                <a:cs typeface="Consolas" pitchFamily="34" charset="-120"/>
              </a:rPr>
              <a:t>SHAP = Σ (φ_i)</a:t>
            </a:r>
            <a:endParaRPr lang="en-US" sz="1400" dirty="0"/>
          </a:p>
        </p:txBody>
      </p:sp>
      <p:sp>
        <p:nvSpPr>
          <p:cNvPr id="7" name="Text 5"/>
          <p:cNvSpPr/>
          <p:nvPr/>
        </p:nvSpPr>
        <p:spPr>
          <a:xfrm>
            <a:off x="457200" y="4032504"/>
            <a:ext cx="8229600" cy="585216"/>
          </a:xfrm>
          <a:prstGeom prst="rect">
            <a:avLst/>
          </a:prstGeom>
          <a:noFill/>
          <a:ln/>
        </p:spPr>
        <p:txBody>
          <a:bodyPr wrap="square" lIns="101600" tIns="152400" rIns="152400" bIns="101600" rtlCol="0" anchor="ctr"/>
          <a:lstStyle/>
          <a:p>
            <a:pPr rtl="1" algn="r" indent="0" marL="0">
              <a:buNone/>
            </a:pPr>
            <a:r>
              <a:rPr lang="en-US" sz="1200" i="1" dirty="0">
                <a:solidFill>
                  <a:srgbClr val="64748B"/>
                </a:solidFill>
                <a:latin typeface="Vazirmatn" pitchFamily="34" charset="0"/>
                <a:ea typeface="Vazirmatn" pitchFamily="34" charset="-122"/>
                <a:cs typeface="Vazirmatn" pitchFamily="34" charset="-120"/>
              </a:rPr>
              <a:t>تحلیل پارامترها و روابط: در این فرمول، SHAP نشان دهنده اهمیت ویژگی ها در پیش بینی ها است و φ_i نشان دهنده اهمیت ویژگی i ام می باشد.</a:t>
            </a:r>
            <a:endParaRPr lang="en-US" sz="1200" dirty="0"/>
          </a:p>
        </p:txBody>
      </p:sp>
      <p:sp>
        <p:nvSpPr>
          <p:cNvPr id="8" name="Text 6"/>
          <p:cNvSpPr/>
          <p:nvPr/>
        </p:nvSpPr>
        <p:spPr>
          <a:xfrm>
            <a:off x="457200" y="4782312"/>
            <a:ext cx="8229600" cy="877824"/>
          </a:xfrm>
          <a:prstGeom prst="roundRect">
            <a:avLst/>
          </a:prstGeom>
          <a:solidFill>
            <a:srgbClr val="F1F5F9"/>
          </a:solidFill>
          <a:ln w="12700">
            <a:solidFill>
              <a:srgbClr val="94A3B8"/>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نظریه بازی ها و اهمیت ویژگی ها</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نظریه بازی ها یک چارچوب ریاضی برای تحلیل رفتار بازیکنان در محیط های رقابتی است. این نظریه به تعریف اهمیت ویژگی ها در پیش بینی ها کمک می کند.</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0F172A"/>
                </a:solidFill>
                <a:latin typeface="Vazirmatn" pitchFamily="34" charset="0"/>
                <a:ea typeface="Vazirmatn" pitchFamily="34" charset="-122"/>
                <a:cs typeface="Vazirmatn" pitchFamily="34" charset="-120"/>
              </a:rPr>
              <a:t>نوآوری اصلی و مفهوم مرکزی</a:t>
            </a:r>
            <a:endParaRPr lang="en-US" sz="2200" dirty="0"/>
          </a:p>
        </p:txBody>
      </p:sp>
      <p:sp>
        <p:nvSpPr>
          <p:cNvPr id="3" name="Shape 1"/>
          <p:cNvSpPr/>
          <p:nvPr/>
        </p:nvSpPr>
        <p:spPr>
          <a:xfrm>
            <a:off x="457200" y="822960"/>
            <a:ext cx="8229600" cy="0"/>
          </a:xfrm>
          <a:prstGeom prst="line">
            <a:avLst/>
          </a:prstGeom>
          <a:noFill/>
          <a:ln w="19050">
            <a:solidFill>
              <a:srgbClr val="1E40AF"/>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به عنوان یک روش یکپارچه برای تفسیر پیش بینی های مدل ها، با استفاده از مفاهیم نظری بازی ها، به ارزیابی اهمیت ویژگی ها کمک می کند. این روش به دلیل قابلیت تفسیر بالا و سازگاری با انتظارات انسانی، به عنوان یک روش پیشرفته در حوزه تفسیر مدل ها معرفی شده است.</a:t>
            </a:r>
            <a:endParaRPr lang="en-US" sz="1300" dirty="0"/>
          </a:p>
        </p:txBody>
      </p:sp>
      <p:sp>
        <p:nvSpPr>
          <p:cNvPr id="5" name="Text 3"/>
          <p:cNvSpPr/>
          <p:nvPr/>
        </p:nvSpPr>
        <p:spPr>
          <a:xfrm>
            <a:off x="457200" y="2386584"/>
            <a:ext cx="8229600" cy="768096"/>
          </a:xfrm>
          <a:prstGeom prst="roundRect">
            <a:avLst/>
          </a:prstGeom>
          <a:solidFill>
            <a:srgbClr val="F8FAFC"/>
          </a:solidFill>
          <a:ln w="12700">
            <a:solidFill>
              <a:srgbClr val="CBD5E1"/>
            </a:solid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تعریف تخصصی:</a:t>
            </a:r>
            <a:endParaRPr lang="en-US" sz="1300" dirty="0"/>
          </a:p>
          <a:p>
            <a:pPr rtl="1" algn="r" indent="0" marL="0">
              <a:buNone/>
            </a:pPr>
            <a:r>
              <a:rPr lang="en-US" sz="1300" dirty="0">
                <a:solidFill>
                  <a:srgbClr val="334155"/>
                </a:solidFill>
                <a:latin typeface="Vazirmatn" pitchFamily="34" charset="0"/>
                <a:ea typeface="Vazirmatn" pitchFamily="34" charset="-122"/>
                <a:cs typeface="Vazirmatn" pitchFamily="34" charset="-120"/>
              </a:rPr>
              <a:t>SHAP: روشی برای تفسیر پیش بینی های مدل ها که با استفاده از مفاهیم نظری بازی ها، به ارزیابی اهمیت ویژگی ها کمک می کند.</a:t>
            </a:r>
            <a:endParaRPr lang="en-US" sz="1300" dirty="0"/>
          </a:p>
        </p:txBody>
      </p:sp>
      <p:sp>
        <p:nvSpPr>
          <p:cNvPr id="6" name="Text 4"/>
          <p:cNvSpPr/>
          <p:nvPr/>
        </p:nvSpPr>
        <p:spPr>
          <a:xfrm>
            <a:off x="457200" y="3319272"/>
            <a:ext cx="8229600" cy="877824"/>
          </a:xfrm>
          <a:prstGeom prst="roundRect">
            <a:avLst/>
          </a:prstGeom>
          <a:solidFill>
            <a:srgbClr val="F1F5F9"/>
          </a:solidFill>
          <a:ln w="12700">
            <a:solidFill>
              <a:srgbClr val="94A3B8"/>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نوآوری اصلی: SHAP</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SHAP (SHapley Additive exPlanations) یک روش یکپارچه برای تفسیر پیش بینی های مدل ها است که با استفاده از مفاهیم نظری بازی ها، به ارزیابی اهمیت ویژگی ها کمک می کند.</a:t>
            </a:r>
            <a:endParaRPr lang="en-US" sz="1300" dirty="0"/>
          </a:p>
        </p:txBody>
      </p:sp>
      <p:sp>
        <p:nvSpPr>
          <p:cNvPr id="7" name="Text 5"/>
          <p:cNvSpPr/>
          <p:nvPr/>
        </p:nvSpPr>
        <p:spPr>
          <a:xfrm>
            <a:off x="457200" y="4361688"/>
            <a:ext cx="8229600" cy="594360"/>
          </a:xfrm>
          <a:prstGeom prst="roundRect">
            <a:avLst/>
          </a:prstGeom>
          <a:solidFill>
            <a:srgbClr val="0F172A"/>
          </a:solidFill>
          <a:ln/>
        </p:spPr>
        <p:txBody>
          <a:bodyPr wrap="square" lIns="101600" tIns="152400" rIns="152400" bIns="101600" rtlCol="0" anchor="ctr"/>
          <a:lstStyle/>
          <a:p>
            <a:pPr rtl="1" algn="ctr" indent="0" marL="0">
              <a:buNone/>
            </a:pPr>
            <a:r>
              <a:rPr lang="en-US" sz="1300" b="1" dirty="0">
                <a:solidFill>
                  <a:srgbClr val="FFFFFF"/>
                </a:solidFill>
                <a:latin typeface="Vazirmatn" pitchFamily="34" charset="0"/>
                <a:ea typeface="Vazirmatn" pitchFamily="34" charset="-122"/>
                <a:cs typeface="Vazirmatn" pitchFamily="34" charset="-120"/>
              </a:rPr>
              <a:t>معماری پایپ‌لاین: ورودی: داده های مدل ➔ پردازش: محاسبه اهمیت ویژگی ها با استفاده از SHAP ➔ خروجی: تفسیر پیش بینی ها</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0F172A"/>
                </a:solidFill>
                <a:latin typeface="Vazirmatn" pitchFamily="34" charset="0"/>
                <a:ea typeface="Vazirmatn" pitchFamily="34" charset="-122"/>
                <a:cs typeface="Vazirmatn" pitchFamily="34" charset="-120"/>
              </a:rPr>
              <a:t>روش شناسی فنی و فرآیند اجرا</a:t>
            </a:r>
            <a:endParaRPr lang="en-US" sz="2200" dirty="0"/>
          </a:p>
        </p:txBody>
      </p:sp>
      <p:sp>
        <p:nvSpPr>
          <p:cNvPr id="3" name="Shape 1"/>
          <p:cNvSpPr/>
          <p:nvPr/>
        </p:nvSpPr>
        <p:spPr>
          <a:xfrm>
            <a:off x="457200" y="822960"/>
            <a:ext cx="8229600" cy="0"/>
          </a:xfrm>
          <a:prstGeom prst="line">
            <a:avLst/>
          </a:prstGeom>
          <a:noFill/>
          <a:ln w="19050">
            <a:solidFill>
              <a:srgbClr val="1E40AF"/>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فرآیند محاسبه SHAP شامل چند مرحله است. ابتدا بازی تعریف می شود که شامل مجموعه ای از بازیکنان (ویژگی ها) و تابع ارزش است. سپس شاپلی برای هر بازیکن محاسبه می شود که نشان دهنده اهمیت آن بازیکن در پیش بینی ها است. در نهایت، نتایج با استفاده از گرافیک های مناسب تفسیر می شوند.</a:t>
            </a:r>
            <a:endParaRPr lang="en-US" sz="1300" dirty="0"/>
          </a:p>
        </p:txBody>
      </p:sp>
      <p:sp>
        <p:nvSpPr>
          <p:cNvPr id="5" name="Text 3"/>
          <p:cNvSpPr/>
          <p:nvPr/>
        </p:nvSpPr>
        <p:spPr>
          <a:xfrm>
            <a:off x="457200" y="2386584"/>
            <a:ext cx="8229600" cy="640080"/>
          </a:xfrm>
          <a:prstGeom prst="roundRect">
            <a:avLst/>
          </a:prstGeom>
          <a:solidFill>
            <a:srgbClr val="F8FAFC"/>
          </a:solidFill>
          <a:ln w="19050">
            <a:solidFill>
              <a:srgbClr val="64748B"/>
            </a:solidFill>
          </a:ln>
        </p:spPr>
        <p:txBody>
          <a:bodyPr wrap="square" lIns="101600" tIns="152400" rIns="152400" bIns="101600" rtlCol="0" anchor="ctr"/>
          <a:lstStyle/>
          <a:p>
            <a:pPr rtl="1" algn="r" indent="0" marL="0">
              <a:buNone/>
            </a:pPr>
            <a:r>
              <a:rPr lang="en-US" sz="1300" b="1" dirty="0">
                <a:solidFill>
                  <a:srgbClr val="0F172A"/>
                </a:solidFill>
                <a:latin typeface="Vazirmatn" pitchFamily="34" charset="0"/>
                <a:ea typeface="Vazirmatn" pitchFamily="34" charset="-122"/>
                <a:cs typeface="Vazirmatn" pitchFamily="34" charset="-120"/>
              </a:rPr>
              <a:t>یافته و نتیجه‌گیری کلیدی:</a:t>
            </a:r>
            <a:endParaRPr lang="en-US" sz="1300" dirty="0"/>
          </a:p>
          <a:p>
            <a:pPr rtl="1" algn="r" indent="0" marL="0">
              <a:buNone/>
            </a:pPr>
            <a:r>
              <a:rPr lang="en-US" sz="1300" b="1" dirty="0">
                <a:solidFill>
                  <a:srgbClr val="0F172A"/>
                </a:solidFill>
                <a:latin typeface="Vazirmatn" pitchFamily="34" charset="0"/>
                <a:ea typeface="Vazirmatn" pitchFamily="34" charset="-122"/>
                <a:cs typeface="Vazirmatn" pitchFamily="34" charset="-120"/>
              </a:rPr>
              <a:t>استفاده از روش SHAP به بهبود قابلیت تفسیر مدل ها و افزایش اعتماد کاربران کمک می کند.</a:t>
            </a:r>
            <a:endParaRPr lang="en-US" sz="1300" dirty="0"/>
          </a:p>
        </p:txBody>
      </p:sp>
      <p:sp>
        <p:nvSpPr>
          <p:cNvPr id="6" name="Text 4"/>
          <p:cNvSpPr/>
          <p:nvPr/>
        </p:nvSpPr>
        <p:spPr>
          <a:xfrm>
            <a:off x="457200" y="3191256"/>
            <a:ext cx="8229600" cy="877824"/>
          </a:xfrm>
          <a:prstGeom prst="roundRect">
            <a:avLst/>
          </a:prstGeom>
          <a:solidFill>
            <a:srgbClr val="F1F5F9"/>
          </a:solidFill>
          <a:ln w="12700">
            <a:solidFill>
              <a:srgbClr val="94A3B8"/>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روش های محاسبه SHAP</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SHAP با استفاده از مفاهیم نظری بازی ها، به محاسبه اهمیت ویژگی ها در پیش بینی ها می پردازد. این روش شامل مراحلی مانند تعریف بازی، محاسبه شاپلی و تفسیر نتایج است.</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0F172A"/>
                </a:solidFill>
                <a:latin typeface="Vazirmatn" pitchFamily="34" charset="0"/>
                <a:ea typeface="Vazirmatn" pitchFamily="34" charset="-122"/>
                <a:cs typeface="Vazirmatn" pitchFamily="34" charset="-120"/>
              </a:rPr>
              <a:t>جزئیات فنی و فرمول ها</a:t>
            </a:r>
            <a:endParaRPr lang="en-US" sz="2200" dirty="0"/>
          </a:p>
        </p:txBody>
      </p:sp>
      <p:sp>
        <p:nvSpPr>
          <p:cNvPr id="3" name="Shape 1"/>
          <p:cNvSpPr/>
          <p:nvPr/>
        </p:nvSpPr>
        <p:spPr>
          <a:xfrm>
            <a:off x="457200" y="822960"/>
            <a:ext cx="8229600" cy="0"/>
          </a:xfrm>
          <a:prstGeom prst="line">
            <a:avLst/>
          </a:prstGeom>
          <a:noFill/>
          <a:ln w="19050">
            <a:solidFill>
              <a:srgbClr val="1E40AF"/>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فرمول SHAP به صورت زیر است: SHAP = Σ (φ_i) که در آن φ_i اهمیت ویژگی i ام است. این فرمول با استفاده از مفاهیم نظری بازی ها، به توزیع امتیازات بین ویژگی ها کمک می کند. همچنین، تابع ارزش بازی به عنوان یک تابعی که ارزش یک زیرمجموعه از بازیکنان را تعیین می کند، استفاده می شود.</a:t>
            </a:r>
            <a:endParaRPr lang="en-US" sz="1300" dirty="0"/>
          </a:p>
        </p:txBody>
      </p:sp>
      <p:sp>
        <p:nvSpPr>
          <p:cNvPr id="5" name="Text 3"/>
          <p:cNvSpPr/>
          <p:nvPr/>
        </p:nvSpPr>
        <p:spPr>
          <a:xfrm>
            <a:off x="457200" y="2386584"/>
            <a:ext cx="8229600" cy="731520"/>
          </a:xfrm>
          <a:prstGeom prst="roundRect">
            <a:avLst/>
          </a:prstGeom>
          <a:solidFill>
            <a:srgbClr val="F8FAFC"/>
          </a:solidFill>
          <a:ln w="12700">
            <a:solidFill>
              <a:srgbClr val="CBD5E1"/>
            </a:solid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تعریف تخصصی:</a:t>
            </a:r>
            <a:endParaRPr lang="en-US" sz="1300" dirty="0"/>
          </a:p>
          <a:p>
            <a:pPr rtl="1" algn="r" indent="0" marL="0">
              <a:buNone/>
            </a:pPr>
            <a:r>
              <a:rPr lang="en-US" sz="1300" dirty="0">
                <a:solidFill>
                  <a:srgbClr val="334155"/>
                </a:solidFill>
                <a:latin typeface="Vazirmatn" pitchFamily="34" charset="0"/>
                <a:ea typeface="Vazirmatn" pitchFamily="34" charset="-122"/>
                <a:cs typeface="Vazirmatn" pitchFamily="34" charset="-120"/>
              </a:rPr>
              <a:t>تابع ارزش بازی: تابعی که ارزش یک زیرمجموعه از بازیکنان را تعیین می کند.</a:t>
            </a:r>
            <a:endParaRPr lang="en-US" sz="1300" dirty="0"/>
          </a:p>
        </p:txBody>
      </p:sp>
      <p:sp>
        <p:nvSpPr>
          <p:cNvPr id="6" name="Text 4"/>
          <p:cNvSpPr/>
          <p:nvPr/>
        </p:nvSpPr>
        <p:spPr>
          <a:xfrm>
            <a:off x="1371600" y="3282696"/>
            <a:ext cx="6400800" cy="640080"/>
          </a:xfrm>
          <a:prstGeom prst="roundRect">
            <a:avLst/>
          </a:prstGeom>
          <a:solidFill>
            <a:srgbClr val="F8FAFC"/>
          </a:solidFill>
          <a:ln w="12700">
            <a:solidFill>
              <a:srgbClr val="CBD5E1"/>
            </a:solidFill>
          </a:ln>
        </p:spPr>
        <p:txBody>
          <a:bodyPr wrap="square" lIns="76200" tIns="127000" rIns="127000" bIns="76200" rtlCol="0" anchor="ctr"/>
          <a:lstStyle/>
          <a:p>
            <a:pPr algn="ctr" indent="0" marL="0">
              <a:buNone/>
            </a:pPr>
            <a:r>
              <a:rPr lang="en-US" sz="1400" b="1" dirty="0">
                <a:solidFill>
                  <a:srgbClr val="1E3A8A"/>
                </a:solidFill>
                <a:latin typeface="Consolas" pitchFamily="34" charset="0"/>
                <a:ea typeface="Consolas" pitchFamily="34" charset="-122"/>
                <a:cs typeface="Consolas" pitchFamily="34" charset="-120"/>
              </a:rPr>
              <a:t>SHAP = Σ (φ_i) = Σ (v(S ∪ {i}) - v(S)) / 2^{|N| - 1}</a:t>
            </a:r>
            <a:endParaRPr lang="en-US" sz="1400" dirty="0"/>
          </a:p>
        </p:txBody>
      </p:sp>
      <p:sp>
        <p:nvSpPr>
          <p:cNvPr id="7" name="Text 5"/>
          <p:cNvSpPr/>
          <p:nvPr/>
        </p:nvSpPr>
        <p:spPr>
          <a:xfrm>
            <a:off x="457200" y="4087368"/>
            <a:ext cx="8229600" cy="585216"/>
          </a:xfrm>
          <a:prstGeom prst="rect">
            <a:avLst/>
          </a:prstGeom>
          <a:noFill/>
          <a:ln/>
        </p:spPr>
        <p:txBody>
          <a:bodyPr wrap="square" lIns="101600" tIns="152400" rIns="152400" bIns="101600" rtlCol="0" anchor="ctr"/>
          <a:lstStyle/>
          <a:p>
            <a:pPr rtl="1" algn="r" indent="0" marL="0">
              <a:buNone/>
            </a:pPr>
            <a:r>
              <a:rPr lang="en-US" sz="1200" i="1" dirty="0">
                <a:solidFill>
                  <a:srgbClr val="64748B"/>
                </a:solidFill>
                <a:latin typeface="Vazirmatn" pitchFamily="34" charset="0"/>
                <a:ea typeface="Vazirmatn" pitchFamily="34" charset="-122"/>
                <a:cs typeface="Vazirmatn" pitchFamily="34" charset="-120"/>
              </a:rPr>
              <a:t>تحلیل پارامترها و روابط: در این فرمول، v(S) ارزش زیرمجموعه S است و φ_i اهمیت ویژگی i ام می باشد. این فرمول با استفاده از مفاهیم نظری بازی ها، به محاسبه اهمیت ویژگی ها می پردازد.</a:t>
            </a:r>
            <a:endParaRPr lang="en-US" sz="1200" dirty="0"/>
          </a:p>
        </p:txBody>
      </p:sp>
      <p:sp>
        <p:nvSpPr>
          <p:cNvPr id="8" name="Text 6"/>
          <p:cNvSpPr/>
          <p:nvPr/>
        </p:nvSpPr>
        <p:spPr>
          <a:xfrm>
            <a:off x="457200" y="4837176"/>
            <a:ext cx="8229600" cy="585216"/>
          </a:xfrm>
          <a:prstGeom prst="roundRect">
            <a:avLst/>
          </a:prstGeom>
          <a:solidFill>
            <a:srgbClr val="F1F5F9"/>
          </a:solidFill>
          <a:ln w="12700">
            <a:solidFill>
              <a:srgbClr val="94A3B8"/>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فرمول های محاسبه SHAP</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SHAP با استفاده از فرمول های ریاضی پیچیده، به محاسبه اهمیت ویژگی ها در پیش بینی ها می پردازد. این فرمول ها شامل مفاهیمی مانند شاپلی و تابع ارزش است.</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0F172A"/>
                </a:solidFill>
                <a:latin typeface="Vazirmatn" pitchFamily="34" charset="0"/>
                <a:ea typeface="Vazirmatn" pitchFamily="34" charset="-122"/>
                <a:cs typeface="Vazirmatn" pitchFamily="34" charset="-120"/>
              </a:rPr>
              <a:t>مکانیسم های عملی و نحوه کارکرد</a:t>
            </a:r>
            <a:endParaRPr lang="en-US" sz="2200" dirty="0"/>
          </a:p>
        </p:txBody>
      </p:sp>
      <p:sp>
        <p:nvSpPr>
          <p:cNvPr id="3" name="Shape 1"/>
          <p:cNvSpPr/>
          <p:nvPr/>
        </p:nvSpPr>
        <p:spPr>
          <a:xfrm>
            <a:off x="457200" y="822960"/>
            <a:ext cx="8229600" cy="0"/>
          </a:xfrm>
          <a:prstGeom prst="line">
            <a:avLst/>
          </a:prstGeom>
          <a:noFill/>
          <a:ln w="19050">
            <a:solidFill>
              <a:srgbClr val="1E40AF"/>
            </a:solidFill>
            <a:prstDash val="solid"/>
          </a:ln>
        </p:spPr>
      </p:sp>
      <p:sp>
        <p:nvSpPr>
          <p:cNvPr id="4" name="Text 2"/>
          <p:cNvSpPr/>
          <p:nvPr/>
        </p:nvSpPr>
        <p:spPr>
          <a:xfrm>
            <a:off x="457200" y="1051560"/>
            <a:ext cx="8229600" cy="1170432"/>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در مدل های مختلفی مانند شبکه های عصبی عمیق و مدل های انتگرالی، به تفسیر پیش بینی ها کمک می کند. این روش با استفاده از مفاهیم نظری بازی ها، به ارزیابی اهمیت ویژگی ها می پردازد. به عنوان مثال، در مدل های شبکه عصبی، SHAP به تحلیل تأثیر هر لایه بر پیش بینی ها کمک می کند.</a:t>
            </a:r>
            <a:endParaRPr lang="en-US" sz="1300" dirty="0"/>
          </a:p>
        </p:txBody>
      </p:sp>
      <p:sp>
        <p:nvSpPr>
          <p:cNvPr id="5" name="Text 3"/>
          <p:cNvSpPr/>
          <p:nvPr/>
        </p:nvSpPr>
        <p:spPr>
          <a:xfrm>
            <a:off x="457200" y="2386584"/>
            <a:ext cx="8229600" cy="640080"/>
          </a:xfrm>
          <a:prstGeom prst="roundRect">
            <a:avLst/>
          </a:prstGeom>
          <a:solidFill>
            <a:srgbClr val="F8FAFC"/>
          </a:solidFill>
          <a:ln w="19050">
            <a:solidFill>
              <a:srgbClr val="64748B"/>
            </a:solidFill>
          </a:ln>
        </p:spPr>
        <p:txBody>
          <a:bodyPr wrap="square" lIns="101600" tIns="152400" rIns="152400" bIns="101600" rtlCol="0" anchor="ctr"/>
          <a:lstStyle/>
          <a:p>
            <a:pPr rtl="1" algn="r" indent="0" marL="0">
              <a:buNone/>
            </a:pPr>
            <a:r>
              <a:rPr lang="en-US" sz="1300" b="1" dirty="0">
                <a:solidFill>
                  <a:srgbClr val="0F172A"/>
                </a:solidFill>
                <a:latin typeface="Vazirmatn" pitchFamily="34" charset="0"/>
                <a:ea typeface="Vazirmatn" pitchFamily="34" charset="-122"/>
                <a:cs typeface="Vazirmatn" pitchFamily="34" charset="-120"/>
              </a:rPr>
              <a:t>یافته و نتیجه‌گیری کلیدی:</a:t>
            </a:r>
            <a:endParaRPr lang="en-US" sz="1300" dirty="0"/>
          </a:p>
          <a:p>
            <a:pPr rtl="1" algn="r" indent="0" marL="0">
              <a:buNone/>
            </a:pPr>
            <a:r>
              <a:rPr lang="en-US" sz="1300" b="1" dirty="0">
                <a:solidFill>
                  <a:srgbClr val="0F172A"/>
                </a:solidFill>
                <a:latin typeface="Vazirmatn" pitchFamily="34" charset="0"/>
                <a:ea typeface="Vazirmatn" pitchFamily="34" charset="-122"/>
                <a:cs typeface="Vazirmatn" pitchFamily="34" charset="-120"/>
              </a:rPr>
              <a:t>SHAP به عنوان یک روش یکپارچه، در مدل های مختلفی به تفسیر پیش بینی ها کمک می کند.</a:t>
            </a:r>
            <a:endParaRPr lang="en-US" sz="1300" dirty="0"/>
          </a:p>
        </p:txBody>
      </p:sp>
      <p:sp>
        <p:nvSpPr>
          <p:cNvPr id="6" name="Text 4"/>
          <p:cNvSpPr/>
          <p:nvPr/>
        </p:nvSpPr>
        <p:spPr>
          <a:xfrm>
            <a:off x="457200" y="3191256"/>
            <a:ext cx="8229600" cy="877824"/>
          </a:xfrm>
          <a:prstGeom prst="roundRect">
            <a:avLst/>
          </a:prstGeom>
          <a:solidFill>
            <a:srgbClr val="F1F5F9"/>
          </a:solidFill>
          <a:ln w="12700">
            <a:solidFill>
              <a:srgbClr val="94A3B8"/>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کارکرد SHAP در مدل های مختلف</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SHAP به عنوان یک روش یکپارچه، در مدل های مختلفی مانند شبکه های عصبی عمیق و مدل های انتگرالی، به تفسیر پیش بینی ها کمک می کند. این روش با استفاده از مفاهیم نظری بازی ها، به ارزیابی اهمیت ویژگی ها می پردازد.</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0F172A"/>
                </a:solidFill>
                <a:latin typeface="Vazirmatn" pitchFamily="34" charset="0"/>
                <a:ea typeface="Vazirmatn" pitchFamily="34" charset="-122"/>
                <a:cs typeface="Vazirmatn" pitchFamily="34" charset="-120"/>
              </a:rPr>
              <a:t>مقایسه روش با سایر روش ها و ارزیابی</a:t>
            </a:r>
            <a:endParaRPr lang="en-US" sz="2200" dirty="0"/>
          </a:p>
        </p:txBody>
      </p:sp>
      <p:sp>
        <p:nvSpPr>
          <p:cNvPr id="3" name="Shape 1"/>
          <p:cNvSpPr/>
          <p:nvPr/>
        </p:nvSpPr>
        <p:spPr>
          <a:xfrm>
            <a:off x="457200" y="822960"/>
            <a:ext cx="8229600" cy="0"/>
          </a:xfrm>
          <a:prstGeom prst="line">
            <a:avLst/>
          </a:prstGeom>
          <a:noFill/>
          <a:ln w="19050">
            <a:solidFill>
              <a:srgbClr val="1E40AF"/>
            </a:solidFill>
            <a:prstDash val="solid"/>
          </a:ln>
        </p:spPr>
      </p:sp>
      <p:sp>
        <p:nvSpPr>
          <p:cNvPr id="4" name="Text 2"/>
          <p:cNvSpPr/>
          <p:nvPr/>
        </p:nvSpPr>
        <p:spPr>
          <a:xfrm>
            <a:off x="457200" y="1051560"/>
            <a:ext cx="8229600" cy="877824"/>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با روش های دیگری مانند LIME و مدل های خطی، به دلیل قابلیت تفسیر بالا و سازگاری با انتظارات انسانی، بهتر عمل می کند. این روش با استفاده از مفاهیم نظری بازی ها، به ایجاد یک چارچوب یکپارچه برای تفسیر مدل ها کمک می کند.</a:t>
            </a:r>
            <a:endParaRPr lang="en-US" sz="1300" dirty="0"/>
          </a:p>
        </p:txBody>
      </p:sp>
      <p:sp>
        <p:nvSpPr>
          <p:cNvPr id="5" name="Text 3"/>
          <p:cNvSpPr/>
          <p:nvPr/>
        </p:nvSpPr>
        <p:spPr>
          <a:xfrm>
            <a:off x="457200" y="2093976"/>
            <a:ext cx="8229600" cy="676656"/>
          </a:xfrm>
          <a:prstGeom prst="roundRect">
            <a:avLst/>
          </a:prstGeom>
          <a:solidFill>
            <a:srgbClr val="F8FAFC"/>
          </a:solidFill>
          <a:ln w="19050">
            <a:solidFill>
              <a:srgbClr val="64748B"/>
            </a:solidFill>
          </a:ln>
        </p:spPr>
        <p:txBody>
          <a:bodyPr wrap="square" lIns="101600" tIns="152400" rIns="152400" bIns="101600" rtlCol="0" anchor="ctr"/>
          <a:lstStyle/>
          <a:p>
            <a:pPr rtl="1" algn="r" indent="0" marL="0">
              <a:buNone/>
            </a:pPr>
            <a:r>
              <a:rPr lang="en-US" sz="1300" b="1" dirty="0">
                <a:solidFill>
                  <a:srgbClr val="0F172A"/>
                </a:solidFill>
                <a:latin typeface="Vazirmatn" pitchFamily="34" charset="0"/>
                <a:ea typeface="Vazirmatn" pitchFamily="34" charset="-122"/>
                <a:cs typeface="Vazirmatn" pitchFamily="34" charset="-120"/>
              </a:rPr>
              <a:t>یافته و نتیجه‌گیری کلیدی:</a:t>
            </a:r>
            <a:endParaRPr lang="en-US" sz="1300" dirty="0"/>
          </a:p>
          <a:p>
            <a:pPr rtl="1" algn="r" indent="0" marL="0">
              <a:buNone/>
            </a:pPr>
            <a:r>
              <a:rPr lang="en-US" sz="1300" b="1" dirty="0">
                <a:solidFill>
                  <a:srgbClr val="0F172A"/>
                </a:solidFill>
                <a:latin typeface="Vazirmatn" pitchFamily="34" charset="0"/>
                <a:ea typeface="Vazirmatn" pitchFamily="34" charset="-122"/>
                <a:cs typeface="Vazirmatn" pitchFamily="34" charset="-120"/>
              </a:rPr>
              <a:t>SHAP به دلیل قابلیت تفسیر بالا و سازگاری با انتظارات انسانی، بهتر از روش های دیگر عمل می کند.</a:t>
            </a:r>
            <a:endParaRPr lang="en-US" sz="1300" dirty="0"/>
          </a:p>
        </p:txBody>
      </p:sp>
      <p:sp>
        <p:nvSpPr>
          <p:cNvPr id="6" name="Text 4"/>
          <p:cNvSpPr/>
          <p:nvPr/>
        </p:nvSpPr>
        <p:spPr>
          <a:xfrm>
            <a:off x="457200" y="2935224"/>
            <a:ext cx="8229600" cy="585216"/>
          </a:xfrm>
          <a:prstGeom prst="roundRect">
            <a:avLst/>
          </a:prstGeom>
          <a:solidFill>
            <a:srgbClr val="F1F5F9"/>
          </a:solidFill>
          <a:ln w="12700">
            <a:solidFill>
              <a:srgbClr val="94A3B8"/>
            </a:solidFill>
          </a:ln>
        </p:spPr>
        <p:txBody>
          <a:bodyPr wrap="square" lIns="101600" tIns="152400" rIns="152400" bIns="101600" rtlCol="0" anchor="ctr"/>
          <a:lstStyle/>
          <a:p>
            <a:pPr rtl="1" algn="r" indent="0" marL="0">
              <a:buNone/>
            </a:pPr>
            <a:r>
              <a:rPr lang="en-US" sz="1300" b="1" dirty="0">
                <a:solidFill>
                  <a:srgbClr val="334155"/>
                </a:solidFill>
                <a:latin typeface="Vazirmatn" pitchFamily="34" charset="0"/>
                <a:ea typeface="Vazirmatn" pitchFamily="34" charset="-122"/>
                <a:cs typeface="Vazirmatn" pitchFamily="34" charset="-120"/>
              </a:rPr>
              <a:t>مقایسه SHAP با روش های دیگر</a:t>
            </a:r>
            <a:endParaRPr lang="en-US" sz="1300" dirty="0"/>
          </a:p>
          <a:p>
            <a:pPr rtl="1" algn="r" indent="0" marL="0">
              <a:buNone/>
            </a:pPr>
            <a:r>
              <a:rPr lang="en-US" sz="1300" b="1" dirty="0">
                <a:solidFill>
                  <a:srgbClr val="334155"/>
                </a:solidFill>
                <a:latin typeface="Vazirmatn" pitchFamily="34" charset="0"/>
                <a:ea typeface="Vazirmatn" pitchFamily="34" charset="-122"/>
                <a:cs typeface="Vazirmatn" pitchFamily="34" charset="-120"/>
              </a:rPr>
              <a:t>SHAP با روش های دیگری مانند LIME و مدل های خطی، به دلیل قابلیت تفسیر بالا و سازگاری با انتظارات انسانی، بهتر عمل می کند.</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3685032"/>
          <a:ext cx="8229600" cy="822960"/>
        </p:xfrm>
        <a:graphic>
          <a:graphicData uri="http://schemas.openxmlformats.org/drawingml/2006/table">
            <a:tbl>
              <a:tblPr/>
              <a:tblGrid>
                <a:gridCol w="4114800"/>
                <a:gridCol w="4114800"/>
              </a:tblGrid>
              <a:tr h="411480">
                <a:tc>
                  <a:txBody>
                    <a:bodyPr/>
                    <a:lstStyle/>
                    <a:p>
                      <a:pPr algn="ctr" indent="0" marL="0">
                        <a:buNone/>
                      </a:pPr>
                      <a:r>
                        <a:rPr lang="en-US" sz="1200" b="1" dirty="0">
                          <a:solidFill>
                            <a:srgbClr val="FFFFFF"/>
                          </a:solidFill>
                          <a:latin typeface="Vazirmatn" pitchFamily="34" charset="0"/>
                          <a:ea typeface="Vazirmatn" pitchFamily="34" charset="-122"/>
                          <a:cs typeface="Vazirmatn" pitchFamily="34" charset="-120"/>
                        </a:rPr>
                        <a:t>رویکرد پیشنهادی</a:t>
                      </a:r>
                      <a:endParaRPr lang="en-US" sz="1200" dirty="0">
                        <a:latin typeface="Vazirmatn" charset="0"/>
                        <a:ea typeface="Vazirmatn" charset="0"/>
                        <a:cs typeface="Vazirmatn" charset="0"/>
                      </a:endParaRPr>
                    </a:p>
                  </a:txBody>
                  <a:tcPr marL="101600" marR="101600" marT="101600" marB="1016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200" b="1" dirty="0">
                          <a:solidFill>
                            <a:srgbClr val="FFFFFF"/>
                          </a:solidFill>
                          <a:latin typeface="Vazirmatn" pitchFamily="34" charset="0"/>
                          <a:ea typeface="Vazirmatn" pitchFamily="34" charset="-122"/>
                          <a:cs typeface="Vazirmatn" pitchFamily="34" charset="-120"/>
                        </a:rPr>
                        <a:t>رویکرد پایه / موجود</a:t>
                      </a:r>
                      <a:endParaRPr lang="en-US" sz="1200" dirty="0">
                        <a:latin typeface="Vazirmatn" charset="0"/>
                        <a:ea typeface="Vazirmatn" charset="0"/>
                        <a:cs typeface="Vazirmatn" charset="0"/>
                      </a:endParaRPr>
                    </a:p>
                  </a:txBody>
                  <a:tcPr marL="101600" marR="101600" marT="101600" marB="1016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475569"/>
                    </a:solidFill>
                  </a:tcPr>
                </a:tc>
              </a:tr>
              <a:tr h="411480">
                <a:tc>
                  <a:txBody>
                    <a:bodyPr/>
                    <a:lstStyle/>
                    <a:p>
                      <a:pPr algn="ctr" indent="0" marL="0">
                        <a:buNone/>
                      </a:pPr>
                      <a:r>
                        <a:rPr lang="en-US" sz="1200" dirty="0">
                          <a:solidFill>
                            <a:srgbClr val="334155"/>
                          </a:solidFill>
                          <a:latin typeface="Vazirmatn" pitchFamily="34" charset="0"/>
                          <a:ea typeface="Vazirmatn" pitchFamily="34" charset="-122"/>
                          <a:cs typeface="Vazirmatn" pitchFamily="34" charset="-120"/>
                        </a:rPr>
                        <a:t>ویژگی: دقت، روش موجود: بالا، روش پیشنهادی: بالا</a:t>
                      </a:r>
                      <a:endParaRPr lang="en-US" sz="1200" dirty="0">
                        <a:latin typeface="Vazirmatn" charset="0"/>
                        <a:ea typeface="Vazirmatn" charset="0"/>
                        <a:cs typeface="Vazirmatn" charset="0"/>
                      </a:endParaRPr>
                    </a:p>
                  </a:txBody>
                  <a:tcPr marL="101600" marR="101600" marT="101600" marB="1016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algn="ctr" indent="0" marL="0">
                        <a:buNone/>
                      </a:pPr>
                      <a:r>
                        <a:rPr lang="en-US" sz="1200" dirty="0">
                          <a:solidFill>
                            <a:srgbClr val="334155"/>
                          </a:solidFill>
                          <a:latin typeface="Vazirmatn" pitchFamily="34" charset="0"/>
                          <a:ea typeface="Vazirmatn" pitchFamily="34" charset="-122"/>
                          <a:cs typeface="Vazirmatn" pitchFamily="34" charset="-120"/>
                        </a:rPr>
                        <a:t>ویژگی: قابلیت تفسیر، روش موجود: محدود، روش پیشنهادی: بالا</a:t>
                      </a:r>
                      <a:endParaRPr lang="en-US" sz="1200" dirty="0">
                        <a:latin typeface="Vazirmatn" charset="0"/>
                        <a:ea typeface="Vazirmatn" charset="0"/>
                        <a:cs typeface="Vazirmatn" charset="0"/>
                      </a:endParaRPr>
                    </a:p>
                  </a:txBody>
                  <a:tcPr marL="101600" marR="101600" marT="101600" marB="1016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rtl="1" algn="r" indent="0" marL="0">
              <a:buNone/>
            </a:pPr>
            <a:r>
              <a:rPr lang="en-US" sz="2200" b="1" dirty="0">
                <a:solidFill>
                  <a:srgbClr val="0F172A"/>
                </a:solidFill>
                <a:latin typeface="Vazirmatn" pitchFamily="34" charset="0"/>
                <a:ea typeface="Vazirmatn" pitchFamily="34" charset="-122"/>
                <a:cs typeface="Vazirmatn" pitchFamily="34" charset="-120"/>
              </a:rPr>
              <a:t>نتیجه گیری و پایان</a:t>
            </a:r>
            <a:endParaRPr lang="en-US" sz="2200" dirty="0"/>
          </a:p>
        </p:txBody>
      </p:sp>
      <p:sp>
        <p:nvSpPr>
          <p:cNvPr id="3" name="Shape 1"/>
          <p:cNvSpPr/>
          <p:nvPr/>
        </p:nvSpPr>
        <p:spPr>
          <a:xfrm>
            <a:off x="457200" y="822960"/>
            <a:ext cx="8229600" cy="0"/>
          </a:xfrm>
          <a:prstGeom prst="line">
            <a:avLst/>
          </a:prstGeom>
          <a:noFill/>
          <a:ln w="19050">
            <a:solidFill>
              <a:srgbClr val="1E40AF"/>
            </a:solidFill>
            <a:prstDash val="solid"/>
          </a:ln>
        </p:spPr>
      </p:sp>
      <p:sp>
        <p:nvSpPr>
          <p:cNvPr id="4" name="Text 2"/>
          <p:cNvSpPr/>
          <p:nvPr/>
        </p:nvSpPr>
        <p:spPr>
          <a:xfrm>
            <a:off x="457200" y="1051560"/>
            <a:ext cx="8229600" cy="548640"/>
          </a:xfrm>
          <a:prstGeom prst="rect">
            <a:avLst/>
          </a:prstGeom>
          <a:noFill/>
          <a:ln/>
        </p:spPr>
        <p:txBody>
          <a:bodyPr wrap="square" lIns="101600" tIns="152400" rIns="152400" bIns="101600" rtlCol="0" anchor="ctr"/>
          <a:lstStyle/>
          <a:p>
            <a:pPr rtl="1" algn="r" indent="0" marL="0">
              <a:buNone/>
            </a:pPr>
            <a:r>
              <a:rPr lang="en-US" sz="1300" dirty="0">
                <a:solidFill>
                  <a:srgbClr val="334155"/>
                </a:solidFill>
                <a:latin typeface="Vazirmatn" pitchFamily="34" charset="0"/>
                <a:ea typeface="Vazirmatn" pitchFamily="34" charset="-122"/>
                <a:cs typeface="Vazirmatn" pitchFamily="34" charset="-120"/>
              </a:rPr>
              <a:t>پایان ارائه - با سپاس از توجه شما</a:t>
            </a:r>
            <a:endParaRPr lang="en-US" sz="1300" dirty="0"/>
          </a:p>
        </p:txBody>
      </p:sp>
      <p:sp>
        <p:nvSpPr>
          <p:cNvPr id="5" name="Text 3"/>
          <p:cNvSpPr/>
          <p:nvPr/>
        </p:nvSpPr>
        <p:spPr>
          <a:xfrm>
            <a:off x="457200" y="1764792"/>
            <a:ext cx="8229600" cy="1261872"/>
          </a:xfrm>
          <a:prstGeom prst="roundRect">
            <a:avLst/>
          </a:prstGeom>
          <a:solidFill>
            <a:srgbClr val="F8FAFC"/>
          </a:solidFill>
          <a:ln w="19050">
            <a:solidFill>
              <a:srgbClr val="64748B"/>
            </a:solidFill>
          </a:ln>
        </p:spPr>
        <p:txBody>
          <a:bodyPr wrap="square" lIns="101600" tIns="152400" rIns="152400" bIns="101600" rtlCol="0" anchor="ctr"/>
          <a:lstStyle/>
          <a:p>
            <a:pPr rtl="1" algn="r" indent="0" marL="0">
              <a:buNone/>
            </a:pPr>
            <a:r>
              <a:rPr lang="en-US" sz="1300" b="1" dirty="0">
                <a:solidFill>
                  <a:srgbClr val="0F172A"/>
                </a:solidFill>
                <a:latin typeface="Vazirmatn" pitchFamily="34" charset="0"/>
                <a:ea typeface="Vazirmatn" pitchFamily="34" charset="-122"/>
                <a:cs typeface="Vazirmatn" pitchFamily="34" charset="-120"/>
              </a:rPr>
              <a:t>یافته و نتیجه‌گیری کلیدی:</a:t>
            </a:r>
            <a:endParaRPr lang="en-US" sz="1300" dirty="0"/>
          </a:p>
          <a:p>
            <a:pPr rtl="1" algn="r" indent="0" marL="0">
              <a:buNone/>
            </a:pPr>
            <a:r>
              <a:rPr lang="en-US" sz="1300" b="1" dirty="0">
                <a:solidFill>
                  <a:srgbClr val="0F172A"/>
                </a:solidFill>
                <a:latin typeface="Vazirmatn" pitchFamily="34" charset="0"/>
                <a:ea typeface="Vazirmatn" pitchFamily="34" charset="-122"/>
                <a:cs typeface="Vazirmatn" pitchFamily="34" charset="-120"/>
              </a:rPr>
              <a:t>SHAP به عنوان یک روش یکپارچه برای تفسیر پیش بینی های مدل ها، با استفاده از مفاهیم نظری بازی ها، به بهبود قابلیت تفسیر مدل ها کمک می کند. این روش به دلیل سازگاری با انتظارات انسانی و قابلیت تفسیر بالا، به عنوان یک روش پیشرفته در حوزه تفسیر مدل ها معرفی شده است.</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2026-08-10T08:58:30Z</dcterms:created>
  <dcterms:modified xsi:type="dcterms:W3CDTF">2026-08-10T08:58:30Z</dcterms:modified>
</cp:coreProperties>
</file>