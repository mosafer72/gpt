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1828800"/>
            <a:ext cx="7315200" cy="1097280"/>
          </a:xfrm>
          <a:prstGeom prst="rect">
            <a:avLst/>
          </a:prstGeom>
          <a:noFill/>
          <a:ln/>
        </p:spPr>
        <p:txBody>
          <a:bodyPr wrap="square" rtlCol="0" anchor="ctr"/>
          <a:lstStyle/>
          <a:p>
            <a:pPr rtl="1" algn="ctr" indent="0" marL="0">
              <a:buNone/>
            </a:pPr>
            <a:r>
              <a:rPr lang="en-US" sz="2800" b="1" dirty="0">
                <a:solidFill>
                  <a:srgbClr val="1E293B"/>
                </a:solidFill>
                <a:latin typeface="Vazirmatn" pitchFamily="34" charset="0"/>
                <a:ea typeface="Vazirmatn" pitchFamily="34" charset="-122"/>
                <a:cs typeface="Vazirmatn" pitchFamily="34" charset="-120"/>
              </a:rPr>
              <a:t>📌 ارائه اصلی: رویکرد یکپارچه برای تفسیر پیش‌بینی‌های مدل</a:t>
            </a:r>
            <a:endParaRPr lang="en-US" sz="2800" dirty="0"/>
          </a:p>
        </p:txBody>
      </p:sp>
      <p:sp>
        <p:nvSpPr>
          <p:cNvPr id="3" name="Shape 1"/>
          <p:cNvSpPr/>
          <p:nvPr/>
        </p:nvSpPr>
        <p:spPr>
          <a:xfrm>
            <a:off x="2743200" y="3017520"/>
            <a:ext cx="3657600" cy="0"/>
          </a:xfrm>
          <a:prstGeom prst="line">
            <a:avLst/>
          </a:prstGeom>
          <a:noFill/>
          <a:ln w="38100">
            <a:solidFill>
              <a:srgbClr val="2563EB"/>
            </a:solidFill>
            <a:prstDash val="solid"/>
          </a:ln>
        </p:spPr>
      </p:sp>
      <p:sp>
        <p:nvSpPr>
          <p:cNvPr id="4" name="Text 2"/>
          <p:cNvSpPr/>
          <p:nvPr/>
        </p:nvSpPr>
        <p:spPr>
          <a:xfrm>
            <a:off x="914400" y="3291840"/>
            <a:ext cx="7315200" cy="731520"/>
          </a:xfrm>
          <a:prstGeom prst="rect">
            <a:avLst/>
          </a:prstGeom>
          <a:noFill/>
          <a:ln/>
        </p:spPr>
        <p:txBody>
          <a:bodyPr wrap="square" rtlCol="0" anchor="ctr"/>
          <a:lstStyle/>
          <a:p>
            <a:pPr rtl="1" algn="ctr" indent="0" marL="0">
              <a:buNone/>
            </a:pPr>
            <a:r>
              <a:rPr lang="en-US" sz="1400" dirty="0">
                <a:solidFill>
                  <a:srgbClr val="64748B"/>
                </a:solidFill>
                <a:latin typeface="Vazirmatn" pitchFamily="34" charset="0"/>
                <a:ea typeface="Vazirmatn" pitchFamily="34" charset="-122"/>
                <a:cs typeface="Vazirmatn" pitchFamily="34" charset="-120"/>
              </a:rPr>
              <a:t>در دنیای امروزی پر از داده‌های بزرگ و مدل‌های پیچیده، تفسیر پیش‌بینی‌های مدل به یک چالش اساسی تبدیل شده است. این موضوع به دلیل اهمیت اعتماد کاربران، بهبود مدل‌ها و درک فرآیندهای مدل‌سازی است. با افزایش داده‌های بزرگ، مدل‌های پیچیده مانند شبکه‌های عصبی و مدل‌های انتگرالی به دلیل دقت بالا محبوبیت پیدا کرده‌اند، اما این مدل‌ها به دلیل پیچیدگی، تفسیر آن‌ها دشوار است. این تناقض بین دقت و قابل تفسیر بودن مدل‌ها، نیاز به رویکردهای جدیدی را ایجاد کرده است.</a:t>
            </a:r>
            <a:endParaRPr lang="en-US" sz="1400" dirty="0"/>
          </a:p>
        </p:txBody>
      </p:sp>
      <p:sp>
        <p:nvSpPr>
          <p:cNvPr id="5" name="Text 3"/>
          <p:cNvSpPr/>
          <p:nvPr/>
        </p:nvSpPr>
        <p:spPr>
          <a:xfrm>
            <a:off x="914400" y="4114800"/>
            <a:ext cx="7315200" cy="731520"/>
          </a:xfrm>
          <a:prstGeom prst="rect">
            <a:avLst/>
          </a:prstGeom>
          <a:noFill/>
          <a:ln/>
        </p:spPr>
        <p:txBody>
          <a:bodyPr wrap="square" rtlCol="0" anchor="ctr"/>
          <a:lstStyle/>
          <a:p>
            <a:pPr rtl="1" algn="ctr" indent="0" marL="0">
              <a:buNone/>
            </a:pPr>
            <a:r>
              <a:rPr lang="en-US" sz="1400" dirty="0">
                <a:solidFill>
                  <a:srgbClr val="64748B"/>
                </a:solidFill>
                <a:latin typeface="Vazirmatn" pitchFamily="34" charset="0"/>
                <a:ea typeface="Vazirmatn" pitchFamily="34" charset="-122"/>
                <a:cs typeface="Vazirmatn" pitchFamily="34" charset="-120"/>
              </a:rPr>
              <a:t>مفهوم "تفسیر مدل" به مجموعه‌ای از روش‌هایی گفته می‌شود که به کاربران کمک می‌کند تا بفهمند چرا یک مدل پیش‌بینی خاصی را انجام داده است. این فرآیند شامل تحلیل ویژگی‌های مدل و ارتباط آن‌ها با نتایج است.</a:t>
            </a:r>
            <a:endParaRPr lang="en-US" sz="1400" dirty="0"/>
          </a:p>
        </p:txBody>
      </p:sp>
      <p:sp>
        <p:nvSpPr>
          <p:cNvPr id="6" name="Text 4"/>
          <p:cNvSpPr/>
          <p:nvPr/>
        </p:nvSpPr>
        <p:spPr>
          <a:xfrm>
            <a:off x="914400" y="4937760"/>
            <a:ext cx="7315200" cy="731520"/>
          </a:xfrm>
          <a:prstGeom prst="rect">
            <a:avLst/>
          </a:prstGeom>
          <a:noFill/>
          <a:ln/>
        </p:spPr>
        <p:txBody>
          <a:bodyPr wrap="square" rtlCol="0" anchor="ctr"/>
          <a:lstStyle/>
          <a:p>
            <a:pPr rtl="1" algn="ctr" indent="0" marL="0">
              <a:buNone/>
            </a:pPr>
            <a:r>
              <a:rPr lang="en-US" sz="1400" dirty="0">
                <a:solidFill>
                  <a:srgbClr val="64748B"/>
                </a:solidFill>
                <a:latin typeface="Vazirmatn" pitchFamily="34" charset="0"/>
                <a:ea typeface="Vazirmatn" pitchFamily="34" charset="-122"/>
                <a:cs typeface="Vazirmatn" pitchFamily="34" charset="-120"/>
              </a:rPr>
              <a:t>رویکرد یکپارچه</a:t>
            </a:r>
            <a:endParaRPr lang="en-US" sz="1400" dirty="0"/>
          </a:p>
          <a:p>
            <a:pPr rtl="1" algn="ctr" indent="0" marL="0">
              <a:buNone/>
            </a:pPr>
            <a:r>
              <a:rPr lang="en-US" sz="1400" dirty="0">
                <a:solidFill>
                  <a:srgbClr val="64748B"/>
                </a:solidFill>
                <a:latin typeface="Vazirmatn" pitchFamily="34" charset="0"/>
                <a:ea typeface="Vazirmatn" pitchFamily="34" charset="-122"/>
                <a:cs typeface="Vazirmatn" pitchFamily="34" charset="-120"/>
              </a:rPr>
              <a:t>رویکرد یکپارچه به معنای ایجاد یک چارچوب واحد برای تفسیر پیش‌بینی‌های مدل است. این چارچوب می‌تواند روش‌های مختلف را به هم متصل کرده و ارتباط آن‌ها را بهتر نشان دهد. این رویکرد به دلیل توانایی در ادغام روش‌های مختلف، به عنوان یک راه حل پیشرفته برای تفسیر مدل‌ها مطرح می‌شود.</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1E293B"/>
                </a:solidFill>
                <a:latin typeface="Vazirmatn" pitchFamily="34" charset="0"/>
                <a:ea typeface="Vazirmatn" pitchFamily="34" charset="-122"/>
                <a:cs typeface="Vazirmatn" pitchFamily="34" charset="-120"/>
              </a:rPr>
              <a:t>📄 مقدمه تخصصی و ضرورت</a:t>
            </a:r>
            <a:endParaRPr lang="en-US" sz="2200" dirty="0"/>
          </a:p>
        </p:txBody>
      </p:sp>
      <p:sp>
        <p:nvSpPr>
          <p:cNvPr id="3" name="Shape 1"/>
          <p:cNvSpPr/>
          <p:nvPr/>
        </p:nvSpPr>
        <p:spPr>
          <a:xfrm>
            <a:off x="457200" y="822960"/>
            <a:ext cx="8229600" cy="0"/>
          </a:xfrm>
          <a:prstGeom prst="line">
            <a:avLst/>
          </a:prstGeom>
          <a:noFill/>
          <a:ln w="25400">
            <a:solidFill>
              <a:srgbClr val="2563EB"/>
            </a:solidFill>
            <a:prstDash val="solid"/>
          </a:ln>
        </p:spPr>
      </p:sp>
      <p:sp>
        <p:nvSpPr>
          <p:cNvPr id="4" name="Text 2"/>
          <p:cNvSpPr/>
          <p:nvPr/>
        </p:nvSpPr>
        <p:spPr>
          <a:xfrm>
            <a:off x="457200" y="1051560"/>
            <a:ext cx="8229600" cy="1463040"/>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در حوزه یادگیری ماشین، مدل‌های پیچیده مانند شبکه‌های عصبی عمیق و مدل‌های انتگرالی به دلیل دقت بالا در پیش‌بینی‌ها، محبوبیت زیادی پیدا کرده‌اند. با این حال، این مدل‌ها به دلیل پیچیدگی، تفسیر آن‌ها دشوار است. این موضوع به دلیل اهمیت اعتماد کاربران و نیاز به بهبود مدل‌ها، به یک چالش اساسی تبدیل شده است. بنابراین، نیاز به روش‌هایی است که بتوانند به طور موثر و قابل اعتماد، پیش‌بینی‌های این مدل‌ها را تفسیر کنند.</a:t>
            </a:r>
            <a:endParaRPr lang="en-US" sz="1300" dirty="0"/>
          </a:p>
        </p:txBody>
      </p:sp>
      <p:sp>
        <p:nvSpPr>
          <p:cNvPr id="5" name="Text 3"/>
          <p:cNvSpPr/>
          <p:nvPr/>
        </p:nvSpPr>
        <p:spPr>
          <a:xfrm>
            <a:off x="457200" y="2679192"/>
            <a:ext cx="8229600" cy="676656"/>
          </a:xfrm>
          <a:prstGeom prst="roundRect">
            <a:avLst/>
          </a:prstGeom>
          <a:solidFill>
            <a:srgbClr val="F0FDF4"/>
          </a:solidFill>
          <a:ln w="19050">
            <a:solidFill>
              <a:srgbClr val="BBF7D0"/>
            </a:solidFill>
          </a:ln>
        </p:spPr>
        <p:txBody>
          <a:bodyPr wrap="square" lIns="101600" tIns="152400" rIns="152400" bIns="101600" rtlCol="0" anchor="ctr"/>
          <a:lstStyle/>
          <a:p>
            <a:pPr rtl="1" algn="r" indent="0" marL="0">
              <a:buNone/>
            </a:pPr>
            <a:r>
              <a:rPr lang="en-US" sz="1300" b="1" dirty="0">
                <a:solidFill>
                  <a:srgbClr val="166534"/>
                </a:solidFill>
                <a:latin typeface="Vazirmatn" pitchFamily="34" charset="0"/>
                <a:ea typeface="Vazirmatn" pitchFamily="34" charset="-122"/>
                <a:cs typeface="Vazirmatn" pitchFamily="34" charset="-120"/>
              </a:rPr>
              <a:t>🎯 نکته کلیدی:</a:t>
            </a:r>
            <a:endParaRPr lang="en-US" sz="1300" dirty="0"/>
          </a:p>
          <a:p>
            <a:pPr rtl="1" algn="r" indent="0" marL="0">
              <a:buNone/>
            </a:pPr>
            <a:r>
              <a:rPr lang="en-US" sz="1300" b="1" dirty="0">
                <a:solidFill>
                  <a:srgbClr val="166534"/>
                </a:solidFill>
                <a:latin typeface="Vazirmatn" pitchFamily="34" charset="0"/>
                <a:ea typeface="Vazirmatn" pitchFamily="34" charset="-122"/>
                <a:cs typeface="Vazirmatn" pitchFamily="34" charset="-120"/>
              </a:rPr>
              <a:t>تفسیر مدل‌های پیچیده به عنوان یک چالش اساسی در حوزه یادگیری ماشین، نیاز به رویکردهای جدید و یکپارچه را ایجاد کرده است.</a:t>
            </a:r>
            <a:endParaRPr lang="en-US" sz="1300" dirty="0"/>
          </a:p>
        </p:txBody>
      </p:sp>
      <p:sp>
        <p:nvSpPr>
          <p:cNvPr id="6" name="Text 4"/>
          <p:cNvSpPr/>
          <p:nvPr/>
        </p:nvSpPr>
        <p:spPr>
          <a:xfrm>
            <a:off x="457200" y="3520440"/>
            <a:ext cx="8229600" cy="585216"/>
          </a:xfrm>
          <a:prstGeom prst="rect">
            <a:avLst/>
          </a:prstGeom>
          <a:noFill/>
          <a:ln/>
        </p:spPr>
        <p:txBody>
          <a:bodyPr wrap="square" lIns="101600" tIns="152400" rIns="152400" bIns="101600" rtlCol="0" anchor="ctr"/>
          <a:lstStyle/>
          <a:p>
            <a:pPr rtl="1" algn="r" indent="0" marL="0">
              <a:lnSpc>
                <a:spcPts val="2000"/>
              </a:lnSpc>
              <a:buNone/>
            </a:pPr>
            <a:r>
              <a:rPr lang="en-US" sz="1300" dirty="0">
                <a:solidFill>
                  <a:srgbClr val="334155"/>
                </a:solidFill>
                <a:latin typeface="Vazirmatn" pitchFamily="34" charset="0"/>
                <a:ea typeface="Vazirmatn" pitchFamily="34" charset="-122"/>
                <a:cs typeface="Vazirmatn" pitchFamily="34" charset="-120"/>
              </a:rPr>
              <a:t>• نیاز به تفسیر مدل‌های پیچیده</a:t>
            </a:r>
            <a:endParaRPr lang="en-US" sz="1300" dirty="0"/>
          </a:p>
          <a:p>
            <a:pPr rtl="1" algn="r" indent="0" marL="0">
              <a:lnSpc>
                <a:spcPts val="2000"/>
              </a:lnSpc>
              <a:buNone/>
            </a:pPr>
            <a:r>
              <a:rPr lang="en-US" sz="1300" dirty="0">
                <a:solidFill>
                  <a:srgbClr val="334155"/>
                </a:solidFill>
                <a:latin typeface="Vazirmatn" pitchFamily="34" charset="0"/>
                <a:ea typeface="Vazirmatn" pitchFamily="34" charset="-122"/>
                <a:cs typeface="Vazirmatn" pitchFamily="34" charset="-120"/>
              </a:rPr>
              <a:t>• افزایش داده‌های بزرگ و مدل‌های پیچیده</a:t>
            </a:r>
            <a:endParaRPr lang="en-US" sz="1300" dirty="0"/>
          </a:p>
          <a:p>
            <a:pPr rtl="1" algn="r" indent="0" marL="0">
              <a:lnSpc>
                <a:spcPts val="2000"/>
              </a:lnSpc>
              <a:buNone/>
            </a:pPr>
            <a:r>
              <a:rPr lang="en-US" sz="1300" dirty="0">
                <a:solidFill>
                  <a:srgbClr val="334155"/>
                </a:solidFill>
                <a:latin typeface="Vazirmatn" pitchFamily="34" charset="0"/>
                <a:ea typeface="Vazirmatn" pitchFamily="34" charset="-122"/>
                <a:cs typeface="Vazirmatn" pitchFamily="34" charset="-120"/>
              </a:rPr>
              <a:t>• تلاش برای ایجاد چارچوب‌های یکپارچه</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1E293B"/>
                </a:solidFill>
                <a:latin typeface="Vazirmatn" pitchFamily="34" charset="0"/>
                <a:ea typeface="Vazirmatn" pitchFamily="34" charset="-122"/>
                <a:cs typeface="Vazirmatn" pitchFamily="34" charset="-120"/>
              </a:rPr>
              <a:t>📄 تعریف مسئله و چالش‌های موجود</a:t>
            </a:r>
            <a:endParaRPr lang="en-US" sz="2200" dirty="0"/>
          </a:p>
        </p:txBody>
      </p:sp>
      <p:sp>
        <p:nvSpPr>
          <p:cNvPr id="3" name="Shape 1"/>
          <p:cNvSpPr/>
          <p:nvPr/>
        </p:nvSpPr>
        <p:spPr>
          <a:xfrm>
            <a:off x="457200" y="822960"/>
            <a:ext cx="8229600" cy="0"/>
          </a:xfrm>
          <a:prstGeom prst="line">
            <a:avLst/>
          </a:prstGeom>
          <a:noFill/>
          <a:ln w="25400">
            <a:solidFill>
              <a:srgbClr val="2563EB"/>
            </a:solidFill>
            <a:prstDash val="solid"/>
          </a:ln>
        </p:spPr>
      </p:sp>
      <p:sp>
        <p:nvSpPr>
          <p:cNvPr id="4" name="Text 2"/>
          <p:cNvSpPr/>
          <p:nvPr/>
        </p:nvSpPr>
        <p:spPr>
          <a:xfrm>
            <a:off x="457200" y="1051560"/>
            <a:ext cx="8229600" cy="1463040"/>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یکی از چالش‌های اصلی در تفسیر مدل‌های پیچیده، عدم وجود یک چارچوب واحد برای تفسیر پیش‌بینی‌ها است. روش‌های مختلفی مانند SHAP، LIME و مدل‌های خطی برای تفسیر مدل‌ها ارائه شده‌اند، اما این روش‌ها معمولاً به صورت جداگانه طراحی شده‌اند و ارتباط آن‌ها با یکدیگر نامشخص است. این موضوع باعث می‌شود که کاربران در انتخاب روش مناسب برای تفسیر مدل‌ها دچار سردرگمی شوند.</a:t>
            </a:r>
            <a:endParaRPr lang="en-US" sz="1300" dirty="0"/>
          </a:p>
        </p:txBody>
      </p:sp>
      <p:sp>
        <p:nvSpPr>
          <p:cNvPr id="5" name="Text 3"/>
          <p:cNvSpPr/>
          <p:nvPr/>
        </p:nvSpPr>
        <p:spPr>
          <a:xfrm>
            <a:off x="457200" y="2679192"/>
            <a:ext cx="8229600" cy="768096"/>
          </a:xfrm>
          <a:prstGeom prst="roundRect">
            <a:avLst/>
          </a:prstGeom>
          <a:solidFill>
            <a:srgbClr val="F8FAFC"/>
          </a:solidFill>
          <a:ln w="12700">
            <a:solidFill>
              <a:srgbClr val="CBD5E1"/>
            </a:solid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تعریف علمی:</a:t>
            </a:r>
            <a:endParaRPr lang="en-US" sz="1300" dirty="0"/>
          </a:p>
          <a:p>
            <a:pPr rtl="1" algn="r" indent="0" marL="0">
              <a:buNone/>
            </a:pPr>
            <a:r>
              <a:rPr lang="en-US" sz="1300" dirty="0">
                <a:solidFill>
                  <a:srgbClr val="334155"/>
                </a:solidFill>
                <a:latin typeface="Vazirmatn" pitchFamily="34" charset="0"/>
                <a:ea typeface="Vazirmatn" pitchFamily="34" charset="-122"/>
                <a:cs typeface="Vazirmatn" pitchFamily="34" charset="-120"/>
              </a:rPr>
              <a:t>مفهوم "چالش‌های موجود" به مسائلی اشاره دارد که در حوزه تفسیر مدل‌های پیچیده وجود دارد، مانند عدم وجود چارچوب یکپارچه، تفاوت در دقت روش‌ها و نیاز به بهبود روش‌های موجود.</a:t>
            </a:r>
            <a:endParaRPr lang="en-US" sz="1300" dirty="0"/>
          </a:p>
        </p:txBody>
      </p:sp>
      <p:sp>
        <p:nvSpPr>
          <p:cNvPr id="6" name="Text 4"/>
          <p:cNvSpPr/>
          <p:nvPr/>
        </p:nvSpPr>
        <p:spPr>
          <a:xfrm>
            <a:off x="457200" y="3611880"/>
            <a:ext cx="8229600" cy="1170432"/>
          </a:xfrm>
          <a:prstGeom prst="roundRect">
            <a:avLst/>
          </a:prstGeom>
          <a:solidFill>
            <a:srgbClr val="EFF6FF"/>
          </a:solidFill>
          <a:ln w="19050">
            <a:solidFill>
              <a:srgbClr val="BFDBFE"/>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 روش‌های تفسیر مدل</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روش‌های مختلفی برای تفسیر مدل‌ها وجود دارد که هر کدام مزایا و معایب خود را دارند. برای مثال، روش SHAP به دلیل توانایی در ارائه اهمیت ویژگی‌ها، محبوبیت زیادی پیدا کرده است، اما روش‌های دیگر مانند LIME به دلیل سادگی و سرعت، مورد استفاده قرار می‌گیرند.</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1E293B"/>
                </a:solidFill>
                <a:latin typeface="Vazirmatn" pitchFamily="34" charset="0"/>
                <a:ea typeface="Vazirmatn" pitchFamily="34" charset="-122"/>
                <a:cs typeface="Vazirmatn" pitchFamily="34" charset="-120"/>
              </a:rPr>
              <a:t>📄 پیش‌زمینه نظری و مفاهیم پایه</a:t>
            </a:r>
            <a:endParaRPr lang="en-US" sz="2200" dirty="0"/>
          </a:p>
        </p:txBody>
      </p:sp>
      <p:sp>
        <p:nvSpPr>
          <p:cNvPr id="3" name="Shape 1"/>
          <p:cNvSpPr/>
          <p:nvPr/>
        </p:nvSpPr>
        <p:spPr>
          <a:xfrm>
            <a:off x="457200" y="822960"/>
            <a:ext cx="8229600" cy="0"/>
          </a:xfrm>
          <a:prstGeom prst="line">
            <a:avLst/>
          </a:prstGeom>
          <a:noFill/>
          <a:ln w="25400">
            <a:solidFill>
              <a:srgbClr val="2563EB"/>
            </a:solidFill>
            <a:prstDash val="solid"/>
          </a:ln>
        </p:spPr>
      </p:sp>
      <p:sp>
        <p:nvSpPr>
          <p:cNvPr id="4" name="Text 2"/>
          <p:cNvSpPr/>
          <p:nvPr/>
        </p:nvSpPr>
        <p:spPr>
          <a:xfrm>
            <a:off x="457200" y="1051560"/>
            <a:ext cx="8229600" cy="1463040"/>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تفسیر مدل‌ها به مفاهیمی از نظریه بازی‌ها و ریاضیات احتمالاتی وابسته است. مفهوم "ارزش شاپلی" (Shapley Value) از نظریه بازی‌ها به عنوان یک روش برای توزیع امتیاز بین بازیکنان استفاده می‌شود. این مفهوم در حوزه تفسیر مدل‌ها به عنوان یک روش برای تعیین اهمیت ویژگی‌ها در پیش‌بینی‌ها استفاده می‌شود. این رویکرد به دلیل تضمین یکپارچگی و دقت، به عنوان یک چارچوب قوی برای تفسیر مدل‌ها مطرح می‌شود.</a:t>
            </a:r>
            <a:endParaRPr lang="en-US" sz="1300" dirty="0"/>
          </a:p>
        </p:txBody>
      </p:sp>
      <p:sp>
        <p:nvSpPr>
          <p:cNvPr id="5" name="Text 3"/>
          <p:cNvSpPr/>
          <p:nvPr/>
        </p:nvSpPr>
        <p:spPr>
          <a:xfrm>
            <a:off x="457200" y="2679192"/>
            <a:ext cx="8229600" cy="676656"/>
          </a:xfrm>
          <a:prstGeom prst="roundRect">
            <a:avLst/>
          </a:prstGeom>
          <a:solidFill>
            <a:srgbClr val="F0FDF4"/>
          </a:solidFill>
          <a:ln w="19050">
            <a:solidFill>
              <a:srgbClr val="BBF7D0"/>
            </a:solidFill>
          </a:ln>
        </p:spPr>
        <p:txBody>
          <a:bodyPr wrap="square" lIns="101600" tIns="152400" rIns="152400" bIns="101600" rtlCol="0" anchor="ctr"/>
          <a:lstStyle/>
          <a:p>
            <a:pPr rtl="1" algn="r" indent="0" marL="0">
              <a:buNone/>
            </a:pPr>
            <a:r>
              <a:rPr lang="en-US" sz="1300" b="1" dirty="0">
                <a:solidFill>
                  <a:srgbClr val="166534"/>
                </a:solidFill>
                <a:latin typeface="Vazirmatn" pitchFamily="34" charset="0"/>
                <a:ea typeface="Vazirmatn" pitchFamily="34" charset="-122"/>
                <a:cs typeface="Vazirmatn" pitchFamily="34" charset="-120"/>
              </a:rPr>
              <a:t>🎯 نکته کلیدی:</a:t>
            </a:r>
            <a:endParaRPr lang="en-US" sz="1300" dirty="0"/>
          </a:p>
          <a:p>
            <a:pPr rtl="1" algn="r" indent="0" marL="0">
              <a:buNone/>
            </a:pPr>
            <a:r>
              <a:rPr lang="en-US" sz="1300" b="1" dirty="0">
                <a:solidFill>
                  <a:srgbClr val="166534"/>
                </a:solidFill>
                <a:latin typeface="Vazirmatn" pitchFamily="34" charset="0"/>
                <a:ea typeface="Vazirmatn" pitchFamily="34" charset="-122"/>
                <a:cs typeface="Vazirmatn" pitchFamily="34" charset="-120"/>
              </a:rPr>
              <a:t>ارزش شاپلی به عنوان یک مفهوم اصلی در نظریه بازی‌ها، به عنوان یک چارچوب قوی برای تفسیر مدل‌ها مورد استفاده قرار می‌گیرد.</a:t>
            </a:r>
            <a:endParaRPr lang="en-US" sz="1300" dirty="0"/>
          </a:p>
        </p:txBody>
      </p:sp>
      <p:sp>
        <p:nvSpPr>
          <p:cNvPr id="6" name="Text 4"/>
          <p:cNvSpPr/>
          <p:nvPr/>
        </p:nvSpPr>
        <p:spPr>
          <a:xfrm>
            <a:off x="457200" y="3520440"/>
            <a:ext cx="8229600" cy="585216"/>
          </a:xfrm>
          <a:prstGeom prst="rect">
            <a:avLst/>
          </a:prstGeom>
          <a:noFill/>
          <a:ln/>
        </p:spPr>
        <p:txBody>
          <a:bodyPr wrap="square" lIns="101600" tIns="152400" rIns="152400" bIns="101600" rtlCol="0" anchor="ctr"/>
          <a:lstStyle/>
          <a:p>
            <a:pPr rtl="1" algn="r" indent="0" marL="0">
              <a:lnSpc>
                <a:spcPts val="2000"/>
              </a:lnSpc>
              <a:buNone/>
            </a:pPr>
            <a:r>
              <a:rPr lang="en-US" sz="1300" dirty="0">
                <a:solidFill>
                  <a:srgbClr val="334155"/>
                </a:solidFill>
                <a:latin typeface="Vazirmatn" pitchFamily="34" charset="0"/>
                <a:ea typeface="Vazirmatn" pitchFamily="34" charset="-122"/>
                <a:cs typeface="Vazirmatn" pitchFamily="34" charset="-120"/>
              </a:rPr>
              <a:t>• نظریه بازی‌ها و ارزش شاپلی</a:t>
            </a:r>
            <a:endParaRPr lang="en-US" sz="1300" dirty="0"/>
          </a:p>
          <a:p>
            <a:pPr rtl="1" algn="r" indent="0" marL="0">
              <a:lnSpc>
                <a:spcPts val="2000"/>
              </a:lnSpc>
              <a:buNone/>
            </a:pPr>
            <a:r>
              <a:rPr lang="en-US" sz="1300" dirty="0">
                <a:solidFill>
                  <a:srgbClr val="334155"/>
                </a:solidFill>
                <a:latin typeface="Vazirmatn" pitchFamily="34" charset="0"/>
                <a:ea typeface="Vazirmatn" pitchFamily="34" charset="-122"/>
                <a:cs typeface="Vazirmatn" pitchFamily="34" charset="-120"/>
              </a:rPr>
              <a:t>• ریاضیات احتمالاتی و توزیع امتیاز</a:t>
            </a:r>
            <a:endParaRPr lang="en-US" sz="1300" dirty="0"/>
          </a:p>
          <a:p>
            <a:pPr rtl="1" algn="r" indent="0" marL="0">
              <a:lnSpc>
                <a:spcPts val="2000"/>
              </a:lnSpc>
              <a:buNone/>
            </a:pPr>
            <a:r>
              <a:rPr lang="en-US" sz="1300" dirty="0">
                <a:solidFill>
                  <a:srgbClr val="334155"/>
                </a:solidFill>
                <a:latin typeface="Vazirmatn" pitchFamily="34" charset="0"/>
                <a:ea typeface="Vazirmatn" pitchFamily="34" charset="-122"/>
                <a:cs typeface="Vazirmatn" pitchFamily="34" charset="-120"/>
              </a:rPr>
              <a:t>• روش‌های تفسیر مدل در حوزه یادگیری ماشین</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1E293B"/>
                </a:solidFill>
                <a:latin typeface="Vazirmatn" pitchFamily="34" charset="0"/>
                <a:ea typeface="Vazirmatn" pitchFamily="34" charset="-122"/>
                <a:cs typeface="Vazirmatn" pitchFamily="34" charset="-120"/>
              </a:rPr>
              <a:t>📄 نوآوری اصلی و ایده مرکزی</a:t>
            </a:r>
            <a:endParaRPr lang="en-US" sz="2200" dirty="0"/>
          </a:p>
        </p:txBody>
      </p:sp>
      <p:sp>
        <p:nvSpPr>
          <p:cNvPr id="3" name="Shape 1"/>
          <p:cNvSpPr/>
          <p:nvPr/>
        </p:nvSpPr>
        <p:spPr>
          <a:xfrm>
            <a:off x="457200" y="822960"/>
            <a:ext cx="8229600" cy="0"/>
          </a:xfrm>
          <a:prstGeom prst="line">
            <a:avLst/>
          </a:prstGeom>
          <a:noFill/>
          <a:ln w="25400">
            <a:solidFill>
              <a:srgbClr val="2563EB"/>
            </a:solidFill>
            <a:prstDash val="solid"/>
          </a:ln>
        </p:spPr>
      </p:sp>
      <p:sp>
        <p:nvSpPr>
          <p:cNvPr id="4" name="Text 2"/>
          <p:cNvSpPr/>
          <p:nvPr/>
        </p:nvSpPr>
        <p:spPr>
          <a:xfrm>
            <a:off x="457200" y="1051560"/>
            <a:ext cx="8229600" cy="1463040"/>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نوآوری اصلی این مقاله، ارائه یک چارچوب یکپارچه برای تفسیر پیش‌بینی‌های مدل به نام SHAP (SHapley Additive exPlanations) است. این چارچوب به دلیل توانایی در ادغام روش‌های مختلف و ارائه اهمیت ویژگی‌ها به صورت یکپارچه، به عنوان یک راه حل پیشرفته مطرح می‌شود. این رویکرد به کاربران کمک می‌کند تا به طور موثر و قابل اعتماد، پیش‌بینی‌های مدل‌های پیچیده را تفسیر کنند.</a:t>
            </a:r>
            <a:endParaRPr lang="en-US" sz="1300" dirty="0"/>
          </a:p>
        </p:txBody>
      </p:sp>
      <p:sp>
        <p:nvSpPr>
          <p:cNvPr id="5" name="Text 3"/>
          <p:cNvSpPr/>
          <p:nvPr/>
        </p:nvSpPr>
        <p:spPr>
          <a:xfrm>
            <a:off x="457200" y="2679192"/>
            <a:ext cx="8229600" cy="768096"/>
          </a:xfrm>
          <a:prstGeom prst="roundRect">
            <a:avLst/>
          </a:prstGeom>
          <a:solidFill>
            <a:srgbClr val="F8FAFC"/>
          </a:solidFill>
          <a:ln w="12700">
            <a:solidFill>
              <a:srgbClr val="CBD5E1"/>
            </a:solid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تعریف علمی:</a:t>
            </a:r>
            <a:endParaRPr lang="en-US" sz="1300" dirty="0"/>
          </a:p>
          <a:p>
            <a:pPr rtl="1" algn="r" indent="0" marL="0">
              <a:buNone/>
            </a:pPr>
            <a:r>
              <a:rPr lang="en-US" sz="1300" dirty="0">
                <a:solidFill>
                  <a:srgbClr val="334155"/>
                </a:solidFill>
                <a:latin typeface="Vazirmatn" pitchFamily="34" charset="0"/>
                <a:ea typeface="Vazirmatn" pitchFamily="34" charset="-122"/>
                <a:cs typeface="Vazirmatn" pitchFamily="34" charset="-120"/>
              </a:rPr>
              <a:t>مفهوم "SHAP" به عنوان یک چارچوب یکپارچه برای تفسیر پیش‌بینی‌های مدل اشاره دارد که از ارزش شاپلی در نظریه بازی‌ها برای تعیین اهمیت ویژگی‌ها استفاده می‌کند.</a:t>
            </a:r>
            <a:endParaRPr lang="en-US" sz="1300" dirty="0"/>
          </a:p>
        </p:txBody>
      </p:sp>
      <p:sp>
        <p:nvSpPr>
          <p:cNvPr id="6" name="Text 4"/>
          <p:cNvSpPr/>
          <p:nvPr/>
        </p:nvSpPr>
        <p:spPr>
          <a:xfrm>
            <a:off x="457200" y="3611880"/>
            <a:ext cx="8229600" cy="1170432"/>
          </a:xfrm>
          <a:prstGeom prst="roundRect">
            <a:avLst/>
          </a:prstGeom>
          <a:solidFill>
            <a:srgbClr val="EFF6FF"/>
          </a:solidFill>
          <a:ln w="19050">
            <a:solidFill>
              <a:srgbClr val="BFDBFE"/>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 ارزش شاپلی در تفسیر مدل</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ارزش شاپلی به عنوان یک روش برای تعیین اهمیت ویژگی‌ها در پیش‌بینی‌ها استفاده می‌شود. این روش به دلیل تضمین یکپارچگی و دقت، به عنوان یک چارچوب قوی برای تفسیر مدل‌ها مطرح می‌شود. این رویکرد به کاربران کمک می‌کند تا به طور موثر و قابل اعتماد، پیش‌بینی‌های مدل‌های پیچیده را تفسیر کنند.</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1E293B"/>
                </a:solidFill>
                <a:latin typeface="Vazirmatn" pitchFamily="34" charset="0"/>
                <a:ea typeface="Vazirmatn" pitchFamily="34" charset="-122"/>
                <a:cs typeface="Vazirmatn" pitchFamily="34" charset="-120"/>
              </a:rPr>
              <a:t>📄 روش‌شناسی فنی و فرآیند اجرا</a:t>
            </a:r>
            <a:endParaRPr lang="en-US" sz="2200" dirty="0"/>
          </a:p>
        </p:txBody>
      </p:sp>
      <p:sp>
        <p:nvSpPr>
          <p:cNvPr id="3" name="Shape 1"/>
          <p:cNvSpPr/>
          <p:nvPr/>
        </p:nvSpPr>
        <p:spPr>
          <a:xfrm>
            <a:off x="457200" y="822960"/>
            <a:ext cx="8229600" cy="0"/>
          </a:xfrm>
          <a:prstGeom prst="line">
            <a:avLst/>
          </a:prstGeom>
          <a:noFill/>
          <a:ln w="25400">
            <a:solidFill>
              <a:srgbClr val="2563EB"/>
            </a:solidFill>
            <a:prstDash val="solid"/>
          </a:ln>
        </p:spPr>
      </p:sp>
      <p:sp>
        <p:nvSpPr>
          <p:cNvPr id="4" name="Text 2"/>
          <p:cNvSpPr/>
          <p:nvPr/>
        </p:nvSpPr>
        <p:spPr>
          <a:xfrm>
            <a:off x="457200" y="1051560"/>
            <a:ext cx="8229600" cy="1463040"/>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روش‌شناسی فنی این مقاله شامل چند مرحله اصلی است. ابتدا، ارزش شاپلی برای تعیین اهمیت ویژگی‌ها در پیش‌بینی‌ها محاسبه می‌شود. سپس، این ارزش‌ها به صورت یکپارچه در چارچوب SHAP ادغام می‌شوند. در نهایت، این چارچوب به کاربران کمک می‌کند تا به طور موثر و قابل اعتماد، پیش‌بینی‌های مدل‌های پیچیده را تفسیر کنند. این فرآیند به دلیل سادگی و دقت، به عنوان یک راه حل پیشرفته مطرح می‌شود.</a:t>
            </a:r>
            <a:endParaRPr lang="en-US" sz="1300" dirty="0"/>
          </a:p>
        </p:txBody>
      </p:sp>
      <p:sp>
        <p:nvSpPr>
          <p:cNvPr id="5" name="Text 3"/>
          <p:cNvSpPr/>
          <p:nvPr/>
        </p:nvSpPr>
        <p:spPr>
          <a:xfrm>
            <a:off x="457200" y="2679192"/>
            <a:ext cx="8229600" cy="676656"/>
          </a:xfrm>
          <a:prstGeom prst="roundRect">
            <a:avLst/>
          </a:prstGeom>
          <a:solidFill>
            <a:srgbClr val="F0FDF4"/>
          </a:solidFill>
          <a:ln w="19050">
            <a:solidFill>
              <a:srgbClr val="BBF7D0"/>
            </a:solidFill>
          </a:ln>
        </p:spPr>
        <p:txBody>
          <a:bodyPr wrap="square" lIns="101600" tIns="152400" rIns="152400" bIns="101600" rtlCol="0" anchor="ctr"/>
          <a:lstStyle/>
          <a:p>
            <a:pPr rtl="1" algn="r" indent="0" marL="0">
              <a:buNone/>
            </a:pPr>
            <a:r>
              <a:rPr lang="en-US" sz="1300" b="1" dirty="0">
                <a:solidFill>
                  <a:srgbClr val="166534"/>
                </a:solidFill>
                <a:latin typeface="Vazirmatn" pitchFamily="34" charset="0"/>
                <a:ea typeface="Vazirmatn" pitchFamily="34" charset="-122"/>
                <a:cs typeface="Vazirmatn" pitchFamily="34" charset="-120"/>
              </a:rPr>
              <a:t>🎯 نکته کلیدی:</a:t>
            </a:r>
            <a:endParaRPr lang="en-US" sz="1300" dirty="0"/>
          </a:p>
          <a:p>
            <a:pPr rtl="1" algn="r" indent="0" marL="0">
              <a:buNone/>
            </a:pPr>
            <a:r>
              <a:rPr lang="en-US" sz="1300" b="1" dirty="0">
                <a:solidFill>
                  <a:srgbClr val="166534"/>
                </a:solidFill>
                <a:latin typeface="Vazirmatn" pitchFamily="34" charset="0"/>
                <a:ea typeface="Vazirmatn" pitchFamily="34" charset="-122"/>
                <a:cs typeface="Vazirmatn" pitchFamily="34" charset="-120"/>
              </a:rPr>
              <a:t>فرآیند محاسبه ارزش شاپلی و ادغام آن در چارچوب SHAP به عنوان یک روش موثر و قابل اعتماد برای تفسیر مدل‌ها مطرح می‌شود.</a:t>
            </a:r>
            <a:endParaRPr lang="en-US" sz="1300" dirty="0"/>
          </a:p>
        </p:txBody>
      </p:sp>
      <p:sp>
        <p:nvSpPr>
          <p:cNvPr id="6" name="Text 4"/>
          <p:cNvSpPr/>
          <p:nvPr/>
        </p:nvSpPr>
        <p:spPr>
          <a:xfrm>
            <a:off x="457200" y="3520440"/>
            <a:ext cx="8229600" cy="768096"/>
          </a:xfrm>
          <a:prstGeom prst="roundRect">
            <a:avLst/>
          </a:prstGeom>
          <a:solidFill>
            <a:srgbClr val="FDF4FF"/>
          </a:solidFill>
          <a:ln w="12700">
            <a:solidFill>
              <a:srgbClr val="F5D0FE"/>
            </a:solidFill>
          </a:ln>
        </p:spPr>
        <p:txBody>
          <a:bodyPr wrap="square" lIns="101600" tIns="152400" rIns="152400" bIns="101600" rtlCol="0" anchor="ctr"/>
          <a:lstStyle/>
          <a:p>
            <a:pPr rtl="1" algn="ctr" indent="0" marL="0">
              <a:buNone/>
            </a:pPr>
            <a:r>
              <a:rPr lang="en-US" sz="1300" dirty="0">
                <a:solidFill>
                  <a:srgbClr val="334155"/>
                </a:solidFill>
                <a:latin typeface="Vazirmatn" pitchFamily="34" charset="0"/>
                <a:ea typeface="Vazirmatn" pitchFamily="34" charset="-122"/>
                <a:cs typeface="Vazirmatn" pitchFamily="34" charset="-120"/>
              </a:rPr>
              <a:t>⚙️ فرآیند اجرا:</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مرحله 1: محاسبه ارزش شاپلی برای ویژگی‌ها</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مرحله 2: ادغام ارزش‌های شاپلی در چارچوب SHAP</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مرحله 3: ارائه نتایج به کاربران به صورت یکپارچه</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1E293B"/>
                </a:solidFill>
                <a:latin typeface="Vazirmatn" pitchFamily="34" charset="0"/>
                <a:ea typeface="Vazirmatn" pitchFamily="34" charset="-122"/>
                <a:cs typeface="Vazirmatn" pitchFamily="34" charset="-120"/>
              </a:rPr>
              <a:t>📄 جزئیات فنی، فرمول‌ها و کدها</a:t>
            </a:r>
            <a:endParaRPr lang="en-US" sz="2200" dirty="0"/>
          </a:p>
        </p:txBody>
      </p:sp>
      <p:sp>
        <p:nvSpPr>
          <p:cNvPr id="3" name="Shape 1"/>
          <p:cNvSpPr/>
          <p:nvPr/>
        </p:nvSpPr>
        <p:spPr>
          <a:xfrm>
            <a:off x="457200" y="822960"/>
            <a:ext cx="8229600" cy="0"/>
          </a:xfrm>
          <a:prstGeom prst="line">
            <a:avLst/>
          </a:prstGeom>
          <a:noFill/>
          <a:ln w="25400">
            <a:solidFill>
              <a:srgbClr val="2563EB"/>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در این بخش، فرمول‌های مربوط به محاسبه ارزش شاپلی و چارچوب SHAP ارائه می‌شود. این فرمول‌ها به کاربران کمک می‌کنند تا به طور دقیق و قابل اعتماد، اهمیت ویژگی‌ها را در پیش‌بینی‌ها تعیین کنند. همچنین، کدهای مربوط به اجرای این فرآیند ارائه می‌شود که به کاربران کمک می‌کند تا این روش را به راحتی در پروژه‌های خود اعمال کنند.</a:t>
            </a:r>
            <a:endParaRPr lang="en-US" sz="1300" dirty="0"/>
          </a:p>
        </p:txBody>
      </p:sp>
      <p:sp>
        <p:nvSpPr>
          <p:cNvPr id="5" name="Text 3"/>
          <p:cNvSpPr/>
          <p:nvPr/>
        </p:nvSpPr>
        <p:spPr>
          <a:xfrm>
            <a:off x="457200" y="2386584"/>
            <a:ext cx="8229600" cy="640080"/>
          </a:xfrm>
          <a:prstGeom prst="roundRect">
            <a:avLst/>
          </a:prstGeom>
          <a:solidFill>
            <a:srgbClr val="FAF5FF"/>
          </a:solidFill>
          <a:ln w="12700">
            <a:solidFill>
              <a:srgbClr val="E9D8FD"/>
            </a:solidFill>
          </a:ln>
        </p:spPr>
        <p:txBody>
          <a:bodyPr wrap="square" lIns="101600" tIns="152400" rIns="152400" bIns="101600" rtlCol="0" anchor="ctr"/>
          <a:lstStyle/>
          <a:p>
            <a:pPr rtl="1" algn="ctr" indent="0" marL="0">
              <a:buNone/>
            </a:pPr>
            <a:r>
              <a:rPr lang="en-US" sz="1800" b="1" dirty="0">
                <a:solidFill>
                  <a:srgbClr val="7E22CE"/>
                </a:solidFill>
                <a:latin typeface="Cambria Math" pitchFamily="34" charset="0"/>
                <a:ea typeface="Cambria Math" pitchFamily="34" charset="-122"/>
                <a:cs typeface="Cambria Math" pitchFamily="34" charset="-120"/>
              </a:rPr>
              <a:t>📐  φ_i = ∑_{S ⊆ N \ {i}} (|S|! (n - |S| - 1)! ) / n! (v(S ∪ {i}) - v(S))</a:t>
            </a:r>
            <a:endParaRPr lang="en-US" sz="1800" dirty="0"/>
          </a:p>
        </p:txBody>
      </p:sp>
      <p:sp>
        <p:nvSpPr>
          <p:cNvPr id="6" name="Text 4"/>
          <p:cNvSpPr/>
          <p:nvPr/>
        </p:nvSpPr>
        <p:spPr>
          <a:xfrm>
            <a:off x="457200" y="3191256"/>
            <a:ext cx="8229600" cy="877824"/>
          </a:xfrm>
          <a:prstGeom prst="rect">
            <a:avLst/>
          </a:prstGeom>
          <a:noFill/>
          <a:ln/>
        </p:spPr>
        <p:txBody>
          <a:bodyPr wrap="square" lIns="101600" tIns="152400" rIns="152400" bIns="101600" rtlCol="0" anchor="ctr"/>
          <a:lstStyle/>
          <a:p>
            <a:pPr rtl="1" algn="r" indent="0" marL="0">
              <a:buNone/>
            </a:pPr>
            <a:r>
              <a:rPr lang="en-US" sz="1200" i="1" dirty="0">
                <a:solidFill>
                  <a:srgbClr val="64748B"/>
                </a:solidFill>
                <a:latin typeface="Vazirmatn" pitchFamily="34" charset="0"/>
                <a:ea typeface="Vazirmatn" pitchFamily="34" charset="-122"/>
                <a:cs typeface="Vazirmatn" pitchFamily="34" charset="-120"/>
              </a:rPr>
              <a:t>💬 توضیحات فرمول: در این فرمول، φ_i ارزش شاپلی ویژگی i است. S مجموعه‌ای از ویژگی‌ها است که شامل i نیست. v(S ∪ {i}) و v(S) به ترتیب ارزش مجموعه‌های S ∪ {i} و S هستند. این فرمول به کاربران کمک می‌کند تا اهمیت ویژگی‌ها را به طور دقیق تعیین کنند.</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1E293B"/>
                </a:solidFill>
                <a:latin typeface="Vazirmatn" pitchFamily="34" charset="0"/>
                <a:ea typeface="Vazirmatn" pitchFamily="34" charset="-122"/>
                <a:cs typeface="Vazirmatn" pitchFamily="34" charset="-120"/>
              </a:rPr>
              <a:t>📄 مکانیسم‌های عملی و نحوه کارکرد</a:t>
            </a:r>
            <a:endParaRPr lang="en-US" sz="2200" dirty="0"/>
          </a:p>
        </p:txBody>
      </p:sp>
      <p:sp>
        <p:nvSpPr>
          <p:cNvPr id="3" name="Shape 1"/>
          <p:cNvSpPr/>
          <p:nvPr/>
        </p:nvSpPr>
        <p:spPr>
          <a:xfrm>
            <a:off x="457200" y="822960"/>
            <a:ext cx="8229600" cy="0"/>
          </a:xfrm>
          <a:prstGeom prst="line">
            <a:avLst/>
          </a:prstGeom>
          <a:noFill/>
          <a:ln w="25400">
            <a:solidFill>
              <a:srgbClr val="2563EB"/>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مکانیسم‌های عملی این چارچوب شامل چند مرحله اصلی است. ابتدا، داده‌های مدل به صورت یکپارچه وارد می‌شوند. سپس، ارزش شاپلی برای هر ویژگی محاسبه می‌شود. در نهایت، این ارزش‌ها به کاربران به صورت یکپارچه ارائه می‌شود. این مکانیسم به دلیل سادگی و دقت، به عنوان یک راه حل پیشرفته مطرح می‌شود.</a:t>
            </a:r>
            <a:endParaRPr lang="en-US" sz="1300" dirty="0"/>
          </a:p>
        </p:txBody>
      </p:sp>
      <p:sp>
        <p:nvSpPr>
          <p:cNvPr id="5" name="Text 3"/>
          <p:cNvSpPr/>
          <p:nvPr/>
        </p:nvSpPr>
        <p:spPr>
          <a:xfrm>
            <a:off x="457200" y="2386584"/>
            <a:ext cx="8229600" cy="676656"/>
          </a:xfrm>
          <a:prstGeom prst="roundRect">
            <a:avLst/>
          </a:prstGeom>
          <a:solidFill>
            <a:srgbClr val="F0FDF4"/>
          </a:solidFill>
          <a:ln w="19050">
            <a:solidFill>
              <a:srgbClr val="BBF7D0"/>
            </a:solidFill>
          </a:ln>
        </p:spPr>
        <p:txBody>
          <a:bodyPr wrap="square" lIns="101600" tIns="152400" rIns="152400" bIns="101600" rtlCol="0" anchor="ctr"/>
          <a:lstStyle/>
          <a:p>
            <a:pPr rtl="1" algn="r" indent="0" marL="0">
              <a:buNone/>
            </a:pPr>
            <a:r>
              <a:rPr lang="en-US" sz="1300" b="1" dirty="0">
                <a:solidFill>
                  <a:srgbClr val="166534"/>
                </a:solidFill>
                <a:latin typeface="Vazirmatn" pitchFamily="34" charset="0"/>
                <a:ea typeface="Vazirmatn" pitchFamily="34" charset="-122"/>
                <a:cs typeface="Vazirmatn" pitchFamily="34" charset="-120"/>
              </a:rPr>
              <a:t>🎯 نکته کلیدی:</a:t>
            </a:r>
            <a:endParaRPr lang="en-US" sz="1300" dirty="0"/>
          </a:p>
          <a:p>
            <a:pPr rtl="1" algn="r" indent="0" marL="0">
              <a:buNone/>
            </a:pPr>
            <a:r>
              <a:rPr lang="en-US" sz="1300" b="1" dirty="0">
                <a:solidFill>
                  <a:srgbClr val="166534"/>
                </a:solidFill>
                <a:latin typeface="Vazirmatn" pitchFamily="34" charset="0"/>
                <a:ea typeface="Vazirmatn" pitchFamily="34" charset="-122"/>
                <a:cs typeface="Vazirmatn" pitchFamily="34" charset="-120"/>
              </a:rPr>
              <a:t>مکانیسم‌های عملی این چارچوب به دلیل سادگی و دقت، به عنوان یک راه حل پیشرفته برای تفسیر مدل‌ها مطرح می‌شود.</a:t>
            </a:r>
            <a:endParaRPr lang="en-US" sz="1300" dirty="0"/>
          </a:p>
        </p:txBody>
      </p:sp>
      <p:sp>
        <p:nvSpPr>
          <p:cNvPr id="6" name="Text 4"/>
          <p:cNvSpPr/>
          <p:nvPr/>
        </p:nvSpPr>
        <p:spPr>
          <a:xfrm>
            <a:off x="457200" y="3227832"/>
            <a:ext cx="8229600" cy="594360"/>
          </a:xfrm>
          <a:prstGeom prst="roundRect">
            <a:avLst/>
          </a:prstGeom>
          <a:solidFill>
            <a:srgbClr val="2563EB"/>
          </a:solidFill>
          <a:ln/>
        </p:spPr>
        <p:txBody>
          <a:bodyPr wrap="square" lIns="101600" tIns="152400" rIns="152400" bIns="101600" rtlCol="0" anchor="ctr"/>
          <a:lstStyle/>
          <a:p>
            <a:pPr rtl="1" algn="ctr" indent="0" marL="0">
              <a:buNone/>
            </a:pPr>
            <a:r>
              <a:rPr lang="en-US" sz="1300" b="1" dirty="0">
                <a:solidFill>
                  <a:srgbClr val="FFFFFF"/>
                </a:solidFill>
                <a:latin typeface="Vazirmatn" pitchFamily="34" charset="0"/>
                <a:ea typeface="Vazirmatn" pitchFamily="34" charset="-122"/>
                <a:cs typeface="Vazirmatn" pitchFamily="34" charset="-120"/>
              </a:rPr>
              <a:t>🔄 پایپ‌لاین:  ورود داده‌ها به مدل ➔ محاسبه ارزش شاپلی برای ویژگی‌ها ➔ ارائه نتایج به کاربران</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1E293B"/>
                </a:solidFill>
                <a:latin typeface="Vazirmatn" pitchFamily="34" charset="0"/>
                <a:ea typeface="Vazirmatn" pitchFamily="34" charset="-122"/>
                <a:cs typeface="Vazirmatn" pitchFamily="34" charset="-120"/>
              </a:rPr>
              <a:t>📄 مقایسه عمیق روش با سایر روش‌ها و ارزیابی</a:t>
            </a:r>
            <a:endParaRPr lang="en-US" sz="2200" dirty="0"/>
          </a:p>
        </p:txBody>
      </p:sp>
      <p:sp>
        <p:nvSpPr>
          <p:cNvPr id="3" name="Shape 1"/>
          <p:cNvSpPr/>
          <p:nvPr/>
        </p:nvSpPr>
        <p:spPr>
          <a:xfrm>
            <a:off x="457200" y="822960"/>
            <a:ext cx="8229600" cy="0"/>
          </a:xfrm>
          <a:prstGeom prst="line">
            <a:avLst/>
          </a:prstGeom>
          <a:noFill/>
          <a:ln w="25400">
            <a:solidFill>
              <a:srgbClr val="2563EB"/>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در این بخش، روش SHAP با روش‌های دیگر مانند LIME و مدل‌های خطی مقایسه می‌شود. این مقایسه شامل سه جنبه اصلی است: دقت، سرعت و قابلیت تفسیر. نتایج نشان می‌دهد که روش SHAP به دلیل تضمین یکپارچگی و دقت، در مقایسه با روش‌های دیگر، بهتر عمل می‌کند. این موضوع به دلیل اهمیت اعتماد کاربران و نیاز به بهبود مدل‌ها، به یک چالش اساسی تبدیل شده است.</a:t>
            </a:r>
            <a:endParaRPr lang="en-US" sz="1300" dirty="0"/>
          </a:p>
        </p:txBody>
      </p:sp>
      <p:sp>
        <p:nvSpPr>
          <p:cNvPr id="5" name="Text 3"/>
          <p:cNvSpPr/>
          <p:nvPr/>
        </p:nvSpPr>
        <p:spPr>
          <a:xfrm>
            <a:off x="457200" y="2386584"/>
            <a:ext cx="8229600" cy="676656"/>
          </a:xfrm>
          <a:prstGeom prst="roundRect">
            <a:avLst/>
          </a:prstGeom>
          <a:solidFill>
            <a:srgbClr val="F0FDF4"/>
          </a:solidFill>
          <a:ln w="19050">
            <a:solidFill>
              <a:srgbClr val="BBF7D0"/>
            </a:solidFill>
          </a:ln>
        </p:spPr>
        <p:txBody>
          <a:bodyPr wrap="square" lIns="101600" tIns="152400" rIns="152400" bIns="101600" rtlCol="0" anchor="ctr"/>
          <a:lstStyle/>
          <a:p>
            <a:pPr rtl="1" algn="r" indent="0" marL="0">
              <a:buNone/>
            </a:pPr>
            <a:r>
              <a:rPr lang="en-US" sz="1300" b="1" dirty="0">
                <a:solidFill>
                  <a:srgbClr val="166534"/>
                </a:solidFill>
                <a:latin typeface="Vazirmatn" pitchFamily="34" charset="0"/>
                <a:ea typeface="Vazirmatn" pitchFamily="34" charset="-122"/>
                <a:cs typeface="Vazirmatn" pitchFamily="34" charset="-120"/>
              </a:rPr>
              <a:t>🎯 نکته کلیدی:</a:t>
            </a:r>
            <a:endParaRPr lang="en-US" sz="1300" dirty="0"/>
          </a:p>
          <a:p>
            <a:pPr rtl="1" algn="r" indent="0" marL="0">
              <a:buNone/>
            </a:pPr>
            <a:r>
              <a:rPr lang="en-US" sz="1300" b="1" dirty="0">
                <a:solidFill>
                  <a:srgbClr val="166534"/>
                </a:solidFill>
                <a:latin typeface="Vazirmatn" pitchFamily="34" charset="0"/>
                <a:ea typeface="Vazirmatn" pitchFamily="34" charset="-122"/>
                <a:cs typeface="Vazirmatn" pitchFamily="34" charset="-120"/>
              </a:rPr>
              <a:t>روش SHAP به دلیل دقت بالا و قابلیت تفسیر یکپارچه، در مقایسه با روش‌های دیگر، بهتر عمل می‌کند.</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3227832"/>
          <a:ext cx="8229600" cy="822960"/>
        </p:xfrm>
        <a:graphic>
          <a:graphicData uri="http://schemas.openxmlformats.org/drawingml/2006/table">
            <a:tbl>
              <a:tblPr/>
              <a:tblGrid>
                <a:gridCol w="4114800"/>
                <a:gridCol w="4114800"/>
              </a:tblGrid>
              <a:tr h="411480">
                <a:tc>
                  <a:txBody>
                    <a:bodyPr/>
                    <a:lstStyle/>
                    <a:p>
                      <a:pPr algn="ctr" indent="0" marL="0">
                        <a:buNone/>
                      </a:pPr>
                      <a:r>
                        <a:rPr lang="en-US" sz="1200" b="1" dirty="0">
                          <a:solidFill>
                            <a:srgbClr val="FFFFFF"/>
                          </a:solidFill>
                          <a:latin typeface="Vazirmatn" pitchFamily="34" charset="0"/>
                          <a:ea typeface="Vazirmatn" pitchFamily="34" charset="-122"/>
                          <a:cs typeface="Vazirmatn" pitchFamily="34" charset="-120"/>
                        </a:rPr>
                        <a:t>روش پیشنهادی / جدید</a:t>
                      </a:r>
                      <a:endParaRPr lang="en-US" sz="1200" dirty="0">
                        <a:latin typeface="Vazirmatn" charset="0"/>
                        <a:ea typeface="Vazirmatn" charset="0"/>
                        <a:cs typeface="Vazirmatn" charset="0"/>
                      </a:endParaRPr>
                    </a:p>
                  </a:txBody>
                  <a:tcPr marL="101600" marR="101600" marT="101600" marB="10160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200" b="1" dirty="0">
                          <a:solidFill>
                            <a:srgbClr val="FFFFFF"/>
                          </a:solidFill>
                          <a:latin typeface="Vazirmatn" pitchFamily="34" charset="0"/>
                          <a:ea typeface="Vazirmatn" pitchFamily="34" charset="-122"/>
                          <a:cs typeface="Vazirmatn" pitchFamily="34" charset="-120"/>
                        </a:rPr>
                        <a:t>روش موجود / پایه</a:t>
                      </a:r>
                      <a:endParaRPr lang="en-US" sz="1200" dirty="0">
                        <a:latin typeface="Vazirmatn" charset="0"/>
                        <a:ea typeface="Vazirmatn" charset="0"/>
                        <a:cs typeface="Vazirmatn" charset="0"/>
                      </a:endParaRPr>
                    </a:p>
                  </a:txBody>
                  <a:tcPr marL="101600" marR="101600" marT="101600" marB="10160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64748B"/>
                    </a:solidFill>
                  </a:tcPr>
                </a:tc>
              </a:tr>
              <a:tr h="411480">
                <a:tc>
                  <a:txBody>
                    <a:bodyPr/>
                    <a:lstStyle/>
                    <a:p>
                      <a:pPr algn="ctr" indent="0" marL="0">
                        <a:buNone/>
                      </a:pPr>
                      <a:r>
                        <a:rPr lang="en-US" sz="1200" dirty="0">
                          <a:solidFill>
                            <a:srgbClr val="334155"/>
                          </a:solidFill>
                          <a:latin typeface="Vazirmatn" pitchFamily="34" charset="0"/>
                          <a:ea typeface="Vazirmatn" pitchFamily="34" charset="-122"/>
                          <a:cs typeface="Vazirmatn" pitchFamily="34" charset="-120"/>
                        </a:rPr>
                        <a:t>ویژگی / روش پیشنهادی: دقت بالا، سرعت مناسب، قابلیت تفسیر یکپارچه</a:t>
                      </a:r>
                      <a:endParaRPr lang="en-US" sz="1200" dirty="0">
                        <a:latin typeface="Vazirmatn" charset="0"/>
                        <a:ea typeface="Vazirmatn" charset="0"/>
                        <a:cs typeface="Vazirmatn" charset="0"/>
                      </a:endParaRPr>
                    </a:p>
                  </a:txBody>
                  <a:tcPr marL="101600" marR="101600" marT="101600" marB="10160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334155"/>
                          </a:solidFill>
                          <a:latin typeface="Vazirmatn" pitchFamily="34" charset="0"/>
                          <a:ea typeface="Vazirmatn" pitchFamily="34" charset="-122"/>
                          <a:cs typeface="Vazirmatn" pitchFamily="34" charset="-120"/>
                        </a:rPr>
                        <a:t>ویژگی / روش موجود: دقت، سرعت، قابلیت تفسیر</a:t>
                      </a:r>
                      <a:endParaRPr lang="en-US" sz="1200" dirty="0">
                        <a:latin typeface="Vazirmatn" charset="0"/>
                        <a:ea typeface="Vazirmatn" charset="0"/>
                        <a:cs typeface="Vazirmatn" charset="0"/>
                      </a:endParaRPr>
                    </a:p>
                  </a:txBody>
                  <a:tcPr marL="101600" marR="101600" marT="101600" marB="10160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1E293B"/>
                </a:solidFill>
                <a:latin typeface="Vazirmatn" pitchFamily="34" charset="0"/>
                <a:ea typeface="Vazirmatn" pitchFamily="34" charset="-122"/>
                <a:cs typeface="Vazirmatn" pitchFamily="34" charset="-120"/>
              </a:rPr>
              <a:t>🏁 نتیجه‌گیری کلی، جمع‌بندی و پایان</a:t>
            </a:r>
            <a:endParaRPr lang="en-US" sz="2200" dirty="0"/>
          </a:p>
        </p:txBody>
      </p:sp>
      <p:sp>
        <p:nvSpPr>
          <p:cNvPr id="3" name="Shape 1"/>
          <p:cNvSpPr/>
          <p:nvPr/>
        </p:nvSpPr>
        <p:spPr>
          <a:xfrm>
            <a:off x="457200" y="822960"/>
            <a:ext cx="8229600" cy="0"/>
          </a:xfrm>
          <a:prstGeom prst="line">
            <a:avLst/>
          </a:prstGeom>
          <a:noFill/>
          <a:ln w="25400">
            <a:solidFill>
              <a:srgbClr val="2563EB"/>
            </a:solidFill>
            <a:prstDash val="solid"/>
          </a:ln>
        </p:spPr>
      </p:sp>
      <p:sp>
        <p:nvSpPr>
          <p:cNvPr id="4" name="Text 2"/>
          <p:cNvSpPr/>
          <p:nvPr/>
        </p:nvSpPr>
        <p:spPr>
          <a:xfrm>
            <a:off x="457200" y="1051560"/>
            <a:ext cx="8229600" cy="548640"/>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 پایان ارائه - با سپاس از توجه شما</a:t>
            </a:r>
            <a:endParaRPr lang="en-US" sz="1300" dirty="0"/>
          </a:p>
        </p:txBody>
      </p:sp>
      <p:sp>
        <p:nvSpPr>
          <p:cNvPr id="5" name="Text 3"/>
          <p:cNvSpPr/>
          <p:nvPr/>
        </p:nvSpPr>
        <p:spPr>
          <a:xfrm>
            <a:off x="457200" y="1764792"/>
            <a:ext cx="8229600" cy="1261872"/>
          </a:xfrm>
          <a:prstGeom prst="roundRect">
            <a:avLst/>
          </a:prstGeom>
          <a:solidFill>
            <a:srgbClr val="F0FDF4"/>
          </a:solidFill>
          <a:ln w="19050">
            <a:solidFill>
              <a:srgbClr val="BBF7D0"/>
            </a:solidFill>
          </a:ln>
        </p:spPr>
        <p:txBody>
          <a:bodyPr wrap="square" lIns="101600" tIns="152400" rIns="152400" bIns="101600" rtlCol="0" anchor="ctr"/>
          <a:lstStyle/>
          <a:p>
            <a:pPr rtl="1" algn="r" indent="0" marL="0">
              <a:buNone/>
            </a:pPr>
            <a:r>
              <a:rPr lang="en-US" sz="1300" b="1" dirty="0">
                <a:solidFill>
                  <a:srgbClr val="166534"/>
                </a:solidFill>
                <a:latin typeface="Vazirmatn" pitchFamily="34" charset="0"/>
                <a:ea typeface="Vazirmatn" pitchFamily="34" charset="-122"/>
                <a:cs typeface="Vazirmatn" pitchFamily="34" charset="-120"/>
              </a:rPr>
              <a:t>🎯 نکته کلیدی:</a:t>
            </a:r>
            <a:endParaRPr lang="en-US" sz="1300" dirty="0"/>
          </a:p>
          <a:p>
            <a:pPr rtl="1" algn="r" indent="0" marL="0">
              <a:buNone/>
            </a:pPr>
            <a:r>
              <a:rPr lang="en-US" sz="1300" b="1" dirty="0">
                <a:solidFill>
                  <a:srgbClr val="166534"/>
                </a:solidFill>
                <a:latin typeface="Vazirmatn" pitchFamily="34" charset="0"/>
                <a:ea typeface="Vazirmatn" pitchFamily="34" charset="-122"/>
                <a:cs typeface="Vazirmatn" pitchFamily="34" charset="-120"/>
              </a:rPr>
              <a:t>این مقاله به ارائه یک چارچوب یکپارچه برای تفسیر پیش‌بینی‌های مدل به نام SHAP پرداخته است. این چارچوب به دلیل توانایی در ادغام روش‌های مختلف و ارائه اهمیت ویژگی‌ها به صورت یکپارچه، به عنوان یک راه حل پیشرفته مطرح می‌شود. نتایج نشان می‌دهد که این روش به دلیل دقت بالا و قابلیت تفسیر یکپارچه، در مقایسه با روش‌های دیگر، بهتر عمل می‌کند.</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2026-08-10T08:49:08Z</dcterms:created>
  <dcterms:modified xsi:type="dcterms:W3CDTF">2026-08-10T08:49:08Z</dcterms:modified>
</cp:coreProperties>
</file>