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1</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128016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تفسیر پیش بینی مدل ها در بسیاری از کاربردها به اندازه دقت پیش بینی خود مهم است. با افزایش داده های بزرگ، مدل های پیچیده مانند یادگیری عمیق و مدل های ادغامی به دلیل دقت بالا مورد استفاده قرار می گیرند، اما تفسیر آنها چالش برانگیز است. این مقاله به ارائه یک چارچوب یکپارچه برای تفسیر پیش بینی مدل ها می پردازد.</a:t>
            </a:r>
            <a:endParaRPr lang="en-US" sz="1500" dirty="0"/>
          </a:p>
        </p:txBody>
      </p:sp>
      <p:sp>
        <p:nvSpPr>
          <p:cNvPr id="5" name="Text 3"/>
          <p:cNvSpPr/>
          <p:nvPr/>
        </p:nvSpPr>
        <p:spPr>
          <a:xfrm>
            <a:off x="457200" y="2788920"/>
            <a:ext cx="8229600" cy="640080"/>
          </a:xfrm>
          <a:prstGeom prst="roundRect">
            <a:avLst/>
          </a:prstGeom>
          <a:solidFill>
            <a:srgbClr val="EDF2F7"/>
          </a:solidFill>
          <a:ln w="12700">
            <a:solidFill>
              <a:srgbClr val="CBD5E0"/>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مفهوم "SHAP" به عنوان یک روش یکپارچه برای تفسیر پیش بینی مدل ها معرفی می شود. این روش اهمیت هر ویژگی را برای پیش بینی خاصی تعیین می کند و از نظر نظریه بازی ها استفاده می کند.</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2</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96012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مسئله اصلی این است که چگونه می توان مدل های پیچیده را به طور کامل تفسیر کرد. مدل های ساده مانند مدل های خطی به دلیل قابلیت تفسیر بالا ترجیح داده می شوند، اما مدل های پیچیده به دلیل دقت بالاتر مورد استفاده قرار می گیرند. این تناقض بین دقت و قابلیت تفسیر را به چالش می کشد.</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8229600" cy="822960"/>
        </p:xfrm>
        <a:graphic>
          <a:graphicData uri="http://schemas.openxmlformats.org/drawingml/2006/table">
            <a:tbl>
              <a:tblPr/>
              <a:tblGrid>
                <a:gridCol w="4114800"/>
                <a:gridCol w="4114800"/>
              </a:tblGrid>
              <a:tr h="822960">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مدل های پیچیده</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مدل های ساده</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3</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پس زمینه نظری این مقاله بر اساس نظریه بازی ها و روش های تحلیل ویژگی ها است. مفهوم "اهمیت ویژگی" به عنوان یک ابزار برای تفسیر پیش بینی مدل ها معرفی می شود.</a:t>
            </a:r>
            <a:endParaRPr lang="en-US" sz="1500" dirty="0"/>
          </a:p>
        </p:txBody>
      </p:sp>
      <p:sp>
        <p:nvSpPr>
          <p:cNvPr id="5" name="Text 3"/>
          <p:cNvSpPr/>
          <p:nvPr/>
        </p:nvSpPr>
        <p:spPr>
          <a:xfrm>
            <a:off x="457200" y="2148840"/>
            <a:ext cx="8229600" cy="640080"/>
          </a:xfrm>
          <a:prstGeom prst="roundRect">
            <a:avLst/>
          </a:prstGeom>
          <a:solidFill>
            <a:srgbClr val="EDF2F7"/>
          </a:solidFill>
          <a:ln w="12700">
            <a:solidFill>
              <a:srgbClr val="CBD5E0"/>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نظریه بازی ها به عنوان پایه نظری برای محاسبه اهمیت ویژگی ها استفاده می شود. این نظریه به ما کمک می کند تا ارزش هر ویژگی را به طور منصفانه تعیین کنیم.</a:t>
            </a:r>
            <a:endParaRPr lang="en-US" sz="1500" dirty="0"/>
          </a:p>
        </p:txBody>
      </p:sp>
      <p:sp>
        <p:nvSpPr>
          <p:cNvPr id="6" name="Text 4"/>
          <p:cNvSpPr/>
          <p:nvPr/>
        </p:nvSpPr>
        <p:spPr>
          <a:xfrm>
            <a:off x="457200" y="3017520"/>
            <a:ext cx="8229600" cy="731520"/>
          </a:xfrm>
          <a:prstGeom prst="roundRect">
            <a:avLst/>
          </a:prstGeom>
          <a:solidFill>
            <a:srgbClr val="FDFEFE"/>
          </a:solidFill>
          <a:ln w="12700">
            <a:solidFill>
              <a:srgbClr val="E5E7E9"/>
            </a:solidFill>
          </a:ln>
        </p:spPr>
        <p:txBody>
          <a:bodyPr wrap="square" lIns="127000" tIns="190500" rIns="190500" bIns="127000" rtlCol="0" anchor="ctr"/>
          <a:lstStyle/>
          <a:p>
            <a:pPr rtl="1" algn="ctr" indent="0" marL="0">
              <a:buNone/>
            </a:pPr>
            <a:r>
              <a:rPr lang="en-US" sz="2000" b="1" i="1" dirty="0">
                <a:solidFill>
                  <a:srgbClr val="C0392B"/>
                </a:solidFill>
                <a:latin typeface="Cambria Math" pitchFamily="34" charset="0"/>
                <a:ea typeface="Cambria Math" pitchFamily="34" charset="-122"/>
                <a:cs typeface="Cambria Math" pitchFamily="34" charset="-120"/>
              </a:rPr>
              <a:t>SHAP = Σ (φ_i)</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4</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این چارچوب به دلیل ارائه یک راه حل منحصر به فرد با خصوصیات مطلوب، به عنوان یک نوآوری در حوزه تفسیر مدل ها شناخته می شود.</a:t>
            </a:r>
            <a:endParaRPr lang="en-US" sz="1500" dirty="0"/>
          </a:p>
        </p:txBody>
      </p:sp>
      <p:sp>
        <p:nvSpPr>
          <p:cNvPr id="5" name="Text 3"/>
          <p:cNvSpPr/>
          <p:nvPr/>
        </p:nvSpPr>
        <p:spPr>
          <a:xfrm>
            <a:off x="457200" y="2148840"/>
            <a:ext cx="8229600" cy="640080"/>
          </a:xfrm>
          <a:prstGeom prst="roundRect">
            <a:avLst/>
          </a:prstGeom>
          <a:solidFill>
            <a:srgbClr val="EBF4FF"/>
          </a:solidFill>
          <a:ln w="19050">
            <a:solidFill>
              <a:srgbClr val="A3BFFA"/>
            </a:solidFill>
          </a:ln>
        </p:spPr>
        <p:txBody>
          <a:bodyPr wrap="square" lIns="127000" tIns="190500" rIns="190500" bIns="127000" rtlCol="0" anchor="ctr"/>
          <a:lstStyle/>
          <a:p>
            <a:pPr rtl="1" algn="r" indent="0" marL="0">
              <a:buNone/>
            </a:pPr>
            <a:r>
              <a:rPr lang="en-US" sz="1500" b="1" dirty="0">
                <a:solidFill>
                  <a:srgbClr val="34495E"/>
                </a:solidFill>
                <a:latin typeface="Vazirmatn" pitchFamily="34" charset="0"/>
                <a:ea typeface="Vazirmatn" pitchFamily="34" charset="-122"/>
                <a:cs typeface="Vazirmatn" pitchFamily="34" charset="-120"/>
              </a:rPr>
              <a:t>چارچوب یکپارچه SHAP به عنوان یک چارچوب یکپارچه برای تفسیر پیش بینی مدل ها معرفی می شود که تمام روش های موجود را در یک چارچوب واحد جای می دهد.</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822960"/>
        </p:xfrm>
        <a:graphic>
          <a:graphicData uri="http://schemas.openxmlformats.org/drawingml/2006/table">
            <a:tbl>
              <a:tblPr/>
              <a:tblGrid>
                <a:gridCol w="4114800"/>
                <a:gridCol w="4114800"/>
              </a:tblGrid>
              <a:tr h="822960">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SHAP</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روش های قدیمی</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5</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731520"/>
          </a:xfrm>
          <a:prstGeom prst="roundRect">
            <a:avLst/>
          </a:prstGeom>
          <a:solidFill>
            <a:srgbClr val="2980B9"/>
          </a:solidFill>
          <a:ln/>
        </p:spPr>
        <p:txBody>
          <a:bodyPr wrap="square" lIns="127000" tIns="190500" rIns="190500" bIns="127000" rtlCol="0" anchor="ctr"/>
          <a:lstStyle/>
          <a:p>
            <a:pPr rtl="1" algn="ctr" indent="0" marL="0">
              <a:buNone/>
            </a:pPr>
            <a:r>
              <a:rPr lang="en-US" sz="1500" b="1" dirty="0">
                <a:solidFill>
                  <a:srgbClr val="FFFFFF"/>
                </a:solidFill>
                <a:latin typeface="Vazirmatn" pitchFamily="34" charset="0"/>
                <a:ea typeface="Vazirmatn" pitchFamily="34" charset="-122"/>
                <a:cs typeface="Vazirmatn" pitchFamily="34" charset="-120"/>
              </a:rPr>
              <a:t>ورودی پردازش خروجی</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6</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oundRect">
            <a:avLst/>
          </a:prstGeom>
          <a:solidFill>
            <a:srgbClr val="EDF2F7"/>
          </a:solidFill>
          <a:ln w="12700">
            <a:solidFill>
              <a:srgbClr val="CBD5E0"/>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طراحی این چارچوب بر اساس اصل یکپارچگی و قابلیت تفسیر است. هر بخش این چارچوب به طور مجزا طراحی شده است تا به بهبود کلی کارایی کمک کند.</a:t>
            </a:r>
            <a:endParaRPr lang="en-US" sz="1500" dirty="0"/>
          </a:p>
        </p:txBody>
      </p:sp>
      <p:sp>
        <p:nvSpPr>
          <p:cNvPr id="5" name="Text 3"/>
          <p:cNvSpPr/>
          <p:nvPr/>
        </p:nvSpPr>
        <p:spPr>
          <a:xfrm>
            <a:off x="457200" y="2148840"/>
            <a:ext cx="8229600" cy="640080"/>
          </a:xfrm>
          <a:prstGeom prst="roundRect">
            <a:avLst/>
          </a:prstGeom>
          <a:solidFill>
            <a:srgbClr val="EBF4FF"/>
          </a:solidFill>
          <a:ln w="19050">
            <a:solidFill>
              <a:srgbClr val="A3BFFA"/>
            </a:solidFill>
          </a:ln>
        </p:spPr>
        <p:txBody>
          <a:bodyPr wrap="square" lIns="127000" tIns="190500" rIns="190500" bIns="127000" rtlCol="0" anchor="ctr"/>
          <a:lstStyle/>
          <a:p>
            <a:pPr rtl="1" algn="r" indent="0" marL="0">
              <a:buNone/>
            </a:pPr>
            <a:r>
              <a:rPr lang="en-US" sz="1500" b="1" dirty="0">
                <a:solidFill>
                  <a:srgbClr val="34495E"/>
                </a:solidFill>
                <a:latin typeface="Vazirmatn" pitchFamily="34" charset="0"/>
                <a:ea typeface="Vazirmatn" pitchFamily="34" charset="-122"/>
                <a:cs typeface="Vazirmatn" pitchFamily="34" charset="-120"/>
              </a:rPr>
              <a:t>عناصر اصلی عناصر اصلی چارچوب SHAP شامل مدل تفسیری، روش های محاسبه اهمیت و رابط کاربری برای نمایش نتایج می باشد.</a:t>
            </a:r>
            <a:endParaRPr lang="en-US" sz="1500" dirty="0"/>
          </a:p>
        </p:txBody>
      </p:sp>
      <p:sp>
        <p:nvSpPr>
          <p:cNvPr id="6" name="Text 4"/>
          <p:cNvSpPr/>
          <p:nvPr/>
        </p:nvSpPr>
        <p:spPr>
          <a:xfrm>
            <a:off x="2286000" y="3017520"/>
            <a:ext cx="4572000" cy="2560320"/>
          </a:xfrm>
          <a:prstGeom prst="roundRect">
            <a:avLst/>
          </a:prstGeom>
          <a:solidFill>
            <a:srgbClr val="F8F9FA"/>
          </a:solidFill>
          <a:ln w="12700">
            <a:solidFill>
              <a:srgbClr val="E2E8F0"/>
            </a:solidFill>
            <a:prstDash val="dash"/>
          </a:ln>
        </p:spPr>
        <p:txBody>
          <a:bodyPr wrap="square" rtlCol="0" anchor="ctr"/>
          <a:lstStyle/>
          <a:p>
            <a:pPr algn="ctr" indent="0" marL="0">
              <a:buNone/>
            </a:pPr>
            <a:r>
              <a:rPr lang="en-US" dirty="0">
                <a:solidFill>
                  <a:srgbClr val="A0AEC0"/>
                </a:solidFill>
                <a:latin typeface="Vazirmatn" pitchFamily="34" charset="0"/>
                <a:ea typeface="Vazirmatn" pitchFamily="34" charset="-122"/>
                <a:cs typeface="Vazirmatn" pitchFamily="34" charset="-120"/>
              </a:rPr>
              <a:t>معماری SHAP شامل چندین لایه اصلی است که شامل تحلیل ویژگی ها، محاسبه اهمیت و تفسیر نتایج می باشد.</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7</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8</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96012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ارزیابی این چارچوب نشان می دهد که SHAP به طور قابل توجهی بهبودی در قابلیت تفسیر و سازگاری با نظر انسان ایجاد می کند. این روش می تواند در مطالعات آینده به عنوان یک ابزار اصلی برای تفسیر مدل ها استفاده شود.</a:t>
            </a:r>
            <a:endParaRPr lang="en-US" sz="1500" dirty="0"/>
          </a:p>
        </p:txBody>
      </p:sp>
      <p:sp>
        <p:nvSpPr>
          <p:cNvPr id="5" name="Text 3"/>
          <p:cNvSpPr/>
          <p:nvPr/>
        </p:nvSpPr>
        <p:spPr>
          <a:xfrm>
            <a:off x="457200" y="2468880"/>
            <a:ext cx="8229600" cy="640080"/>
          </a:xfrm>
          <a:prstGeom prst="roundRect">
            <a:avLst/>
          </a:prstGeom>
          <a:solidFill>
            <a:srgbClr val="EBF4FF"/>
          </a:solidFill>
          <a:ln w="19050">
            <a:solidFill>
              <a:srgbClr val="A3BFFA"/>
            </a:solidFill>
          </a:ln>
        </p:spPr>
        <p:txBody>
          <a:bodyPr wrap="square" lIns="127000" tIns="190500" rIns="190500" bIns="127000" rtlCol="0" anchor="ctr"/>
          <a:lstStyle/>
          <a:p>
            <a:pPr rtl="1" algn="r" indent="0" marL="0">
              <a:buNone/>
            </a:pPr>
            <a:r>
              <a:rPr lang="en-US" sz="1500" b="1" dirty="0">
                <a:solidFill>
                  <a:srgbClr val="34495E"/>
                </a:solidFill>
                <a:latin typeface="Vazirmatn" pitchFamily="34" charset="0"/>
                <a:ea typeface="Vazirmatn" pitchFamily="34" charset="-122"/>
                <a:cs typeface="Vazirmatn" pitchFamily="34" charset="-120"/>
              </a:rPr>
              <a:t>نتیجه گیری SHAP به عنوان یک چارچوب یکپارچه، به بهبود قابلیت تفسیر مدل ها کمک می کند و می تواند در کاربردهای مختلفی مورد استفاده قرار گیرد.</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337560"/>
          <a:ext cx="8229600" cy="822960"/>
        </p:xfrm>
        <a:graphic>
          <a:graphicData uri="http://schemas.openxmlformats.org/drawingml/2006/table">
            <a:tbl>
              <a:tblPr/>
              <a:tblGrid>
                <a:gridCol w="4114800"/>
                <a:gridCol w="4114800"/>
              </a:tblGrid>
              <a:tr h="822960">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SHAP</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روش های قدیمی</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2026-08-10T08:24:04Z</dcterms:created>
  <dcterms:modified xsi:type="dcterms:W3CDTF">2026-08-10T08:24:04Z</dcterms:modified>
</cp:coreProperties>
</file>