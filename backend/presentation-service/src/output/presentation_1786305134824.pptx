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Understanding why a model makes a certain prediction can be as crucial as the prediction’s accuracy in many applications. However, the highest accuracy for large modern datasets is often achieved by complex models that even experts struggle to interpret, such as ensemble or deep learning models, creating a tension between accuracy and interpretability.</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DEFINITION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growing availability of big data has increased the benefits of using complex models, bringing to the forefront the trade-off between accuracy and interpretability of a model’s output. Various methods have been proposed to address this issue, but an understanding of how these methods relate and when one is preferable remains lacking.</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This paper introduces a novel unified approach to interpreting model predictions. It presents three key results: (1) viewing explanations as models themselves, (2) game theory results guaranteeing a unique solution for additive feature attribution methods, and (3) proposing SHAP values as a unified measure of feature importance.</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CONCEPT CARD</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new class of additive feature importance measures unifies six existing methods, with theoretical guarantees of a unique solution. This framework addresses limitations in recent methods that lack the proposed desirable properties, enabling improved computational performance and consistency with human intuition.</a:t>
            </a:r>
            <a:endParaRPr lang="en-US" sz="1200" dirty="0"/>
          </a:p>
        </p:txBody>
      </p:sp>
      <p:sp>
        <p:nvSpPr>
          <p:cNvPr id="5" name="Shape 3"/>
          <p:cNvSpPr/>
          <p:nvPr/>
        </p:nvSpPr>
        <p:spPr>
          <a:xfrm>
            <a:off x="731520" y="1371600"/>
            <a:ext cx="4572000" cy="2743200"/>
          </a:xfrm>
          <a:prstGeom prst="roundRect">
            <a:avLst/>
          </a:prstGeom>
          <a:solidFill>
            <a:srgbClr val="EEF2FF"/>
          </a:solidFill>
          <a:ln w="12700">
            <a:solidFill>
              <a:srgbClr val="E2E8F0"/>
            </a:solidFill>
            <a:prstDash val="solid"/>
          </a:ln>
        </p:spPr>
      </p:sp>
      <p:sp>
        <p:nvSpPr>
          <p:cNvPr id="6" name="Text 4"/>
          <p:cNvSpPr/>
          <p:nvPr/>
        </p:nvSpPr>
        <p:spPr>
          <a:xfrm>
            <a:off x="914400" y="1600200"/>
            <a:ext cx="4206240" cy="320040"/>
          </a:xfrm>
          <a:prstGeom prst="rect">
            <a:avLst/>
          </a:prstGeom>
          <a:noFill/>
          <a:ln/>
        </p:spPr>
        <p:txBody>
          <a:bodyPr wrap="square" lIns="0" tIns="0" rIns="0" bIns="0" rtlCol="0" anchor="ctr"/>
          <a:lstStyle/>
          <a:p>
            <a:pPr rtl="1" algn="ctr" indent="0" marL="0">
              <a:buNone/>
            </a:pPr>
            <a:endParaRPr lang="en-US" sz="2000" dirty="0"/>
          </a:p>
        </p:txBody>
      </p:sp>
      <p:sp>
        <p:nvSpPr>
          <p:cNvPr id="7" name="Shape 5"/>
          <p:cNvSpPr/>
          <p:nvPr/>
        </p:nvSpPr>
        <p:spPr>
          <a:xfrm>
            <a:off x="6400800" y="1371600"/>
            <a:ext cx="4572000" cy="2743200"/>
          </a:xfrm>
          <a:prstGeom prst="roundRect">
            <a:avLst/>
          </a:prstGeom>
          <a:solidFill>
            <a:srgbClr val="DCFCE7"/>
          </a:solidFill>
          <a:ln w="12700">
            <a:solidFill>
              <a:srgbClr val="E2E8F0"/>
            </a:solidFill>
            <a:prstDash val="solid"/>
          </a:ln>
        </p:spPr>
      </p:sp>
      <p:sp>
        <p:nvSpPr>
          <p:cNvPr id="8" name="Text 6"/>
          <p:cNvSpPr/>
          <p:nvPr/>
        </p:nvSpPr>
        <p:spPr>
          <a:xfrm>
            <a:off x="6583680" y="1600200"/>
            <a:ext cx="4206240" cy="320040"/>
          </a:xfrm>
          <a:prstGeom prst="rect">
            <a:avLst/>
          </a:prstGeom>
          <a:noFill/>
          <a:ln/>
        </p:spPr>
        <p:txBody>
          <a:bodyPr wrap="square" lIns="0" tIns="0" rIns="0" bIns="0" rtlCol="0" anchor="ctr"/>
          <a:lstStyle/>
          <a:p>
            <a:pPr rtl="1" algn="ctr" indent="0" marL="0">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82296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PROCESS</a:t>
            </a:r>
            <a:endParaRPr lang="en-US" sz="1800" dirty="0"/>
          </a:p>
        </p:txBody>
      </p:sp>
      <p:sp>
        <p:nvSpPr>
          <p:cNvPr id="6" name="Text 4"/>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82296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PIPELINE</a:t>
            </a:r>
            <a:endParaRPr lang="en-US" sz="1800" dirty="0"/>
          </a:p>
        </p:txBody>
      </p:sp>
      <p:sp>
        <p:nvSpPr>
          <p:cNvPr id="6" name="Text 4"/>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82296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FORMULA</a:t>
            </a:r>
            <a:endParaRPr lang="en-US" sz="1800" dirty="0"/>
          </a:p>
        </p:txBody>
      </p:sp>
      <p:sp>
        <p:nvSpPr>
          <p:cNvPr id="6" name="Text 4"/>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proposed SHAP value estimation methods demonstrate improved alignment with human intuition through user studies and better discrimination among model output classes. Future research will explore scalability and application to diverse domains.</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2026-08-09T19:52:14Z</dcterms:created>
  <dcterms:modified xsi:type="dcterms:W3CDTF">2026-08-09T19:52:14Z</dcterms:modified>
</cp:coreProperties>
</file>