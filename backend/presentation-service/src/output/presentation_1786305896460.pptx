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Understanding why a model makes a certain prediction is critical in many applications. This paper addresses the challenge of interpreting complex models, such as ensemble or deep learning systems, which often sacrifice interpretability for accuracy. The proposed framework, SHAP, provides a unified approach to feature importance analysis.</a:t>
            </a:r>
            <a:endParaRPr lang="en-US" sz="1200" dirty="0"/>
          </a:p>
        </p:txBody>
      </p:sp>
      <p:sp>
        <p:nvSpPr>
          <p:cNvPr id="5" name="Shape 3"/>
          <p:cNvSpPr/>
          <p:nvPr/>
        </p:nvSpPr>
        <p:spPr>
          <a:xfrm>
            <a:off x="594360" y="2825496"/>
            <a:ext cx="10972800" cy="960120"/>
          </a:xfrm>
          <a:prstGeom prst="roundRect">
            <a:avLst/>
          </a:prstGeom>
          <a:solidFill>
            <a:srgbClr val="F8FAFC"/>
          </a:solidFill>
          <a:ln w="12700">
            <a:solidFill>
              <a:srgbClr val="E2E8F0"/>
            </a:solidFill>
            <a:prstDash val="solid"/>
          </a:ln>
        </p:spPr>
      </p:sp>
      <p:sp>
        <p:nvSpPr>
          <p:cNvPr id="6" name="Text 4"/>
          <p:cNvSpPr/>
          <p:nvPr/>
        </p:nvSpPr>
        <p:spPr>
          <a:xfrm>
            <a:off x="822960" y="2962656"/>
            <a:ext cx="105156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definition box</a:t>
            </a:r>
            <a:endParaRPr lang="en-US" sz="1800" dirty="0"/>
          </a:p>
        </p:txBody>
      </p:sp>
      <p:sp>
        <p:nvSpPr>
          <p:cNvPr id="7" name="Text 5"/>
          <p:cNvSpPr/>
          <p:nvPr/>
        </p:nvSpPr>
        <p:spPr>
          <a:xfrm>
            <a:off x="868680" y="3328416"/>
            <a:ext cx="104241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Model Interpretability: The ability to understand and explain the decision-making process of a machine learning model, ensuring transparency and trust in its predictions.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tension between model accuracy and interpretability arises because complex models, while highly accurate, are difficult to analyze. This creates a need for methods that can explain predictions without compromising performance. Existing approaches often lack a unified theoretical foundation, leading to inconsistencies in their application.</a:t>
            </a:r>
            <a:endParaRPr lang="en-US" sz="1200" dirty="0"/>
          </a:p>
        </p:txBody>
      </p:sp>
      <p:sp>
        <p:nvSpPr>
          <p:cNvPr id="5" name="Shape 3"/>
          <p:cNvSpPr/>
          <p:nvPr/>
        </p:nvSpPr>
        <p:spPr>
          <a:xfrm>
            <a:off x="594360" y="2825496"/>
            <a:ext cx="10972800" cy="960120"/>
          </a:xfrm>
          <a:prstGeom prst="roundRect">
            <a:avLst/>
          </a:prstGeom>
          <a:solidFill>
            <a:srgbClr val="F8FAFC"/>
          </a:solidFill>
          <a:ln w="12700">
            <a:solidFill>
              <a:srgbClr val="E2E8F0"/>
            </a:solidFill>
            <a:prstDash val="solid"/>
          </a:ln>
        </p:spPr>
      </p:sp>
      <p:sp>
        <p:nvSpPr>
          <p:cNvPr id="6" name="Text 4"/>
          <p:cNvSpPr/>
          <p:nvPr/>
        </p:nvSpPr>
        <p:spPr>
          <a:xfrm>
            <a:off x="822960" y="2962656"/>
            <a:ext cx="105156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68680" y="3328416"/>
            <a:ext cx="104241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Key Insight: A unified framework for feature attribution can resolve ambiguities in existing methods by providing a consistent theoretical basis for interpreting model predictions.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Theoretical foundations of model interpretation draw from game theory and feature attribution. SHAP leverages Shapley values from cooperative game theory to assign fair importance scores to features. This approach ensures that the contributions of individual features are evaluated in a consistent and mathematically rigorous manner.</a:t>
            </a:r>
            <a:endParaRPr lang="en-US" sz="1200" dirty="0"/>
          </a:p>
        </p:txBody>
      </p:sp>
      <p:sp>
        <p:nvSpPr>
          <p:cNvPr id="5" name="Shape 3"/>
          <p:cNvSpPr/>
          <p:nvPr/>
        </p:nvSpPr>
        <p:spPr>
          <a:xfrm>
            <a:off x="594360" y="2825496"/>
            <a:ext cx="10972800" cy="960120"/>
          </a:xfrm>
          <a:prstGeom prst="roundRect">
            <a:avLst/>
          </a:prstGeom>
          <a:solidFill>
            <a:srgbClr val="F8FAFC"/>
          </a:solidFill>
          <a:ln w="12700">
            <a:solidFill>
              <a:srgbClr val="E2E8F0"/>
            </a:solidFill>
            <a:prstDash val="solid"/>
          </a:ln>
        </p:spPr>
      </p:sp>
      <p:sp>
        <p:nvSpPr>
          <p:cNvPr id="6" name="Text 4"/>
          <p:cNvSpPr/>
          <p:nvPr/>
        </p:nvSpPr>
        <p:spPr>
          <a:xfrm>
            <a:off x="822960" y="2962656"/>
            <a:ext cx="105156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concept card</a:t>
            </a:r>
            <a:endParaRPr lang="en-US" sz="1800" dirty="0"/>
          </a:p>
        </p:txBody>
      </p:sp>
      <p:sp>
        <p:nvSpPr>
          <p:cNvPr id="7" name="Text 5"/>
          <p:cNvSpPr/>
          <p:nvPr/>
        </p:nvSpPr>
        <p:spPr>
          <a:xfrm>
            <a:off x="868680" y="3328416"/>
            <a:ext cx="104241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Shapley Values A concept from game theory that distributes the total gain of a coalition among players based on their marginal contributions. In SHAP, it quantifies the impact of each feature on a model's prediction.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main innovation of SHAP is its unification of six existing methods into a single framework. This includes the identification of additive feature importance measures with desirable properties. The framework ensures that feature attributions are consistent, locally accurate, and globally interpretable.</a:t>
            </a:r>
            <a:endParaRPr lang="en-US" sz="1200" dirty="0"/>
          </a:p>
        </p:txBody>
      </p:sp>
      <p:sp>
        <p:nvSpPr>
          <p:cNvPr id="5" name="Shape 3"/>
          <p:cNvSpPr/>
          <p:nvPr/>
        </p:nvSpPr>
        <p:spPr>
          <a:xfrm>
            <a:off x="640080" y="2800878"/>
            <a:ext cx="4572000" cy="2743200"/>
          </a:xfrm>
          <a:prstGeom prst="roundRect">
            <a:avLst/>
          </a:prstGeom>
          <a:solidFill>
            <a:srgbClr val="EEF2FF"/>
          </a:solidFill>
          <a:ln w="12700">
            <a:solidFill>
              <a:srgbClr val="E2E8F0"/>
            </a:solidFill>
            <a:prstDash val="solid"/>
          </a:ln>
        </p:spPr>
      </p:sp>
      <p:sp>
        <p:nvSpPr>
          <p:cNvPr id="6" name="Text 4"/>
          <p:cNvSpPr/>
          <p:nvPr/>
        </p:nvSpPr>
        <p:spPr>
          <a:xfrm>
            <a:off x="822960" y="3029478"/>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Existing Methods</a:t>
            </a:r>
            <a:endParaRPr lang="en-US" sz="2000" dirty="0"/>
          </a:p>
        </p:txBody>
      </p:sp>
      <p:sp>
        <p:nvSpPr>
          <p:cNvPr id="7" name="Shape 5"/>
          <p:cNvSpPr/>
          <p:nvPr/>
        </p:nvSpPr>
        <p:spPr>
          <a:xfrm>
            <a:off x="6400800" y="2800878"/>
            <a:ext cx="4572000" cy="2743200"/>
          </a:xfrm>
          <a:prstGeom prst="roundRect">
            <a:avLst/>
          </a:prstGeom>
          <a:solidFill>
            <a:srgbClr val="DCFCE7"/>
          </a:solidFill>
          <a:ln w="12700">
            <a:solidFill>
              <a:srgbClr val="E2E8F0"/>
            </a:solidFill>
            <a:prstDash val="solid"/>
          </a:ln>
        </p:spPr>
      </p:sp>
      <p:sp>
        <p:nvSpPr>
          <p:cNvPr id="8" name="Text 6"/>
          <p:cNvSpPr/>
          <p:nvPr/>
        </p:nvSpPr>
        <p:spPr>
          <a:xfrm>
            <a:off x="6583680" y="3029478"/>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SHAP Framework</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methodology involves computing SHAP values through a combination of model evaluations and game-theoretic principles. This process includes defining a value function for feature subsets and using sampling techniques to approximate the Shapley values efficiently.</a:t>
            </a:r>
            <a:endParaRPr lang="en-US" sz="1200" dirty="0"/>
          </a:p>
        </p:txBody>
      </p:sp>
      <p:sp>
        <p:nvSpPr>
          <p:cNvPr id="5" name="Shape 3"/>
          <p:cNvSpPr/>
          <p:nvPr/>
        </p:nvSpPr>
        <p:spPr>
          <a:xfrm>
            <a:off x="594360" y="2660201"/>
            <a:ext cx="10972800" cy="960120"/>
          </a:xfrm>
          <a:prstGeom prst="roundRect">
            <a:avLst/>
          </a:prstGeom>
          <a:solidFill>
            <a:srgbClr val="F8FAFC"/>
          </a:solidFill>
          <a:ln w="12700">
            <a:solidFill>
              <a:srgbClr val="E2E8F0"/>
            </a:solidFill>
            <a:prstDash val="solid"/>
          </a:ln>
        </p:spPr>
      </p:sp>
      <p:sp>
        <p:nvSpPr>
          <p:cNvPr id="6" name="Text 4"/>
          <p:cNvSpPr/>
          <p:nvPr/>
        </p:nvSpPr>
        <p:spPr>
          <a:xfrm>
            <a:off x="822960" y="2797361"/>
            <a:ext cx="105156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process</a:t>
            </a:r>
            <a:endParaRPr lang="en-US" sz="1800" dirty="0"/>
          </a:p>
        </p:txBody>
      </p:sp>
      <p:sp>
        <p:nvSpPr>
          <p:cNvPr id="7" name="Text 5"/>
          <p:cNvSpPr/>
          <p:nvPr/>
        </p:nvSpPr>
        <p:spPr>
          <a:xfrm>
            <a:off x="868680" y="3163121"/>
            <a:ext cx="104241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Define the value function for feature subsets Sample feature coalitions to estimate contributions Aggregate results to compute SHAP values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architecture of SHAP consists of three main components: a feature attribution module, a model evaluation engine, and a visualization layer. This design allows for flexible integration with various machine learning models and provides intuitive explanations through graphical representations.</a:t>
            </a:r>
            <a:endParaRPr lang="en-US" sz="1200" dirty="0"/>
          </a:p>
        </p:txBody>
      </p:sp>
      <p:sp>
        <p:nvSpPr>
          <p:cNvPr id="5" name="Shape 3"/>
          <p:cNvSpPr/>
          <p:nvPr/>
        </p:nvSpPr>
        <p:spPr>
          <a:xfrm>
            <a:off x="594360" y="2765708"/>
            <a:ext cx="10972800" cy="960120"/>
          </a:xfrm>
          <a:prstGeom prst="roundRect">
            <a:avLst/>
          </a:prstGeom>
          <a:solidFill>
            <a:srgbClr val="F8FAFC"/>
          </a:solidFill>
          <a:ln w="12700">
            <a:solidFill>
              <a:srgbClr val="E2E8F0"/>
            </a:solidFill>
            <a:prstDash val="solid"/>
          </a:ln>
        </p:spPr>
      </p:sp>
      <p:sp>
        <p:nvSpPr>
          <p:cNvPr id="6" name="Text 4"/>
          <p:cNvSpPr/>
          <p:nvPr/>
        </p:nvSpPr>
        <p:spPr>
          <a:xfrm>
            <a:off x="822960" y="2902868"/>
            <a:ext cx="105156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pipeline</a:t>
            </a:r>
            <a:endParaRPr lang="en-US" sz="1800" dirty="0"/>
          </a:p>
        </p:txBody>
      </p:sp>
      <p:sp>
        <p:nvSpPr>
          <p:cNvPr id="7" name="Text 5"/>
          <p:cNvSpPr/>
          <p:nvPr/>
        </p:nvSpPr>
        <p:spPr>
          <a:xfrm>
            <a:off x="868680" y="3268628"/>
            <a:ext cx="104241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Feature Attribution Model Evaluation Visualization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Technical details of SHAP include the use of Monte Carlo sampling for efficient computation and the implementation of kernel-based methods to handle high-dimensional data. These techniques ensure that the framework remains computationally feasible even for large-scale models.</a:t>
            </a:r>
            <a:endParaRPr lang="en-US" sz="1200" dirty="0"/>
          </a:p>
        </p:txBody>
      </p:sp>
      <p:sp>
        <p:nvSpPr>
          <p:cNvPr id="5" name="Shape 3"/>
          <p:cNvSpPr/>
          <p:nvPr/>
        </p:nvSpPr>
        <p:spPr>
          <a:xfrm>
            <a:off x="594360" y="2698887"/>
            <a:ext cx="10972800" cy="1188720"/>
          </a:xfrm>
          <a:prstGeom prst="roundRect">
            <a:avLst/>
          </a:prstGeom>
          <a:solidFill>
            <a:srgbClr val="EEF2FF"/>
          </a:solidFill>
          <a:ln w="12700">
            <a:solidFill>
              <a:srgbClr val="10B981"/>
            </a:solidFill>
            <a:prstDash val="solid"/>
          </a:ln>
        </p:spPr>
      </p:sp>
      <p:sp>
        <p:nvSpPr>
          <p:cNvPr id="6" name="Text 4"/>
          <p:cNvSpPr/>
          <p:nvPr/>
        </p:nvSpPr>
        <p:spPr>
          <a:xfrm>
            <a:off x="960120" y="2927487"/>
            <a:ext cx="10241280" cy="822960"/>
          </a:xfrm>
          <a:prstGeom prst="rect">
            <a:avLst/>
          </a:prstGeom>
          <a:noFill/>
          <a:ln/>
        </p:spPr>
        <p:txBody>
          <a:bodyPr wrap="square" lIns="0" tIns="0" rIns="0" bIns="0" rtlCol="0" anchor="ctr">
            <a:normAutofit/>
          </a:bodyPr>
          <a:lstStyle/>
          <a:p>
            <a:pPr rtl="1" algn="r" indent="0" marL="0">
              <a:buNone/>
            </a:pPr>
            <a:r>
              <a:rPr lang="en-US" sz="1400" b="1" dirty="0">
                <a:solidFill>
                  <a:srgbClr val="10B981"/>
                </a:solidFill>
                <a:latin typeface="Vazirmatn" pitchFamily="34" charset="0"/>
                <a:ea typeface="Vazirmatn" pitchFamily="34" charset="-122"/>
                <a:cs typeface="Vazirmatn" pitchFamily="34" charset="-120"/>
              </a:rPr>
              <a:t>\phi_i = \sum_{S \subseteq F \setminus \{i\}} \frac{|S|! (|F| - |S| - 1)!}{|F|!} (v(S \cup \{i\}) - v(S))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411480"/>
            <a:ext cx="109728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594360" y="1005840"/>
            <a:ext cx="10972800" cy="0"/>
          </a:xfrm>
          <a:prstGeom prst="line">
            <a:avLst/>
          </a:prstGeom>
          <a:noFill/>
          <a:ln w="12700">
            <a:solidFill>
              <a:srgbClr val="E2E8F0"/>
            </a:solidFill>
            <a:prstDash val="solid"/>
          </a:ln>
        </p:spPr>
      </p:sp>
      <p:sp>
        <p:nvSpPr>
          <p:cNvPr id="4" name="Text 2"/>
          <p:cNvSpPr/>
          <p:nvPr/>
        </p:nvSpPr>
        <p:spPr>
          <a:xfrm>
            <a:off x="594360" y="1399032"/>
            <a:ext cx="10972800" cy="877824"/>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Evaluation results demonstrate that SHAP outperforms existing methods in consistency with human intuition and computational efficiency. Limitations include the need for careful parameter tuning and potential scalability issues with extremely large datasets. Future research will focus on extending the framework to non-tabular data and real-time applications.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2026-08-09T20:04:56Z</dcterms:created>
  <dcterms:modified xsi:type="dcterms:W3CDTF">2026-08-09T20:04:56Z</dcterms:modified>
</cp:coreProperties>
</file>