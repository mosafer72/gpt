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1645920"/>
            <a:ext cx="7315200" cy="1005840"/>
          </a:xfrm>
          <a:prstGeom prst="rect">
            <a:avLst/>
          </a:prstGeom>
          <a:noFill/>
          <a:ln/>
        </p:spPr>
        <p:txBody>
          <a:bodyPr wrap="square" rtlCol="0" anchor="ctr"/>
          <a:lstStyle/>
          <a:p>
            <a:pPr rtl="1" algn="ctr" indent="0" marL="0">
              <a:buNone/>
            </a:pPr>
            <a:r>
              <a:rPr lang="en-US" sz="2400" b="1" dirty="0">
                <a:solidFill>
                  <a:srgbClr val="0F172A"/>
                </a:solidFill>
                <a:latin typeface="Vazirmatn" pitchFamily="34" charset="0"/>
                <a:ea typeface="Vazirmatn" pitchFamily="34" charset="-122"/>
                <a:cs typeface="Vazirmatn" pitchFamily="34" charset="-120"/>
              </a:rPr>
              <a:t>رویکرد یکپارچه برای تفسیر پیش‌بینی‌های مدل</a:t>
            </a:r>
            <a:endParaRPr lang="en-US" sz="2400" dirty="0"/>
          </a:p>
        </p:txBody>
      </p:sp>
      <p:sp>
        <p:nvSpPr>
          <p:cNvPr id="3" name="Shape 1"/>
          <p:cNvSpPr/>
          <p:nvPr/>
        </p:nvSpPr>
        <p:spPr>
          <a:xfrm>
            <a:off x="3200400" y="2743200"/>
            <a:ext cx="2743200" cy="0"/>
          </a:xfrm>
          <a:prstGeom prst="line">
            <a:avLst/>
          </a:prstGeom>
          <a:noFill/>
          <a:ln w="25400">
            <a:solidFill>
              <a:srgbClr val="1E40AF"/>
            </a:solidFill>
            <a:prstDash val="solid"/>
          </a:ln>
        </p:spPr>
      </p:sp>
      <p:sp>
        <p:nvSpPr>
          <p:cNvPr id="4" name="Text 2"/>
          <p:cNvSpPr/>
          <p:nvPr/>
        </p:nvSpPr>
        <p:spPr>
          <a:xfrm>
            <a:off x="914400" y="3017520"/>
            <a:ext cx="7315200" cy="548640"/>
          </a:xfrm>
          <a:prstGeom prst="rect">
            <a:avLst/>
          </a:prstGeom>
          <a:noFill/>
          <a:ln/>
        </p:spPr>
        <p:txBody>
          <a:bodyPr wrap="square" rtlCol="0" anchor="ctr"/>
          <a:lstStyle/>
          <a:p>
            <a:pPr rtl="1" algn="ctr" indent="0" marL="0">
              <a:buNone/>
            </a:pPr>
            <a:r>
              <a:rPr lang="en-US" sz="1200" dirty="0">
                <a:solidFill>
                  <a:srgbClr val="64748B"/>
                </a:solidFill>
                <a:latin typeface="Vazirmatn" pitchFamily="34" charset="0"/>
                <a:ea typeface="Vazirmatn" pitchFamily="34" charset="-122"/>
                <a:cs typeface="Vazirmatn" pitchFamily="34" charset="-120"/>
              </a:rPr>
              <a:t>در دنیای امروز، مدل‌های یادگیری ماشین با دقت بالایی قادر به پیش‌بینی‌های دقیق هستند، اما این دقت معمولاً با کاهش قابلیت تفسیر مدل همراه است. این چالش به ویژه در حوزه‌هایی مانند پزشکی و مالی که تصمیم‌گیری‌های مبتنی بر مدل‌ها حیاتی است، اهمیت زیادی دارد. این مطالعه به ارائه یک رویکرد یکپارچه برای تفسیر پیش‌بینی‌های مدل می‌پردازد که به کاربران اجازه می‌دهد بهتر با مدل‌های پیچیده کار کنند و اعتماد به آن‌ها را افزایش دهند.</a:t>
            </a:r>
            <a:endParaRPr lang="en-US" sz="1200" dirty="0"/>
          </a:p>
        </p:txBody>
      </p:sp>
      <p:sp>
        <p:nvSpPr>
          <p:cNvPr id="5" name="Text 3"/>
          <p:cNvSpPr/>
          <p:nvPr/>
        </p:nvSpPr>
        <p:spPr>
          <a:xfrm>
            <a:off x="914400" y="3611880"/>
            <a:ext cx="7315200" cy="548640"/>
          </a:xfrm>
          <a:prstGeom prst="rect">
            <a:avLst/>
          </a:prstGeom>
          <a:noFill/>
          <a:ln/>
        </p:spPr>
        <p:txBody>
          <a:bodyPr wrap="square" rtlCol="0" anchor="ctr"/>
          <a:lstStyle/>
          <a:p>
            <a:pPr rtl="1" algn="ctr" indent="0" marL="0">
              <a:buNone/>
            </a:pPr>
            <a:r>
              <a:rPr lang="en-US" sz="1200" dirty="0">
                <a:solidFill>
                  <a:srgbClr val="64748B"/>
                </a:solidFill>
                <a:latin typeface="Vazirmatn" pitchFamily="34" charset="0"/>
                <a:ea typeface="Vazirmatn" pitchFamily="34" charset="-122"/>
                <a:cs typeface="Vazirmatn" pitchFamily="34" charset="-120"/>
              </a:rPr>
              <a:t>رویکرد یکپارچه برای تفسیر پیش‌بینی‌های مدل به مجموعه‌ای از روش‌های تحلیلی گفته می‌شود که به منظور توضیح دلایل پیش‌بینی‌های مدل‌های یادگیری ماشین طراحی شده‌اند. این رویکرد از مفاهیم نظری اقتصاد بازی و تحلیل ویژگی‌های اضافی استفاده می‌کند تا به تخصیص اهمیت ویژگی‌ها به طور منسجم و قابل اعتماد دست یابد.</a:t>
            </a:r>
            <a:endParaRPr lang="en-US" sz="1200" dirty="0"/>
          </a:p>
        </p:txBody>
      </p:sp>
      <p:sp>
        <p:nvSpPr>
          <p:cNvPr id="6" name="Text 4"/>
          <p:cNvSpPr/>
          <p:nvPr/>
        </p:nvSpPr>
        <p:spPr>
          <a:xfrm>
            <a:off x="914400" y="4206240"/>
            <a:ext cx="7315200" cy="548640"/>
          </a:xfrm>
          <a:prstGeom prst="rect">
            <a:avLst/>
          </a:prstGeom>
          <a:noFill/>
          <a:ln/>
        </p:spPr>
        <p:txBody>
          <a:bodyPr wrap="square" rtlCol="0" anchor="ctr"/>
          <a:lstStyle/>
          <a:p>
            <a:pPr rtl="1" algn="ctr" indent="0" marL="0">
              <a:buNone/>
            </a:pPr>
            <a:r>
              <a:rPr lang="en-US" sz="1200" dirty="0">
                <a:solidFill>
                  <a:srgbClr val="64748B"/>
                </a:solidFill>
                <a:latin typeface="Vazirmatn" pitchFamily="34" charset="0"/>
                <a:ea typeface="Vazirmatn" pitchFamily="34" charset="-122"/>
                <a:cs typeface="Vazirmatn" pitchFamily="34" charset="-120"/>
              </a:rPr>
              <a:t>زیرعنوان تخصصی یا حوزه پژوهش</a:t>
            </a:r>
            <a:endParaRPr lang="en-US" sz="1200" dirty="0"/>
          </a:p>
          <a:p>
            <a:pPr rtl="1" algn="ctr" indent="0" marL="0">
              <a:buNone/>
            </a:pPr>
            <a:r>
              <a:rPr lang="en-US" sz="1200" dirty="0">
                <a:solidFill>
                  <a:srgbClr val="64748B"/>
                </a:solidFill>
                <a:latin typeface="Vazirmatn" pitchFamily="34" charset="0"/>
                <a:ea typeface="Vazirmatn" pitchFamily="34" charset="-122"/>
                <a:cs typeface="Vazirmatn" pitchFamily="34" charset="-120"/>
              </a:rPr>
              <a:t>این مطالعه به بررسی یک رویکرد یکپارچه برای تفسیر پیش‌بینی‌های مدل‌های یادگیری ماشین می‌پردازد. این رویکرد با استفاده از مفاهیم نظری اقتصاد بازی و تحلیل ویژگی‌های اضافی، به بهبود قابلیت تفسیر مدل‌های پیچیده مانند شبکه‌های عصبی و مدل‌های انتگرالی کمک می‌کند.</a:t>
            </a:r>
            <a:endParaRPr lang="en-US" sz="1200" dirty="0"/>
          </a:p>
        </p:txBody>
      </p:sp>
      <p:sp>
        <p:nvSpPr>
          <p:cNvPr id="7" name="Text 5"/>
          <p:cNvSpPr/>
          <p:nvPr/>
        </p:nvSpPr>
        <p:spPr>
          <a:xfrm>
            <a:off x="914400" y="4800600"/>
            <a:ext cx="7315200" cy="548640"/>
          </a:xfrm>
          <a:prstGeom prst="rect">
            <a:avLst/>
          </a:prstGeom>
          <a:noFill/>
          <a:ln/>
        </p:spPr>
        <p:txBody>
          <a:bodyPr wrap="square" rtlCol="0" anchor="ctr"/>
          <a:lstStyle/>
          <a:p>
            <a:pPr rtl="1" algn="ctr" indent="0" marL="0">
              <a:buNone/>
            </a:pPr>
            <a:r>
              <a:rPr lang="en-US" sz="1200" dirty="0">
                <a:solidFill>
                  <a:srgbClr val="64748B"/>
                </a:solidFill>
                <a:latin typeface="Vazirmatn" pitchFamily="34" charset="0"/>
                <a:ea typeface="Vazirmatn" pitchFamily="34" charset="-122"/>
                <a:cs typeface="Vazirmatn" pitchFamily="34" charset="-120"/>
              </a:rPr>
              <a:t>• ارائه یک چارچوب یکپارچه برای تفسیر پیش‌بینی‌های مدل‌های یادگیری ماشین</a:t>
            </a:r>
            <a:endParaRPr lang="en-US" sz="1200" dirty="0"/>
          </a:p>
          <a:p>
            <a:pPr rtl="1" algn="ctr" indent="0" marL="0">
              <a:buNone/>
            </a:pPr>
            <a:r>
              <a:rPr lang="en-US" sz="1200" dirty="0">
                <a:solidFill>
                  <a:srgbClr val="64748B"/>
                </a:solidFill>
                <a:latin typeface="Vazirmatn" pitchFamily="34" charset="0"/>
                <a:ea typeface="Vazirmatn" pitchFamily="34" charset="-122"/>
                <a:cs typeface="Vazirmatn" pitchFamily="34" charset="-120"/>
              </a:rPr>
              <a:t>• استفاده از مفاهیم نظری اقتصاد بازی برای تحلیل ویژگی‌های اضافی</a:t>
            </a:r>
            <a:endParaRPr lang="en-US" sz="1200" dirty="0"/>
          </a:p>
          <a:p>
            <a:pPr rtl="1" algn="ctr" indent="0" marL="0">
              <a:buNone/>
            </a:pPr>
            <a:r>
              <a:rPr lang="en-US" sz="1200" dirty="0">
                <a:solidFill>
                  <a:srgbClr val="64748B"/>
                </a:solidFill>
                <a:latin typeface="Vazirmatn" pitchFamily="34" charset="0"/>
                <a:ea typeface="Vazirmatn" pitchFamily="34" charset="-122"/>
                <a:cs typeface="Vazirmatn" pitchFamily="34" charset="-120"/>
              </a:rPr>
              <a:t>• بهبود قابلیت تفسیر مدل‌های پیچیده و افزایش اعتماد کاربران</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مقدمه تخصصی و ضرورت</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877824"/>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در دنیای امروز، مدل‌های یادگیری ماشین به طور گسترده‌ای در حوزه‌های مختلفی از جمله پزشکی، مالی و حمل و نقل استفاده می‌شوند. با این حال، این مدل‌ها معمولاً به دلیل پیچیدگی‌شان قابلیت تفسیر محدودی دارند. این چالش به ویژه در مواردی که تصمیم‌گیری‌های مبتنی بر مدل‌ها حیاتی است، اهمیت زیادی دارد. به همین دلیل، ارائه یک رویکرد یکپارچه برای تفسیر پیش‌بینی‌های مدل‌های یادگیری ماشین ضروری به نظر می‌رسد.</a:t>
            </a:r>
            <a:endParaRPr lang="en-US" sz="1150" dirty="0"/>
          </a:p>
        </p:txBody>
      </p:sp>
      <p:sp>
        <p:nvSpPr>
          <p:cNvPr id="5" name="Text 3"/>
          <p:cNvSpPr/>
          <p:nvPr/>
        </p:nvSpPr>
        <p:spPr>
          <a:xfrm>
            <a:off x="548640" y="1938528"/>
            <a:ext cx="8046720" cy="768096"/>
          </a:xfrm>
          <a:prstGeom prst="roundRect">
            <a:avLst/>
          </a:prstGeom>
          <a:solidFill>
            <a:srgbClr val="F8FAFC"/>
          </a:solidFill>
          <a:ln w="19050">
            <a:solidFill>
              <a:srgbClr val="64748B"/>
            </a:solidFill>
          </a:ln>
        </p:spPr>
        <p:txBody>
          <a:bodyPr wrap="square" lIns="50800" tIns="101600" rIns="101600" bIns="50800" rtlCol="0" anchor="ctr"/>
          <a:lstStyle/>
          <a:p>
            <a:pPr rtl="1" algn="r" indent="0" marL="0">
              <a:buNone/>
            </a:pPr>
            <a:r>
              <a:rPr lang="en-US" sz="1150" b="1" dirty="0">
                <a:solidFill>
                  <a:srgbClr val="0F172A"/>
                </a:solidFill>
                <a:latin typeface="Vazirmatn" pitchFamily="34" charset="0"/>
                <a:ea typeface="Vazirmatn" pitchFamily="34" charset="-122"/>
                <a:cs typeface="Vazirmatn" pitchFamily="34" charset="-120"/>
              </a:rPr>
              <a:t>یافته و نتیجه‌گیری کلیدی:</a:t>
            </a:r>
            <a:endParaRPr lang="en-US" sz="1150" dirty="0"/>
          </a:p>
          <a:p>
            <a:pPr rtl="1" algn="r" indent="0" marL="0">
              <a:buNone/>
            </a:pPr>
            <a:r>
              <a:rPr lang="en-US" sz="1150" b="1" dirty="0">
                <a:solidFill>
                  <a:srgbClr val="0F172A"/>
                </a:solidFill>
                <a:latin typeface="Vazirmatn" pitchFamily="34" charset="0"/>
                <a:ea typeface="Vazirmatn" pitchFamily="34" charset="-122"/>
                <a:cs typeface="Vazirmatn" pitchFamily="34" charset="-120"/>
              </a:rPr>
              <a:t>یک چارچوب یکپارچه برای تفسیر پیش‌بینی‌های مدل‌های یادگیری ماشین می‌تواند به بهبود قابلیت تفسیر و افزایش اعتماد کاربران کمک کند. این چارچوب با استفاده از مفاهیم نظری اقتصاد بازی و تحلیل ویژگی‌های اضافی، به تخصیص اهمیت ویژگی‌ها به طور منسجم و قابل اعتماد دست یابد.</a:t>
            </a:r>
            <a:endParaRPr lang="en-US" sz="1150" dirty="0"/>
          </a:p>
        </p:txBody>
      </p:sp>
      <p:sp>
        <p:nvSpPr>
          <p:cNvPr id="6" name="Text 4"/>
          <p:cNvSpPr/>
          <p:nvPr/>
        </p:nvSpPr>
        <p:spPr>
          <a:xfrm>
            <a:off x="548640" y="2807208"/>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ارائه یک چارچوب یکپارچه برای تفسیر پیش‌بینی‌های مدل‌های یادگیری ماشین</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استفاده از مفاهیم نظری اقتصاد بازی برای تحلیل ویژگی‌های اضافی</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بهبود قابلیت تفسیر مدل‌های پیچیده و افزایش اعتماد کاربران</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تعریف مسئله و چالش‌های موجود</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877824"/>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یکی از چالش‌های اصلی در حوزه یادگیری ماشین، عدم قابلیت تفسیر مدل‌های پیچیده است. این چالش باعث می‌شود که کاربران نتوانند به طور کامل با مدل‌هایی که دقت بالایی دارند، اعتماد کنند. به همین دلیل، ارائه یک رویکرد یکپارچه برای تفسیر پیش‌بینی‌های مدل‌های یادگیری ماشین ضروری به نظر می‌رسد. این رویکرد باید بتواند به تخصیص اهمیت ویژگی‌ها به طور منسجم و قابل اعتماد دست یابد.</a:t>
            </a:r>
            <a:endParaRPr lang="en-US" sz="1150" dirty="0"/>
          </a:p>
        </p:txBody>
      </p:sp>
      <p:sp>
        <p:nvSpPr>
          <p:cNvPr id="5" name="Text 3"/>
          <p:cNvSpPr/>
          <p:nvPr/>
        </p:nvSpPr>
        <p:spPr>
          <a:xfrm>
            <a:off x="548640" y="1938528"/>
            <a:ext cx="8046720" cy="768096"/>
          </a:xfrm>
          <a:prstGeom prst="roundRect">
            <a:avLst/>
          </a:prstGeom>
          <a:solidFill>
            <a:srgbClr val="F8FAFC"/>
          </a:solidFill>
          <a:ln w="12700">
            <a:solidFill>
              <a:srgbClr val="CBD5E1"/>
            </a:solid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تعریف تخصصی:</a:t>
            </a:r>
            <a:endParaRPr lang="en-US" sz="1150" dirty="0"/>
          </a:p>
          <a:p>
            <a:pPr rtl="1" algn="r" indent="0" marL="0">
              <a:buNone/>
            </a:pPr>
            <a:r>
              <a:rPr lang="en-US" sz="1150" dirty="0">
                <a:solidFill>
                  <a:srgbClr val="334155"/>
                </a:solidFill>
                <a:latin typeface="Vazirmatn" pitchFamily="34" charset="0"/>
                <a:ea typeface="Vazirmatn" pitchFamily="34" charset="-122"/>
                <a:cs typeface="Vazirmatn" pitchFamily="34" charset="-120"/>
              </a:rPr>
              <a:t>تعریف مسئله به معنای شناسایی و توضیح چالش‌های موجود در حوزه تفسیر پیش‌بینی‌های مدل‌های یادگیری ماشین است. این چالش‌ها شامل عدم قابلیت تفسیر مدل‌های پیچیده، کاهش اعتماد کاربران و نیاز به روش‌هایی برای تحلیل ویژگی‌های اضافی می‌شود.</a:t>
            </a:r>
            <a:endParaRPr lang="en-US" sz="1150" dirty="0"/>
          </a:p>
        </p:txBody>
      </p:sp>
      <p:sp>
        <p:nvSpPr>
          <p:cNvPr id="6" name="Text 4"/>
          <p:cNvSpPr/>
          <p:nvPr/>
        </p:nvSpPr>
        <p:spPr>
          <a:xfrm>
            <a:off x="548640" y="2807208"/>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عدم قابلیت تفسیر مدل‌های پیچیده</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کاهش اعتماد کاربران به مدل‌های دارای دقت بالا</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نیاز به روش‌هایی برای تحلیل ویژگی‌های اضافی</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پیش‌زمینه نظری و مفاهیم پایه</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877824"/>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پیش‌زمینه نظری این مطالعه شامل مفاهیمی از نظریه بازی‌ها و تحلیل ویژگی‌های اضافی است. نظریه بازی‌ها به تحلیل رفتارهای کاربران و مدل‌ها در محیط‌های رقابتی کمک می‌کند، در حالی که تحلیل ویژگی‌های اضافی به تخصیص اهمیت ویژگی‌ها به طور منسجم و قابل اعتماد کمک می‌کند. این مفاهیم به عنوان پایه‌ای برای ارائه یک چارچوب یکپارچه برای تفسیر پیش‌بینی‌های مدل‌های یادگیری ماشین استفاده می‌شوند.</a:t>
            </a:r>
            <a:endParaRPr lang="en-US" sz="1150" dirty="0"/>
          </a:p>
        </p:txBody>
      </p:sp>
      <p:sp>
        <p:nvSpPr>
          <p:cNvPr id="5" name="Text 3"/>
          <p:cNvSpPr/>
          <p:nvPr/>
        </p:nvSpPr>
        <p:spPr>
          <a:xfrm>
            <a:off x="548640" y="1938528"/>
            <a:ext cx="8046720" cy="768096"/>
          </a:xfrm>
          <a:prstGeom prst="roundRect">
            <a:avLst/>
          </a:prstGeom>
          <a:solidFill>
            <a:srgbClr val="F8FAFC"/>
          </a:solidFill>
          <a:ln w="19050">
            <a:solidFill>
              <a:srgbClr val="64748B"/>
            </a:solidFill>
          </a:ln>
        </p:spPr>
        <p:txBody>
          <a:bodyPr wrap="square" lIns="50800" tIns="101600" rIns="101600" bIns="50800" rtlCol="0" anchor="ctr"/>
          <a:lstStyle/>
          <a:p>
            <a:pPr rtl="1" algn="r" indent="0" marL="0">
              <a:buNone/>
            </a:pPr>
            <a:r>
              <a:rPr lang="en-US" sz="1150" b="1" dirty="0">
                <a:solidFill>
                  <a:srgbClr val="0F172A"/>
                </a:solidFill>
                <a:latin typeface="Vazirmatn" pitchFamily="34" charset="0"/>
                <a:ea typeface="Vazirmatn" pitchFamily="34" charset="-122"/>
                <a:cs typeface="Vazirmatn" pitchFamily="34" charset="-120"/>
              </a:rPr>
              <a:t>یافته و نتیجه‌گیری کلیدی:</a:t>
            </a:r>
            <a:endParaRPr lang="en-US" sz="1150" dirty="0"/>
          </a:p>
          <a:p>
            <a:pPr rtl="1" algn="r" indent="0" marL="0">
              <a:buNone/>
            </a:pPr>
            <a:r>
              <a:rPr lang="en-US" sz="1150" b="1" dirty="0">
                <a:solidFill>
                  <a:srgbClr val="0F172A"/>
                </a:solidFill>
                <a:latin typeface="Vazirmatn" pitchFamily="34" charset="0"/>
                <a:ea typeface="Vazirmatn" pitchFamily="34" charset="-122"/>
                <a:cs typeface="Vazirmatn" pitchFamily="34" charset="-120"/>
              </a:rPr>
              <a:t>استفاده از مفاهیم نظری اقتصاد بازی و تحلیل ویژگی‌های اضافی می‌تواند به بهبود قابلیت تفسیر مدل‌های یادگیری ماشین کمک کند. این رویکرد با ایجاد یک چارچوب منسجم، به کاربران اجازه می‌دهد تا بهتر با مدل‌های پیچیده کار کنند و اعتماد به آن‌ها را افزایش دهند.</a:t>
            </a:r>
            <a:endParaRPr lang="en-US" sz="1150" dirty="0"/>
          </a:p>
        </p:txBody>
      </p:sp>
      <p:sp>
        <p:nvSpPr>
          <p:cNvPr id="6" name="Text 4"/>
          <p:cNvSpPr/>
          <p:nvPr/>
        </p:nvSpPr>
        <p:spPr>
          <a:xfrm>
            <a:off x="548640" y="2807208"/>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استفاده از نظریه بازی‌ها برای تحلیل رفتارهای کاربران</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تحلیل ویژگی‌های اضافی برای تخصیص اهمیت ویژگی‌ها</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ایجاد یک چارچوب منسجم برای تفسیر پیش‌بینی‌های مدل</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نوآوری اصلی و مفهوم مرکزی</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877824"/>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نوآوری اصلی این مطالعه، ارائه یک چارچوب یکپارچه برای تفسیر پیش‌بینی‌های مدل‌های یادگیری ماشین است. این چارچوب با استفاده از مفاهیم نظری اقتصاد بازی و تحلیل ویژگی‌های اضافی، به تخصیص اهمیت ویژگی‌ها به طور منسجم و قابل اعتماد دست یابد. این رویکرد به کاربران اجازه می‌دهد تا بهتر با مدل‌های پیچیده کار کنند و اعتماد به آن‌ها را افزایش دهند.</a:t>
            </a:r>
            <a:endParaRPr lang="en-US" sz="1150" dirty="0"/>
          </a:p>
        </p:txBody>
      </p:sp>
      <p:sp>
        <p:nvSpPr>
          <p:cNvPr id="5" name="Text 3"/>
          <p:cNvSpPr/>
          <p:nvPr/>
        </p:nvSpPr>
        <p:spPr>
          <a:xfrm>
            <a:off x="548640" y="1938528"/>
            <a:ext cx="8046720" cy="768096"/>
          </a:xfrm>
          <a:prstGeom prst="roundRect">
            <a:avLst/>
          </a:prstGeom>
          <a:solidFill>
            <a:srgbClr val="F8FAFC"/>
          </a:solidFill>
          <a:ln w="12700">
            <a:solidFill>
              <a:srgbClr val="CBD5E1"/>
            </a:solid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تعریف تخصصی:</a:t>
            </a:r>
            <a:endParaRPr lang="en-US" sz="1150" dirty="0"/>
          </a:p>
          <a:p>
            <a:pPr rtl="1" algn="r" indent="0" marL="0">
              <a:buNone/>
            </a:pPr>
            <a:r>
              <a:rPr lang="en-US" sz="1150" dirty="0">
                <a:solidFill>
                  <a:srgbClr val="334155"/>
                </a:solidFill>
                <a:latin typeface="Vazirmatn" pitchFamily="34" charset="0"/>
                <a:ea typeface="Vazirmatn" pitchFamily="34" charset="-122"/>
                <a:cs typeface="Vazirmatn" pitchFamily="34" charset="-120"/>
              </a:rPr>
              <a:t>نوآوری اصلی به معنای ارائه یک چارچوب یکپارچه برای تفسیر پیش‌بینی‌های مدل‌های یادگیری ماشین است. این چارچوب با استفاده از مفاهیم نظری اقتصاد بازی و تحلیل ویژگی‌های اضافی، به تخصیص اهمیت ویژگی‌ها به طور منسجم و قابل اعتماد دست یابد.</a:t>
            </a:r>
            <a:endParaRPr lang="en-US" sz="1150" dirty="0"/>
          </a:p>
        </p:txBody>
      </p:sp>
      <p:sp>
        <p:nvSpPr>
          <p:cNvPr id="6" name="Text 4"/>
          <p:cNvSpPr/>
          <p:nvPr/>
        </p:nvSpPr>
        <p:spPr>
          <a:xfrm>
            <a:off x="548640" y="2807208"/>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ارائه یک چارچوب یکپارچه برای تفسیر پیش‌بینی‌های مدل‌های یادگیری ماشین</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استفاده از مفاهیم نظری اقتصاد بازی برای تحلیل ویژگی‌های اضافی</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بهبود قابلیت تفسیر مدل‌های پیچیده و افزایش اعتماد کاربران</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روش‌شناسی فنی و فرآیند اجرا</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روش‌شناسی این مطالعه شامل استفاده از مفاهیم نظری اقتصاد بازی و تحلیل ویژگی‌های اضافی است. این روش‌ها به تخصیص اهمیت ویژگی‌ها به طور منسجم و قابل اعتماد کمک می‌کنند. فرآیند اجرا شامل چند مرحله است که از جمله آن‌ها می‌توان به جمع‌آوری داده‌ها، تحلیل ویژگی‌ها و ارزیابی نتایج اشاره کرد.</a:t>
            </a:r>
            <a:endParaRPr lang="en-US" sz="1150" dirty="0"/>
          </a:p>
        </p:txBody>
      </p:sp>
      <p:sp>
        <p:nvSpPr>
          <p:cNvPr id="5" name="Text 3"/>
          <p:cNvSpPr/>
          <p:nvPr/>
        </p:nvSpPr>
        <p:spPr>
          <a:xfrm>
            <a:off x="548640" y="1719072"/>
            <a:ext cx="8046720" cy="768096"/>
          </a:xfrm>
          <a:prstGeom prst="roundRect">
            <a:avLst/>
          </a:prstGeom>
          <a:solidFill>
            <a:srgbClr val="F8FAFC"/>
          </a:solidFill>
          <a:ln w="19050">
            <a:solidFill>
              <a:srgbClr val="64748B"/>
            </a:solidFill>
          </a:ln>
        </p:spPr>
        <p:txBody>
          <a:bodyPr wrap="square" lIns="50800" tIns="101600" rIns="101600" bIns="50800" rtlCol="0" anchor="ctr"/>
          <a:lstStyle/>
          <a:p>
            <a:pPr rtl="1" algn="r" indent="0" marL="0">
              <a:buNone/>
            </a:pPr>
            <a:r>
              <a:rPr lang="en-US" sz="1150" b="1" dirty="0">
                <a:solidFill>
                  <a:srgbClr val="0F172A"/>
                </a:solidFill>
                <a:latin typeface="Vazirmatn" pitchFamily="34" charset="0"/>
                <a:ea typeface="Vazirmatn" pitchFamily="34" charset="-122"/>
                <a:cs typeface="Vazirmatn" pitchFamily="34" charset="-120"/>
              </a:rPr>
              <a:t>یافته و نتیجه‌گیری کلیدی:</a:t>
            </a:r>
            <a:endParaRPr lang="en-US" sz="1150" dirty="0"/>
          </a:p>
          <a:p>
            <a:pPr rtl="1" algn="r" indent="0" marL="0">
              <a:buNone/>
            </a:pPr>
            <a:r>
              <a:rPr lang="en-US" sz="1150" b="1" dirty="0">
                <a:solidFill>
                  <a:srgbClr val="0F172A"/>
                </a:solidFill>
                <a:latin typeface="Vazirmatn" pitchFamily="34" charset="0"/>
                <a:ea typeface="Vazirmatn" pitchFamily="34" charset="-122"/>
                <a:cs typeface="Vazirmatn" pitchFamily="34" charset="-120"/>
              </a:rPr>
              <a:t>استفاده از مفاهیم نظری اقتصاد بازی و تحلیل ویژگی‌های اضافی می‌تواند به بهبود قابلیت تفسیر مدل‌های یادگیری ماشین کمک کند. این رویکرد با ایجاد یک چارچوب منسجم، به کاربران اجازه می‌دهد تا بهتر با مدل‌های پیچیده کار کنند و اعتماد به آن‌ها را افزایش دهند.</a:t>
            </a:r>
            <a:endParaRPr lang="en-US" sz="1150" dirty="0"/>
          </a:p>
        </p:txBody>
      </p:sp>
      <p:sp>
        <p:nvSpPr>
          <p:cNvPr id="6" name="Text 4"/>
          <p:cNvSpPr/>
          <p:nvPr/>
        </p:nvSpPr>
        <p:spPr>
          <a:xfrm>
            <a:off x="548640" y="2587752"/>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جمع‌آوری داده‌ها و آماده‌سازی آن‌ها برای تحلیل</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استفاده از مفاهیم نظری اقتصاد بازی برای تحلیل ویژگی‌ها</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ارزیابی نتایج و بهبود قابلیت تفسیر مدل‌ها</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جزئیات فنی، فرمول‌ها یا کدها</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در این مطالعه، فرمول‌هایی برای تخصیص اهمیت ویژگی‌ها به کار گرفته می‌شوند. این فرمول‌ها بر اساس مفاهیم نظری اقتصاد بازی و تحلیل ویژگی‌های اضافی طراحی شده‌اند. به عنوان مثال، فرمول زیر برای محاسبه اهمیت ویژگی‌ها استفاده می‌شود:</a:t>
            </a:r>
            <a:endParaRPr lang="en-US" sz="1150" dirty="0"/>
          </a:p>
        </p:txBody>
      </p:sp>
      <p:sp>
        <p:nvSpPr>
          <p:cNvPr id="5" name="Text 3"/>
          <p:cNvSpPr/>
          <p:nvPr/>
        </p:nvSpPr>
        <p:spPr>
          <a:xfrm>
            <a:off x="1371600" y="1719072"/>
            <a:ext cx="6400800" cy="457200"/>
          </a:xfrm>
          <a:prstGeom prst="roundRect">
            <a:avLst/>
          </a:prstGeom>
          <a:solidFill>
            <a:srgbClr val="F8FAFC"/>
          </a:solidFill>
          <a:ln w="12700">
            <a:solidFill>
              <a:srgbClr val="CBD5E1"/>
            </a:solidFill>
          </a:ln>
        </p:spPr>
        <p:txBody>
          <a:bodyPr wrap="square" lIns="38100" tIns="76200" rIns="76200" bIns="38100" rtlCol="0" anchor="ctr"/>
          <a:lstStyle/>
          <a:p>
            <a:pPr algn="ctr" indent="0" marL="0">
              <a:buNone/>
            </a:pPr>
            <a:r>
              <a:rPr lang="en-US" sz="1200" b="1" dirty="0">
                <a:solidFill>
                  <a:srgbClr val="1E3A8A"/>
                </a:solidFill>
                <a:latin typeface="Consolas" pitchFamily="34" charset="0"/>
                <a:ea typeface="Consolas" pitchFamily="34" charset="-122"/>
                <a:cs typeface="Consolas" pitchFamily="34" charset="-120"/>
              </a:rPr>
              <a:t>L_total = L_cls + lambda * L_reg</a:t>
            </a:r>
            <a:endParaRPr lang="en-US" sz="1200" dirty="0"/>
          </a:p>
        </p:txBody>
      </p:sp>
      <p:sp>
        <p:nvSpPr>
          <p:cNvPr id="6" name="Text 4"/>
          <p:cNvSpPr/>
          <p:nvPr/>
        </p:nvSpPr>
        <p:spPr>
          <a:xfrm>
            <a:off x="548640" y="2276856"/>
            <a:ext cx="8046720" cy="438912"/>
          </a:xfrm>
          <a:prstGeom prst="rect">
            <a:avLst/>
          </a:prstGeom>
          <a:noFill/>
          <a:ln/>
        </p:spPr>
        <p:txBody>
          <a:bodyPr wrap="square" lIns="50800" tIns="101600" rIns="101600" bIns="50800" rtlCol="0" anchor="ctr"/>
          <a:lstStyle/>
          <a:p>
            <a:pPr rtl="1" algn="r" indent="0" marL="0">
              <a:buNone/>
            </a:pPr>
            <a:r>
              <a:rPr lang="en-US" sz="1100" i="1" dirty="0">
                <a:solidFill>
                  <a:srgbClr val="64748B"/>
                </a:solidFill>
                <a:latin typeface="Vazirmatn" pitchFamily="34" charset="0"/>
                <a:ea typeface="Vazirmatn" pitchFamily="34" charset="-122"/>
                <a:cs typeface="Vazirmatn" pitchFamily="34" charset="-120"/>
              </a:rPr>
              <a:t>تحلیل پارامترها و روابط: در این فرمول، L_total مجموع هزینه‌ها را نشان می‌دهد، L_cls هزینه کلاس‌بندی و L_reg هزینه رگولاریزاسیون است. ضریب lambda نیز به عنوان یک پارامتر کنترل‌کننده برای تعادل بین دو هزینه استفاده می‌شود.</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مکانیسم‌های عملی و نحوه کارکرد</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مکانیسم‌های عملی این مطالعه شامل استفاده از مفاهیم نظری اقتصاد بازی و تحلیل ویژگی‌های اضافی است. این مکانیسم‌ها به تخصیص اهمیت ویژگی‌ها به طور منسجم و قابل اعتماد کمک می‌کنند. به عنوان مثال، با استفاده از این مکانیسم‌ها، می‌توان به تحلیل رفتارهای کاربران و مدل‌ها در محیط‌های رقابتی پرداخت.</a:t>
            </a:r>
            <a:endParaRPr lang="en-US" sz="1150" dirty="0"/>
          </a:p>
        </p:txBody>
      </p:sp>
      <p:sp>
        <p:nvSpPr>
          <p:cNvPr id="5" name="Text 3"/>
          <p:cNvSpPr/>
          <p:nvPr/>
        </p:nvSpPr>
        <p:spPr>
          <a:xfrm>
            <a:off x="548640" y="1719072"/>
            <a:ext cx="8046720" cy="768096"/>
          </a:xfrm>
          <a:prstGeom prst="roundRect">
            <a:avLst/>
          </a:prstGeom>
          <a:solidFill>
            <a:srgbClr val="F8FAFC"/>
          </a:solidFill>
          <a:ln w="19050">
            <a:solidFill>
              <a:srgbClr val="64748B"/>
            </a:solidFill>
          </a:ln>
        </p:spPr>
        <p:txBody>
          <a:bodyPr wrap="square" lIns="50800" tIns="101600" rIns="101600" bIns="50800" rtlCol="0" anchor="ctr"/>
          <a:lstStyle/>
          <a:p>
            <a:pPr rtl="1" algn="r" indent="0" marL="0">
              <a:buNone/>
            </a:pPr>
            <a:r>
              <a:rPr lang="en-US" sz="1150" b="1" dirty="0">
                <a:solidFill>
                  <a:srgbClr val="0F172A"/>
                </a:solidFill>
                <a:latin typeface="Vazirmatn" pitchFamily="34" charset="0"/>
                <a:ea typeface="Vazirmatn" pitchFamily="34" charset="-122"/>
                <a:cs typeface="Vazirmatn" pitchFamily="34" charset="-120"/>
              </a:rPr>
              <a:t>یافته و نتیجه‌گیری کلیدی:</a:t>
            </a:r>
            <a:endParaRPr lang="en-US" sz="1150" dirty="0"/>
          </a:p>
          <a:p>
            <a:pPr rtl="1" algn="r" indent="0" marL="0">
              <a:buNone/>
            </a:pPr>
            <a:r>
              <a:rPr lang="en-US" sz="1150" b="1" dirty="0">
                <a:solidFill>
                  <a:srgbClr val="0F172A"/>
                </a:solidFill>
                <a:latin typeface="Vazirmatn" pitchFamily="34" charset="0"/>
                <a:ea typeface="Vazirmatn" pitchFamily="34" charset="-122"/>
                <a:cs typeface="Vazirmatn" pitchFamily="34" charset="-120"/>
              </a:rPr>
              <a:t>استفاده از مفاهیم نظری اقتصاد بازی و تحلیل ویژگی‌های اضافی می‌تواند به بهبود قابلیت تفسیر مدل‌های یادگیری ماشین کمک کند. این رویکرد با ایجاد یک چارچوب منسجم، به کاربران اجازه می‌دهد تا بهتر با مدل‌های پیچیده کار کنند و اعتماد به آن‌ها را افزایش دهند.</a:t>
            </a:r>
            <a:endParaRPr lang="en-US" sz="1150" dirty="0"/>
          </a:p>
        </p:txBody>
      </p:sp>
      <p:sp>
        <p:nvSpPr>
          <p:cNvPr id="6" name="Text 4"/>
          <p:cNvSpPr/>
          <p:nvPr/>
        </p:nvSpPr>
        <p:spPr>
          <a:xfrm>
            <a:off x="548640" y="2587752"/>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استفاده از مفاهیم نظری اقتصاد بازی برای تحلیل رفتارهای کاربران</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تحلیل ویژگی‌های اضافی برای تخصیص اهمیت ویژگی‌ها</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ایجاد یک چارچوب منسجم برای تفسیر پیش‌بینی‌های مدل</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مقایسه عمیق روش با سایر روش‌ها و ارزیابی</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در این مطالعه، روش ارائه شده با سایر روش‌های موجود مقایسه می‌شود. این مقایسه شامل بررسی مزایا و معایب هر روش است. به عنوان مثال، روش ارائه شده با استفاده از مفاهیم نظری اقتصاد بازی و تحلیل ویژگی‌های اضافی، به تخصیص اهمیت ویژگی‌ها به طور منسجم و قابل اعتماد کمک می‌کند.</a:t>
            </a:r>
            <a:endParaRPr lang="en-US" sz="1150" dirty="0"/>
          </a:p>
        </p:txBody>
      </p:sp>
      <p:sp>
        <p:nvSpPr>
          <p:cNvPr id="5" name="Text 3"/>
          <p:cNvSpPr/>
          <p:nvPr/>
        </p:nvSpPr>
        <p:spPr>
          <a:xfrm>
            <a:off x="548640" y="1719072"/>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مقایسه دقت مدل‌ها در پیش‌بینی‌های مختلف</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ارزیابی قابلیت تفسیر مدل‌ها با استفاده از روش‌های مختلف</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بررسی پیچیدگی محاسباتی و زمان اجرای روش‌ها</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258568"/>
          <a:ext cx="8046720" cy="640080"/>
        </p:xfrm>
        <a:graphic>
          <a:graphicData uri="http://schemas.openxmlformats.org/drawingml/2006/table">
            <a:tbl>
              <a:tblPr/>
              <a:tblGrid>
                <a:gridCol w="4023360"/>
                <a:gridCol w="4023360"/>
              </a:tblGrid>
              <a:tr h="320040">
                <a:tc>
                  <a:txBody>
                    <a:bodyPr/>
                    <a:lstStyle/>
                    <a:p>
                      <a:pPr algn="ctr" indent="0" marL="0">
                        <a:buNone/>
                      </a:pPr>
                      <a:r>
                        <a:rPr lang="en-US" sz="1050" b="1" dirty="0">
                          <a:solidFill>
                            <a:srgbClr val="FFFFFF"/>
                          </a:solidFill>
                          <a:latin typeface="Vazirmatn" pitchFamily="34" charset="0"/>
                          <a:ea typeface="Vazirmatn" pitchFamily="34" charset="-122"/>
                          <a:cs typeface="Vazirmatn" pitchFamily="34" charset="-120"/>
                        </a:rPr>
                        <a:t>رویکرد پیشنهادی</a:t>
                      </a:r>
                      <a:endParaRPr lang="en-US" sz="105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50" b="1" dirty="0">
                          <a:solidFill>
                            <a:srgbClr val="FFFFFF"/>
                          </a:solidFill>
                          <a:latin typeface="Vazirmatn" pitchFamily="34" charset="0"/>
                          <a:ea typeface="Vazirmatn" pitchFamily="34" charset="-122"/>
                          <a:cs typeface="Vazirmatn" pitchFamily="34" charset="-120"/>
                        </a:rPr>
                        <a:t>رویکرد پایه / موجود</a:t>
                      </a:r>
                      <a:endParaRPr lang="en-US" sz="105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75569"/>
                    </a:solidFill>
                  </a:tcPr>
                </a:tc>
              </a:tr>
              <a:tr h="320040">
                <a:tc>
                  <a:txBody>
                    <a:bodyPr/>
                    <a:lstStyle/>
                    <a:p>
                      <a:pPr algn="ctr" indent="0" marL="0">
                        <a:buNone/>
                      </a:pPr>
                      <a:r>
                        <a:rPr lang="en-US" sz="1000" dirty="0">
                          <a:solidFill>
                            <a:srgbClr val="334155"/>
                          </a:solidFill>
                          <a:latin typeface="Vazirmatn" pitchFamily="34" charset="0"/>
                          <a:ea typeface="Vazirmatn" pitchFamily="34" charset="-122"/>
                          <a:cs typeface="Vazirmatn" pitchFamily="34" charset="-120"/>
                        </a:rPr>
                        <a:t>ویژگی / روش پیشنهادی: دقت بالا، قابلیت تفسیر بالا، پیچیدگی مناسب</a:t>
                      </a:r>
                      <a:endParaRPr lang="en-US" sz="100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334155"/>
                          </a:solidFill>
                          <a:latin typeface="Vazirmatn" pitchFamily="34" charset="0"/>
                          <a:ea typeface="Vazirmatn" pitchFamily="34" charset="-122"/>
                          <a:cs typeface="Vazirmatn" pitchFamily="34" charset="-120"/>
                        </a:rPr>
                        <a:t>ویژگی / روش موجود: دقت بالا، قابلیت تفسیر پایین، پیچیدگی بالا</a:t>
                      </a:r>
                      <a:endParaRPr lang="en-US" sz="100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نتیجه‌گیری کلی، جمع‌بندی و پایان</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365760"/>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پایان ارائه - با سپاس از توجه شما</a:t>
            </a:r>
            <a:endParaRPr lang="en-US" sz="1150" dirty="0"/>
          </a:p>
        </p:txBody>
      </p:sp>
      <p:sp>
        <p:nvSpPr>
          <p:cNvPr id="5" name="Text 3"/>
          <p:cNvSpPr/>
          <p:nvPr/>
        </p:nvSpPr>
        <p:spPr>
          <a:xfrm>
            <a:off x="548640" y="1426464"/>
            <a:ext cx="8046720" cy="987552"/>
          </a:xfrm>
          <a:prstGeom prst="roundRect">
            <a:avLst/>
          </a:prstGeom>
          <a:solidFill>
            <a:srgbClr val="F8FAFC"/>
          </a:solidFill>
          <a:ln w="19050">
            <a:solidFill>
              <a:srgbClr val="64748B"/>
            </a:solidFill>
          </a:ln>
        </p:spPr>
        <p:txBody>
          <a:bodyPr wrap="square" lIns="50800" tIns="101600" rIns="101600" bIns="50800" rtlCol="0" anchor="ctr"/>
          <a:lstStyle/>
          <a:p>
            <a:pPr rtl="1" algn="r" indent="0" marL="0">
              <a:buNone/>
            </a:pPr>
            <a:r>
              <a:rPr lang="en-US" sz="1150" b="1" dirty="0">
                <a:solidFill>
                  <a:srgbClr val="0F172A"/>
                </a:solidFill>
                <a:latin typeface="Vazirmatn" pitchFamily="34" charset="0"/>
                <a:ea typeface="Vazirmatn" pitchFamily="34" charset="-122"/>
                <a:cs typeface="Vazirmatn" pitchFamily="34" charset="-120"/>
              </a:rPr>
              <a:t>یافته و نتیجه‌گیری کلیدی:</a:t>
            </a:r>
            <a:endParaRPr lang="en-US" sz="1150" dirty="0"/>
          </a:p>
          <a:p>
            <a:pPr rtl="1" algn="r" indent="0" marL="0">
              <a:buNone/>
            </a:pPr>
            <a:r>
              <a:rPr lang="en-US" sz="1150" b="1" dirty="0">
                <a:solidFill>
                  <a:srgbClr val="0F172A"/>
                </a:solidFill>
                <a:latin typeface="Vazirmatn" pitchFamily="34" charset="0"/>
                <a:ea typeface="Vazirmatn" pitchFamily="34" charset="-122"/>
                <a:cs typeface="Vazirmatn" pitchFamily="34" charset="-120"/>
              </a:rPr>
              <a:t>این مطالعه به ارائه یک چارچوب یکپارچه برای تفسیر پیش‌بینی‌های مدل‌های یادگیری ماشین پرداخته است. این چارچوب با استفاده از مفاهیم نظری اقتصاد بازی و تحلیل ویژگی‌های اضافی، به تخصیص اهمیت ویژگی‌ها به طور منسجم و قابل اعتماد دست یابد. این رویکرد به کاربران اجازه می‌دهد تا بهتر با مدل‌های پیچیده کار کنند و اعتماد به آن‌ها را افزایش دهند.</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2026-08-10T09:50:26Z</dcterms:created>
  <dcterms:modified xsi:type="dcterms:W3CDTF">2026-08-10T09:50:26Z</dcterms:modified>
</cp:coreProperties>
</file>