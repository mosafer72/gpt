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100" dirty="0">
                <a:solidFill>
                  <a:srgbClr val="334155"/>
                </a:solidFill>
                <a:latin typeface="Vazirmatn" pitchFamily="34" charset="0"/>
                <a:ea typeface="Vazirmatn" pitchFamily="34" charset="-122"/>
                <a:cs typeface="Vazirmatn" pitchFamily="34" charset="-120"/>
              </a:rPr>
              <a:t>Understanding why a model makes a certain prediction is critical in many applications. This paper addresses the challenge of interpreting complex models, such as ensemble and deep learning systems, which often sacrifice interpretability for accuracy. We introduce SHAP (SHapley Additive exPlanations), a unified framework for feature importance analysis.</a:t>
            </a:r>
            <a:endParaRPr lang="en-US" sz="1100" dirty="0"/>
          </a:p>
        </p:txBody>
      </p:sp>
      <p:sp>
        <p:nvSpPr>
          <p:cNvPr id="5" name="Shape 3"/>
          <p:cNvSpPr/>
          <p:nvPr/>
        </p:nvSpPr>
        <p:spPr>
          <a:xfrm>
            <a:off x="2743200" y="3620193"/>
            <a:ext cx="6705295" cy="0"/>
          </a:xfrm>
          <a:prstGeom prst="roundRect">
            <a:avLst/>
          </a:prstGeom>
          <a:solidFill>
            <a:srgbClr val="F8FAFC"/>
          </a:solidFill>
          <a:ln w="12700">
            <a:solidFill>
              <a:srgbClr val="E2E8F0"/>
            </a:solidFill>
            <a:prstDash val="solid"/>
          </a:ln>
        </p:spPr>
      </p:sp>
      <p:sp>
        <p:nvSpPr>
          <p:cNvPr id="6" name="Text 4"/>
          <p:cNvSpPr/>
          <p:nvPr/>
        </p:nvSpPr>
        <p:spPr>
          <a:xfrm>
            <a:off x="2971800" y="3784785"/>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2971800" y="4196265"/>
            <a:ext cx="6248095" cy="-713232"/>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SHAP (SHapley Additive exPlanations) is a unified framework that assigns feature importance values to individual predictions, providing a consistent method for interpreting complex model outputs.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100" dirty="0">
                <a:solidFill>
                  <a:srgbClr val="334155"/>
                </a:solidFill>
                <a:latin typeface="Vazirmatn" pitchFamily="34" charset="0"/>
                <a:ea typeface="Vazirmatn" pitchFamily="34" charset="-122"/>
                <a:cs typeface="Vazirmatn" pitchFamily="34" charset="-120"/>
              </a:rPr>
              <a:t>The tension between model accuracy and interpretability remains a key challenge. While complex models achieve higher accuracy on large datasets, their opacity hinders practical deployment. Existing interpretation methods lack a unified theoretical foundation, making it difficult to compare their effectiveness or choose the most appropriate approach.</a:t>
            </a:r>
            <a:endParaRPr lang="en-US" sz="1100" dirty="0"/>
          </a:p>
        </p:txBody>
      </p:sp>
      <p:sp>
        <p:nvSpPr>
          <p:cNvPr id="5" name="Shape 3"/>
          <p:cNvSpPr/>
          <p:nvPr/>
        </p:nvSpPr>
        <p:spPr>
          <a:xfrm>
            <a:off x="2743200" y="3607724"/>
            <a:ext cx="6705295" cy="0"/>
          </a:xfrm>
          <a:prstGeom prst="roundRect">
            <a:avLst/>
          </a:prstGeom>
          <a:solidFill>
            <a:srgbClr val="F8FAFC"/>
          </a:solidFill>
          <a:ln w="12700">
            <a:solidFill>
              <a:srgbClr val="E2E8F0"/>
            </a:solidFill>
            <a:prstDash val="solid"/>
          </a:ln>
        </p:spPr>
      </p:sp>
      <p:sp>
        <p:nvSpPr>
          <p:cNvPr id="6" name="Text 4"/>
          <p:cNvSpPr/>
          <p:nvPr/>
        </p:nvSpPr>
        <p:spPr>
          <a:xfrm>
            <a:off x="2971800" y="3772316"/>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2971800" y="4183796"/>
            <a:ext cx="6248095" cy="-713232"/>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Recent methods for model interpretation often fail to satisfy fundamental properties like consistency and efficiency, creating gaps in their practical applicability.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This work builds on game theory principles, particularly Shapley values, to establish a theoretical foundation for feature attribution. By framing explanations as a cooperative game, we derive a unique solution that satisfies desirable properties such as local accuracy and consistency.</a:t>
            </a:r>
            <a:endParaRPr lang="en-US" sz="1200" dirty="0"/>
          </a:p>
        </p:txBody>
      </p:sp>
      <p:sp>
        <p:nvSpPr>
          <p:cNvPr id="5" name="Shape 3"/>
          <p:cNvSpPr/>
          <p:nvPr/>
        </p:nvSpPr>
        <p:spPr>
          <a:xfrm>
            <a:off x="2743200" y="3337560"/>
            <a:ext cx="6705295" cy="0"/>
          </a:xfrm>
          <a:prstGeom prst="roundRect">
            <a:avLst/>
          </a:prstGeom>
          <a:solidFill>
            <a:srgbClr val="F8FAFC"/>
          </a:solidFill>
          <a:ln w="12700">
            <a:solidFill>
              <a:srgbClr val="E2E8F0"/>
            </a:solidFill>
            <a:prstDash val="solid"/>
          </a:ln>
        </p:spPr>
      </p:sp>
      <p:sp>
        <p:nvSpPr>
          <p:cNvPr id="6" name="Text 4"/>
          <p:cNvSpPr/>
          <p:nvPr/>
        </p:nvSpPr>
        <p:spPr>
          <a:xfrm>
            <a:off x="2971800" y="3502152"/>
            <a:ext cx="62480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2971800" y="3913632"/>
            <a:ext cx="6248095" cy="-713232"/>
          </a:xfrm>
          <a:prstGeom prst="rect">
            <a:avLst/>
          </a:prstGeom>
          <a:noFill/>
          <a:ln/>
        </p:spPr>
        <p:txBody>
          <a:bodyPr wrap="square" lIns="0" tIns="0" rIns="0" bIns="0" rtlCol="0" anchor="t">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Key Concept Shapley values from game theory provide a fair allocation of contributions in cooperative settings, forming the basis for SHAP's feature importance calculations.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Our framework unifies six existing interpretation methods under a single theoretical structure. This unification reveals that several recent approaches lack the desirable properties of SHAP, such as consistency with human intuition and computational efficiency.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methodology involves three core steps: formulating a cooperative game for feature interactions, calculating SHAP values through efficient algorithms, and evaluating their alignment with human perception through controlled experiments.</a:t>
            </a:r>
            <a:endParaRPr lang="en-US" sz="1200" dirty="0"/>
          </a:p>
        </p:txBody>
      </p:sp>
      <p:sp>
        <p:nvSpPr>
          <p:cNvPr id="5" name="Text 3"/>
          <p:cNvSpPr/>
          <p:nvPr/>
        </p:nvSpPr>
        <p:spPr>
          <a:xfrm>
            <a:off x="2743200" y="3138055"/>
            <a:ext cx="67052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1. Define the cooperative game for feature contributions 2. Compute SHAP values using game theory principles 3. Validate consistency with human intuition through user studies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The architecture processes input features through a series of transformations to compute SHAP values, which are then used to generate interpretable feature importance scores. This pipeline ensures consistency across different model types and datasets.</a:t>
            </a:r>
            <a:endParaRPr lang="en-US" sz="1200" dirty="0"/>
          </a:p>
        </p:txBody>
      </p:sp>
      <p:sp>
        <p:nvSpPr>
          <p:cNvPr id="5" name="Text 3"/>
          <p:cNvSpPr/>
          <p:nvPr/>
        </p:nvSpPr>
        <p:spPr>
          <a:xfrm>
            <a:off x="2743200" y="3192087"/>
            <a:ext cx="67052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Input Features SHAP Value Calculation Feature Importance Output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SHAP values are computed using a combination of game theory and model-specific approximations. For deep learning models, we employ gradient-based methods, while tree-based models use recursive partitioning techniques to efficiently calculate contributions.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743200" y="411480"/>
            <a:ext cx="67052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2743200" y="1143000"/>
            <a:ext cx="6705295" cy="0"/>
          </a:xfrm>
          <a:prstGeom prst="line">
            <a:avLst/>
          </a:prstGeom>
          <a:noFill/>
          <a:ln w="12700">
            <a:solidFill>
              <a:srgbClr val="E2E8F0"/>
            </a:solidFill>
            <a:prstDash val="solid"/>
          </a:ln>
        </p:spPr>
      </p:sp>
      <p:sp>
        <p:nvSpPr>
          <p:cNvPr id="4" name="Text 2"/>
          <p:cNvSpPr/>
          <p:nvPr/>
        </p:nvSpPr>
        <p:spPr>
          <a:xfrm>
            <a:off x="2743200" y="1691640"/>
            <a:ext cx="67052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Experimental results demonstrate that SHAP values outperform existing methods in both computational efficiency and alignment with human intuition. However, limitations remain in handling high-dimensional data and non-additive feature interactions, suggesting areas for future research.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1520" y="640080"/>
            <a:ext cx="6705295" cy="2743200"/>
          </a:xfrm>
          <a:prstGeom prst="roundRect">
            <a:avLst/>
          </a:prstGeom>
          <a:solidFill>
            <a:srgbClr val="EEF2FF"/>
          </a:solidFill>
          <a:ln w="12700">
            <a:solidFill>
              <a:srgbClr val="E2E8F0"/>
            </a:solidFill>
            <a:prstDash val="solid"/>
          </a:ln>
        </p:spPr>
      </p:sp>
      <p:sp>
        <p:nvSpPr>
          <p:cNvPr id="3" name="Text 1"/>
          <p:cNvSpPr/>
          <p:nvPr/>
        </p:nvSpPr>
        <p:spPr>
          <a:xfrm>
            <a:off x="91440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SHAP</a:t>
            </a:r>
            <a:endParaRPr lang="en-US" sz="2000" dirty="0"/>
          </a:p>
        </p:txBody>
      </p:sp>
      <p:sp>
        <p:nvSpPr>
          <p:cNvPr id="4" name="Shape 2"/>
          <p:cNvSpPr/>
          <p:nvPr/>
        </p:nvSpPr>
        <p:spPr>
          <a:xfrm>
            <a:off x="6400800" y="640080"/>
            <a:ext cx="6705295" cy="2743200"/>
          </a:xfrm>
          <a:prstGeom prst="roundRect">
            <a:avLst/>
          </a:prstGeom>
          <a:solidFill>
            <a:srgbClr val="DCFCE7"/>
          </a:solidFill>
          <a:ln w="12700">
            <a:solidFill>
              <a:srgbClr val="E2E8F0"/>
            </a:solidFill>
            <a:prstDash val="solid"/>
          </a:ln>
        </p:spPr>
      </p:sp>
      <p:sp>
        <p:nvSpPr>
          <p:cNvPr id="5" name="Text 3"/>
          <p:cNvSpPr/>
          <p:nvPr/>
        </p:nvSpPr>
        <p:spPr>
          <a:xfrm>
            <a:off x="6583680" y="86868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Existing Methods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2026-08-09T20:11:49Z</dcterms:created>
  <dcterms:modified xsi:type="dcterms:W3CDTF">2026-08-09T20:11:49Z</dcterms:modified>
</cp:coreProperties>
</file>